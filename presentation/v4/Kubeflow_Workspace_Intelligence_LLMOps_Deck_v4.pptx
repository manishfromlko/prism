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this as a production-style LLMOps system, not a generic chatbot wrapper. The project connects ingestion, retrieval, generation, tracing, and evaluation into one inspectable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pain is discovery plus trust. Notebooks hold institutional memory, but that memory is hard to query and hard to evaluate without tracing and quality metrics.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important architecture choice is separating knowledge surfaces rather than putting everything into one mixed index. Each intent has a retrieval path that matches the question type.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original prompt mentions approximately 250 notebooks, but the actual catalog in this repo has 132 notebooks. In an interview, say the checked-in snapshot has 132 and the design scales to a larger corpus.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implemented project goes beyond the original prompt. It includes platform-doc QA, hybrid routing, user resolution, feedback scoring, and admin sync endpoints.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left to right: users access the Next.js UI; server-side routes call FastAPI; FastAPI orchestrates ingestion-backed retrieval, chat routing, LLM generation, tracing, and scoring.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this slide to show that RAG has two lifecycles: building the knowledge layer and serving a user query. They meet at Milvus, and observability follows the online request.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Chunking is content-aware: recursive splitting for notebooks, code splitting for scripts, markdown splitting for markdown. Incremental indexing avoids re-embedding unchanged artifacts.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Separate collections improve prompt clarity and retrieval precision. The tradeoff is more sync and freshness management.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core interview architecture slide. Emphasize that query classification is not decorative; it controls retrieval, cost, prompt shape, and failure handling.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classifier returns intent and confidence. Failure falls back to DOC_QA with low confidence, which is conservative compared with generating ungrounded workspace 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LiteLLM centralizes model routing, provider configuration, token/cost tracking, and Langfuse callbacks. Application code stays provider-agnostic.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Layer 1 tells us what happened operationally: latency, cost, token use, prompt/response, errors, and lightweight response health signals.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Layer 2 tells us whether the answer was good and grounded. It is asynchronous so RAGAS does not add user-facing latency.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metrics are diagnostic. They indicate whether to tune retrieval, chunking, prompts, classification, or profile generation.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admin endpoints show lifecycle thinking. The system can rebuild and refresh its knowledge stores rather than being a one-off script.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strong interview answer should not just list choices. It should describe the tradeoff and why the chosen side fits this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Name realistic RAG failures and tie each one to a detection or mitigation mechanism. This makes the architecture feel production-minded.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honest: this is production-style now. It becomes production-ready after the security, reliability, deployment, and quality gates are added.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first production-readiness path: prevent data leakage. In enterprise RAG, ACL-aware retrieval is not optional because generated answers can expose retrieved context.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how production readiness can be met operationally: make quality measurable, make evaluation reliable, and make changes releasable with regression checks.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completes the production-readiness path. It explains how the system moves from local/demo operation to repeatable environments and on-call ownership.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the loop: user question, routed answer, trace, quality score, diagnosis. Keep the demo focused on engineering behavior rather than UI decoration.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strongest takeaway is engineering discipline: observable, evaluable, grounded RAG with a practical hardening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29260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"/>
            <a:ext cx="3044952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4952" y="292608"/>
            <a:ext cx="3044952" cy="54864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89904" y="292608"/>
            <a:ext cx="3044952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34856" y="292608"/>
            <a:ext cx="3044952" cy="54864"/>
          </a:xfrm>
          <a:prstGeom prst="rect">
            <a:avLst/>
          </a:prstGeom>
          <a:solidFill>
            <a:srgbClr val="DB2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10972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00" b="0">
                <a:solidFill>
                  <a:srgbClr val="4B5563"/>
                </a:solidFill>
              </a:defRPr>
            </a:pPr>
            <a:r>
              <a:t>Kubeflow Workspace Intelligence LLMOps - v4 - 01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25880"/>
            <a:ext cx="10789920" cy="7772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3800" b="1">
                <a:solidFill>
                  <a:srgbClr val="111827"/>
                </a:solidFill>
              </a:defRPr>
            </a:pPr>
            <a:r>
              <a:t>Kubeflow Workspace Intelligence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176272"/>
            <a:ext cx="1024128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2200" b="0">
                <a:solidFill>
                  <a:srgbClr val="2563EB"/>
                </a:solidFill>
              </a:defRPr>
            </a:pPr>
            <a:r>
              <a:t>RAG-based chatbot with LLMOps observability and evaluation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971800"/>
            <a:ext cx="9966960" cy="10058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2000" b="0">
                <a:solidFill>
                  <a:srgbClr val="4B5563"/>
                </a:solidFill>
              </a:defRPr>
            </a:pPr>
            <a:r>
              <a:t>Production-style assistant for workspace knowledge, notebook discovery, platform docs QA, and user expertise profiling.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498348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700" b="1">
                <a:solidFill>
                  <a:srgbClr val="111827"/>
                </a:solidFill>
              </a:defRPr>
            </a:pPr>
            <a:r>
              <a:t>FastAPI | Next.js | Milvus | LiteLLM | Langfuse | RAGAS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29260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"/>
            <a:ext cx="3044952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4952" y="292608"/>
            <a:ext cx="3044952" cy="54864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89904" y="292608"/>
            <a:ext cx="3044952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34856" y="292608"/>
            <a:ext cx="3044952" cy="54864"/>
          </a:xfrm>
          <a:prstGeom prst="rect">
            <a:avLst/>
          </a:prstGeom>
          <a:solidFill>
            <a:srgbClr val="DB2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10972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00" b="0">
                <a:solidFill>
                  <a:srgbClr val="4B5563"/>
                </a:solidFill>
              </a:defRPr>
            </a:pPr>
            <a:r>
              <a:t>Kubeflow Workspace Intelligence LLMOps - v4 - 02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3000" b="1">
                <a:solidFill>
                  <a:srgbClr val="111827"/>
                </a:solidFill>
              </a:defRPr>
            </a:pPr>
            <a:r>
              <a:t>Problem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1490472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1389888"/>
            <a:ext cx="1037844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0">
                <a:solidFill>
                  <a:srgbClr val="111827"/>
                </a:solidFill>
              </a:defRPr>
            </a:pPr>
            <a:r>
              <a:t>Kubeflow workspaces become knowledge silos as notebooks and scripts grow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2112264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2011680"/>
            <a:ext cx="1037844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0">
                <a:solidFill>
                  <a:srgbClr val="111827"/>
                </a:solidFill>
              </a:defRPr>
            </a:pPr>
            <a:r>
              <a:t>Filename search misses ML intent: tools, models, datasets, techniques</a:t>
            </a:r>
          </a:p>
        </p:txBody>
      </p:sp>
      <p:sp>
        <p:nvSpPr>
          <p:cNvPr id="13" name="Oval 12"/>
          <p:cNvSpPr/>
          <p:nvPr/>
        </p:nvSpPr>
        <p:spPr>
          <a:xfrm>
            <a:off x="786384" y="2734056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4128" y="2633472"/>
            <a:ext cx="1037844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0">
                <a:solidFill>
                  <a:srgbClr val="111827"/>
                </a:solidFill>
              </a:defRPr>
            </a:pPr>
            <a:r>
              <a:t>Teams need grounded answers, expertise discovery, and operational visibility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29260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"/>
            <a:ext cx="3044952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4952" y="292608"/>
            <a:ext cx="3044952" cy="54864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89904" y="292608"/>
            <a:ext cx="3044952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34856" y="292608"/>
            <a:ext cx="3044952" cy="54864"/>
          </a:xfrm>
          <a:prstGeom prst="rect">
            <a:avLst/>
          </a:prstGeom>
          <a:solidFill>
            <a:srgbClr val="DB2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10972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00" b="0">
                <a:solidFill>
                  <a:srgbClr val="4B5563"/>
                </a:solidFill>
              </a:defRPr>
            </a:pPr>
            <a:r>
              <a:t>Kubeflow Workspace Intelligence LLMOps - v4 - 03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3000" b="1">
                <a:solidFill>
                  <a:srgbClr val="111827"/>
                </a:solidFill>
              </a:defRPr>
            </a:pPr>
            <a:r>
              <a:t>Solution Overview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1490472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1389888"/>
            <a:ext cx="1037844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0">
                <a:solidFill>
                  <a:srgbClr val="111827"/>
                </a:solidFill>
              </a:defRPr>
            </a:pPr>
            <a:r>
              <a:t>Intent-routed RAG assistant over platform docs, artifact summaries, and user profiles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2112264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2011680"/>
            <a:ext cx="1037844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0">
                <a:solidFill>
                  <a:srgbClr val="111827"/>
                </a:solidFill>
              </a:defRPr>
            </a:pPr>
            <a:r>
              <a:t>Semantic retrieval backed by OpenAI embeddings and Milvus collections</a:t>
            </a:r>
          </a:p>
        </p:txBody>
      </p:sp>
      <p:sp>
        <p:nvSpPr>
          <p:cNvPr id="13" name="Oval 12"/>
          <p:cNvSpPr/>
          <p:nvPr/>
        </p:nvSpPr>
        <p:spPr>
          <a:xfrm>
            <a:off x="786384" y="2734056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4128" y="2633472"/>
            <a:ext cx="1037844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0">
                <a:solidFill>
                  <a:srgbClr val="111827"/>
                </a:solidFill>
              </a:defRPr>
            </a:pPr>
            <a:r>
              <a:t>LiteLLM and Langfuse provide request-level visibility across classify, rewrite, and generate</a:t>
            </a:r>
          </a:p>
        </p:txBody>
      </p:sp>
      <p:sp>
        <p:nvSpPr>
          <p:cNvPr id="15" name="Oval 14"/>
          <p:cNvSpPr/>
          <p:nvPr/>
        </p:nvSpPr>
        <p:spPr>
          <a:xfrm>
            <a:off x="786384" y="3355848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" y="3255264"/>
            <a:ext cx="1037844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0">
                <a:solidFill>
                  <a:srgbClr val="111827"/>
                </a:solidFill>
              </a:defRPr>
            </a:pPr>
            <a:r>
              <a:t>RAGAS and LLM-as-judge evaluate groundedness and relevance after the answer returns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29260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"/>
            <a:ext cx="3044952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4952" y="292608"/>
            <a:ext cx="3044952" cy="54864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89904" y="292608"/>
            <a:ext cx="3044952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34856" y="292608"/>
            <a:ext cx="3044952" cy="54864"/>
          </a:xfrm>
          <a:prstGeom prst="rect">
            <a:avLst/>
          </a:prstGeom>
          <a:solidFill>
            <a:srgbClr val="DB2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10972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00" b="0">
                <a:solidFill>
                  <a:srgbClr val="4B5563"/>
                </a:solidFill>
              </a:defRPr>
            </a:pPr>
            <a:r>
              <a:t>Kubeflow Workspace Intelligence LLMOps - v4 - 04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3000" b="1">
                <a:solidFill>
                  <a:srgbClr val="111827"/>
                </a:solidFill>
              </a:defRPr>
            </a:pPr>
            <a:r>
              <a:t>Dataset and Ingestion Scope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1490472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1389888"/>
            <a:ext cx="1037844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0">
                <a:solidFill>
                  <a:srgbClr val="111827"/>
                </a:solidFill>
              </a:defRPr>
            </a:pPr>
            <a:r>
              <a:t>Current checked-in catalog: 5 workspaces, 211 artifacts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2112264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2011680"/>
            <a:ext cx="1037844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0">
                <a:solidFill>
                  <a:srgbClr val="111827"/>
                </a:solidFill>
              </a:defRPr>
            </a:pPr>
            <a:r>
              <a:t>Artifact mix: 132 notebooks, 75 scripts, 4 text files</a:t>
            </a:r>
          </a:p>
        </p:txBody>
      </p:sp>
      <p:sp>
        <p:nvSpPr>
          <p:cNvPr id="13" name="Oval 12"/>
          <p:cNvSpPr/>
          <p:nvPr/>
        </p:nvSpPr>
        <p:spPr>
          <a:xfrm>
            <a:off x="786384" y="2734056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4128" y="2633472"/>
            <a:ext cx="1037844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0">
                <a:solidFill>
                  <a:srgbClr val="111827"/>
                </a:solidFill>
              </a:defRPr>
            </a:pPr>
            <a:r>
              <a:t>CSV, binary, archive, and unsupported files are excluded from semantic indexing</a:t>
            </a:r>
          </a:p>
        </p:txBody>
      </p:sp>
      <p:sp>
        <p:nvSpPr>
          <p:cNvPr id="15" name="Oval 14"/>
          <p:cNvSpPr/>
          <p:nvPr/>
        </p:nvSpPr>
        <p:spPr>
          <a:xfrm>
            <a:off x="786384" y="3355848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" y="3255264"/>
            <a:ext cx="1037844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0">
                <a:solidFill>
                  <a:srgbClr val="111827"/>
                </a:solidFill>
              </a:defRPr>
            </a:pPr>
            <a:r>
              <a:t>Full and incremental ingestion use content hashes to control reprocessing cost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29260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"/>
            <a:ext cx="3044952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4952" y="292608"/>
            <a:ext cx="3044952" cy="54864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89904" y="292608"/>
            <a:ext cx="3044952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34856" y="292608"/>
            <a:ext cx="3044952" cy="54864"/>
          </a:xfrm>
          <a:prstGeom prst="rect">
            <a:avLst/>
          </a:prstGeom>
          <a:solidFill>
            <a:srgbClr val="DB2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10972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00" b="0">
                <a:solidFill>
                  <a:srgbClr val="4B5563"/>
                </a:solidFill>
              </a:defRPr>
            </a:pPr>
            <a:r>
              <a:t>Kubeflow Workspace Intelligence LLMOps - v4 - 05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3000" b="1">
                <a:solidFill>
                  <a:srgbClr val="111827"/>
                </a:solidFill>
              </a:defRPr>
            </a:pPr>
            <a:r>
              <a:t>Core Capabilities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1490472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1389888"/>
            <a:ext cx="1037844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700" b="0">
                <a:solidFill>
                  <a:srgbClr val="111827"/>
                </a:solidFill>
              </a:defRPr>
            </a:pPr>
            <a:r>
              <a:t>Workspace browsing and profiling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2020824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1920240"/>
            <a:ext cx="1037844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700" b="0">
                <a:solidFill>
                  <a:srgbClr val="111827"/>
                </a:solidFill>
              </a:defRPr>
            </a:pPr>
            <a:r>
              <a:t>Notebook/script semantic search</a:t>
            </a:r>
          </a:p>
        </p:txBody>
      </p:sp>
      <p:sp>
        <p:nvSpPr>
          <p:cNvPr id="13" name="Oval 12"/>
          <p:cNvSpPr/>
          <p:nvPr/>
        </p:nvSpPr>
        <p:spPr>
          <a:xfrm>
            <a:off x="786384" y="2551176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4128" y="2450592"/>
            <a:ext cx="1037844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700" b="0">
                <a:solidFill>
                  <a:srgbClr val="111827"/>
                </a:solidFill>
              </a:defRPr>
            </a:pPr>
            <a:r>
              <a:t>LLM-generated artifact summaries and user profiles</a:t>
            </a:r>
          </a:p>
        </p:txBody>
      </p:sp>
      <p:sp>
        <p:nvSpPr>
          <p:cNvPr id="15" name="Oval 14"/>
          <p:cNvSpPr/>
          <p:nvPr/>
        </p:nvSpPr>
        <p:spPr>
          <a:xfrm>
            <a:off x="786384" y="3081528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" y="2980944"/>
            <a:ext cx="1037844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700" b="0">
                <a:solidFill>
                  <a:srgbClr val="111827"/>
                </a:solidFill>
              </a:defRPr>
            </a:pPr>
            <a:r>
              <a:t>Platform documentation QA from Word documents</a:t>
            </a:r>
          </a:p>
        </p:txBody>
      </p:sp>
      <p:sp>
        <p:nvSpPr>
          <p:cNvPr id="17" name="Oval 16"/>
          <p:cNvSpPr/>
          <p:nvPr/>
        </p:nvSpPr>
        <p:spPr>
          <a:xfrm>
            <a:off x="786384" y="3611880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8" y="3511296"/>
            <a:ext cx="1037844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700" b="0">
                <a:solidFill>
                  <a:srgbClr val="111827"/>
                </a:solidFill>
              </a:defRPr>
            </a:pPr>
            <a:r>
              <a:t>Assistant with intent routing, query rewriting, sources, feedback, and trace IDs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29260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"/>
            <a:ext cx="3044952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4952" y="292608"/>
            <a:ext cx="3044952" cy="54864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89904" y="292608"/>
            <a:ext cx="3044952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34856" y="292608"/>
            <a:ext cx="3044952" cy="54864"/>
          </a:xfrm>
          <a:prstGeom prst="rect">
            <a:avLst/>
          </a:prstGeom>
          <a:solidFill>
            <a:srgbClr val="DB2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10972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00" b="0">
                <a:solidFill>
                  <a:srgbClr val="4B5563"/>
                </a:solidFill>
              </a:defRPr>
            </a:pPr>
            <a:r>
              <a:t>Kubeflow Workspace Intelligence LLMOps - v4 - 06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3000" b="1">
                <a:solidFill>
                  <a:srgbClr val="111827"/>
                </a:solidFill>
              </a:defRPr>
            </a:pPr>
            <a:r>
              <a:t>High-Level Architecture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234440"/>
            <a:ext cx="8183879" cy="256032"/>
          </a:xfrm>
          <a:prstGeom prst="rect">
            <a:avLst/>
          </a:prstGeom>
          <a:solidFill>
            <a:srgbClr val="F1F5F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defRPr sz="1000" b="1">
                <a:solidFill>
                  <a:srgbClr val="111827"/>
                </a:solidFill>
              </a:defRPr>
            </a:pPr>
            <a:r>
              <a:t>Request Path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1691640"/>
            <a:ext cx="12344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defRPr sz="1100" b="1">
                <a:solidFill>
                  <a:srgbClr val="111827"/>
                </a:solidFill>
              </a:defRPr>
            </a:pPr>
            <a:r>
              <a:t>Users</a:t>
            </a:r>
            <a:br/>
            <a:r>
              <a:t>DS / MLE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40280" y="1691640"/>
            <a:ext cx="1325880" cy="658368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defRPr sz="1100" b="1">
                <a:solidFill>
                  <a:srgbClr val="111827"/>
                </a:solidFill>
              </a:defRPr>
            </a:pPr>
            <a:r>
              <a:t>Next.js</a:t>
            </a:r>
            <a:br/>
            <a:r>
              <a:t>BFF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86200" y="1691640"/>
            <a:ext cx="1417320" cy="658368"/>
          </a:xfrm>
          <a:prstGeom prst="rect">
            <a:avLst/>
          </a:prstGeom>
          <a:solidFill>
            <a:srgbClr val="DCFCE7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defRPr sz="1050" b="1">
                <a:solidFill>
                  <a:srgbClr val="111827"/>
                </a:solidFill>
              </a:defRPr>
            </a:pPr>
            <a:r>
              <a:t>FastAPI</a:t>
            </a:r>
            <a:br/>
            <a:r>
              <a:t>Retrieval API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23560" y="1691640"/>
            <a:ext cx="1600200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defRPr sz="1050" b="1">
                <a:solidFill>
                  <a:srgbClr val="111827"/>
                </a:solidFill>
              </a:defRPr>
            </a:pPr>
            <a:r>
              <a:t>ChatEngine</a:t>
            </a:r>
            <a:br/>
            <a:r>
              <a:t>orchestrator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43800" y="1691640"/>
            <a:ext cx="13258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defRPr sz="1050" b="1">
                <a:solidFill>
                  <a:srgbClr val="111827"/>
                </a:solidFill>
              </a:defRPr>
            </a:pPr>
            <a:r>
              <a:t>Response</a:t>
            </a:r>
            <a:br/>
            <a:r>
              <a:t>+ trace_id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920240" y="2020824"/>
            <a:ext cx="320040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566160" y="2020824"/>
            <a:ext cx="320040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303520" y="2020824"/>
            <a:ext cx="320040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223760" y="2020824"/>
            <a:ext cx="320040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685800" y="2880360"/>
            <a:ext cx="3931920" cy="256032"/>
          </a:xfrm>
          <a:prstGeom prst="rect">
            <a:avLst/>
          </a:prstGeom>
          <a:solidFill>
            <a:srgbClr val="F1F5F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defRPr sz="1000" b="1">
                <a:solidFill>
                  <a:srgbClr val="111827"/>
                </a:solidFill>
              </a:defRPr>
            </a:pPr>
            <a:r>
              <a:t>Knowledge Layer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3291840"/>
            <a:ext cx="1691640" cy="566928"/>
          </a:xfrm>
          <a:prstGeom prst="rect">
            <a:avLst/>
          </a:prstGeom>
          <a:solidFill>
            <a:srgbClr val="FFF7ED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defRPr sz="950" b="0">
                <a:solidFill>
                  <a:srgbClr val="111827"/>
                </a:solidFill>
              </a:defRPr>
            </a:pPr>
            <a:r>
              <a:t>kubeflow_artifacts</a:t>
            </a:r>
            <a:br/>
            <a:r>
              <a:t>raw chunks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560320" y="3291840"/>
            <a:ext cx="1691640" cy="566928"/>
          </a:xfrm>
          <a:prstGeom prst="rect">
            <a:avLst/>
          </a:prstGeom>
          <a:solidFill>
            <a:srgbClr val="FFF7ED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defRPr sz="950" b="0">
                <a:solidFill>
                  <a:srgbClr val="111827"/>
                </a:solidFill>
              </a:defRPr>
            </a:pPr>
            <a:r>
              <a:t>artifact_summaries</a:t>
            </a:r>
            <a:br/>
            <a:r>
              <a:t>notebook summaries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4069080"/>
            <a:ext cx="1691640" cy="566928"/>
          </a:xfrm>
          <a:prstGeom prst="rect">
            <a:avLst/>
          </a:prstGeom>
          <a:solidFill>
            <a:srgbClr val="FFF7ED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defRPr sz="950" b="0">
                <a:solidFill>
                  <a:srgbClr val="111827"/>
                </a:solidFill>
              </a:defRPr>
            </a:pPr>
            <a:r>
              <a:t>user_profiles</a:t>
            </a:r>
            <a:br/>
            <a:r>
              <a:t>expertise vectors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560320" y="4069080"/>
            <a:ext cx="1691640" cy="566928"/>
          </a:xfrm>
          <a:prstGeom prst="rect">
            <a:avLst/>
          </a:prstGeom>
          <a:solidFill>
            <a:srgbClr val="FFF7ED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defRPr sz="950" b="0">
                <a:solidFill>
                  <a:srgbClr val="111827"/>
                </a:solidFill>
              </a:defRPr>
            </a:pPr>
            <a:r>
              <a:t>platform_docs</a:t>
            </a:r>
            <a:br/>
            <a:r>
              <a:t>doc chunks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91640" y="4864608"/>
            <a:ext cx="1600200" cy="384048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defRPr sz="1200" b="1">
                <a:solidFill>
                  <a:srgbClr val="111827"/>
                </a:solidFill>
              </a:defRPr>
            </a:pPr>
            <a:r>
              <a:t>Milvus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937760" y="2880360"/>
            <a:ext cx="3931920" cy="256032"/>
          </a:xfrm>
          <a:prstGeom prst="rect">
            <a:avLst/>
          </a:prstGeom>
          <a:solidFill>
            <a:srgbClr val="F1F5F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defRPr sz="1000" b="1">
                <a:solidFill>
                  <a:srgbClr val="111827"/>
                </a:solidFill>
              </a:defRPr>
            </a:pPr>
            <a:r>
              <a:t>LLMOps Layer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37760" y="3291840"/>
            <a:ext cx="1508760" cy="621792"/>
          </a:xfrm>
          <a:prstGeom prst="rect">
            <a:avLst/>
          </a:prstGeom>
          <a:solidFill>
            <a:srgbClr val="EDE9FE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defRPr sz="1100" b="1">
                <a:solidFill>
                  <a:srgbClr val="111827"/>
                </a:solidFill>
              </a:defRPr>
            </a:pPr>
            <a:r>
              <a:t>LiteLLM</a:t>
            </a:r>
            <a:br/>
            <a:r>
              <a:t>proxy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75120" y="3291840"/>
            <a:ext cx="1508760" cy="621792"/>
          </a:xfrm>
          <a:prstGeom prst="rect">
            <a:avLst/>
          </a:prstGeom>
          <a:solidFill>
            <a:srgbClr val="EDE9FE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defRPr sz="1100" b="1">
                <a:solidFill>
                  <a:srgbClr val="111827"/>
                </a:solidFill>
              </a:defRPr>
            </a:pPr>
            <a:r>
              <a:t>Model</a:t>
            </a:r>
            <a:br/>
            <a:r>
              <a:t>provider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37760" y="4160520"/>
            <a:ext cx="1508760" cy="621792"/>
          </a:xfrm>
          <a:prstGeom prst="rect">
            <a:avLst/>
          </a:prstGeom>
          <a:solidFill>
            <a:srgbClr val="FCE7F3"/>
          </a:solidFill>
          <a:ln w="12700">
            <a:solidFill>
              <a:srgbClr val="DB2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defRPr sz="1050" b="1">
                <a:solidFill>
                  <a:srgbClr val="111827"/>
                </a:solidFill>
              </a:defRPr>
            </a:pPr>
            <a:r>
              <a:t>Langfuse</a:t>
            </a:r>
            <a:br/>
            <a:r>
              <a:t>traces + scores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75120" y="4160520"/>
            <a:ext cx="1508760" cy="621792"/>
          </a:xfrm>
          <a:prstGeom prst="rect">
            <a:avLst/>
          </a:prstGeom>
          <a:solidFill>
            <a:srgbClr val="FCE7F3"/>
          </a:solidFill>
          <a:ln w="12700">
            <a:solidFill>
              <a:srgbClr val="DB2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defRPr sz="1050" b="1">
                <a:solidFill>
                  <a:srgbClr val="111827"/>
                </a:solidFill>
              </a:defRPr>
            </a:pPr>
            <a:r>
              <a:t>RAGAS</a:t>
            </a:r>
            <a:br/>
            <a:r>
              <a:t>LLM judge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400800" y="3602736"/>
            <a:ext cx="274320" cy="0"/>
          </a:xfrm>
          <a:prstGeom prst="line">
            <a:avLst/>
          </a:prstGeom>
          <a:ln w="1905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687568" y="3913632"/>
            <a:ext cx="0" cy="246888"/>
          </a:xfrm>
          <a:prstGeom prst="line">
            <a:avLst/>
          </a:prstGeom>
          <a:ln w="19050">
            <a:solidFill>
              <a:srgbClr val="DB27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H="1">
            <a:off x="6446520" y="4471416"/>
            <a:ext cx="228600" cy="0"/>
          </a:xfrm>
          <a:prstGeom prst="line">
            <a:avLst/>
          </a:prstGeom>
          <a:ln w="19050">
            <a:solidFill>
              <a:srgbClr val="DB27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>
            <a:off x="2514600" y="2350008"/>
            <a:ext cx="3794760" cy="941832"/>
          </a:xfrm>
          <a:prstGeom prst="line">
            <a:avLst/>
          </a:prstGeom>
          <a:ln w="19050">
            <a:solidFill>
              <a:srgbClr val="D977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>
            <a:off x="5669280" y="2350008"/>
            <a:ext cx="685800" cy="941832"/>
          </a:xfrm>
          <a:prstGeom prst="line">
            <a:avLst/>
          </a:prstGeom>
          <a:ln w="1905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9372600" y="1234440"/>
            <a:ext cx="2331720" cy="452628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537192" y="1417320"/>
            <a:ext cx="2011679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200" b="1">
                <a:solidFill>
                  <a:srgbClr val="111827"/>
                </a:solidFill>
              </a:defRPr>
            </a:pPr>
            <a:r>
              <a:t>Important Points</a:t>
            </a:r>
          </a:p>
        </p:txBody>
      </p:sp>
      <p:sp>
        <p:nvSpPr>
          <p:cNvPr id="37" name="Oval 36"/>
          <p:cNvSpPr/>
          <p:nvPr/>
        </p:nvSpPr>
        <p:spPr>
          <a:xfrm>
            <a:off x="9573768" y="1929384"/>
            <a:ext cx="82296" cy="82296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738360" y="1856232"/>
            <a:ext cx="1828799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050" b="0">
                <a:solidFill>
                  <a:srgbClr val="111827"/>
                </a:solidFill>
              </a:defRPr>
            </a:pPr>
            <a:r>
              <a:t>Next.js acts as a BFF and proxies to FastAPI</a:t>
            </a:r>
          </a:p>
        </p:txBody>
      </p:sp>
      <p:sp>
        <p:nvSpPr>
          <p:cNvPr id="39" name="Oval 38"/>
          <p:cNvSpPr/>
          <p:nvPr/>
        </p:nvSpPr>
        <p:spPr>
          <a:xfrm>
            <a:off x="9573768" y="2642616"/>
            <a:ext cx="82296" cy="82296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38360" y="2569464"/>
            <a:ext cx="1828799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050" b="0">
                <a:solidFill>
                  <a:srgbClr val="111827"/>
                </a:solidFill>
              </a:defRPr>
            </a:pPr>
            <a:r>
              <a:t>FastAPI orchestrates search, chat, sync, metrics, and feedback</a:t>
            </a:r>
          </a:p>
        </p:txBody>
      </p:sp>
      <p:sp>
        <p:nvSpPr>
          <p:cNvPr id="41" name="Oval 40"/>
          <p:cNvSpPr/>
          <p:nvPr/>
        </p:nvSpPr>
        <p:spPr>
          <a:xfrm>
            <a:off x="9573768" y="3355848"/>
            <a:ext cx="82296" cy="82296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738360" y="3282696"/>
            <a:ext cx="1828799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050" b="0">
                <a:solidFill>
                  <a:srgbClr val="111827"/>
                </a:solidFill>
              </a:defRPr>
            </a:pPr>
            <a:r>
              <a:t>Milvus stores separate knowledge collections</a:t>
            </a:r>
          </a:p>
        </p:txBody>
      </p:sp>
      <p:sp>
        <p:nvSpPr>
          <p:cNvPr id="43" name="Oval 42"/>
          <p:cNvSpPr/>
          <p:nvPr/>
        </p:nvSpPr>
        <p:spPr>
          <a:xfrm>
            <a:off x="9573768" y="4069080"/>
            <a:ext cx="82296" cy="82296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738360" y="3995928"/>
            <a:ext cx="1828799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050" b="0">
                <a:solidFill>
                  <a:srgbClr val="111827"/>
                </a:solidFill>
              </a:defRPr>
            </a:pPr>
            <a:r>
              <a:t>LiteLLM and Langfuse make LLM calls observable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29260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"/>
            <a:ext cx="3044952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4952" y="292608"/>
            <a:ext cx="3044952" cy="54864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89904" y="292608"/>
            <a:ext cx="3044952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34856" y="292608"/>
            <a:ext cx="3044952" cy="54864"/>
          </a:xfrm>
          <a:prstGeom prst="rect">
            <a:avLst/>
          </a:prstGeom>
          <a:solidFill>
            <a:srgbClr val="DB2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10972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00" b="0">
                <a:solidFill>
                  <a:srgbClr val="4B5563"/>
                </a:solidFill>
              </a:defRPr>
            </a:pPr>
            <a:r>
              <a:t>Kubeflow Workspace Intelligence LLMOps - v4 - 07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3000" b="1">
                <a:solidFill>
                  <a:srgbClr val="111827"/>
                </a:solidFill>
              </a:defRPr>
            </a:pPr>
            <a:r>
              <a:t>Data Flow: Offline Build and Online Serving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1234440"/>
            <a:ext cx="8549640" cy="256032"/>
          </a:xfrm>
          <a:prstGeom prst="rect">
            <a:avLst/>
          </a:prstGeom>
          <a:solidFill>
            <a:srgbClr val="F1F5F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defRPr sz="1000" b="1">
                <a:solidFill>
                  <a:srgbClr val="111827"/>
                </a:solidFill>
              </a:defRPr>
            </a:pPr>
            <a:r>
              <a:t>Offline Build Path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1719072"/>
            <a:ext cx="107899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defRPr sz="950" b="1">
                <a:solidFill>
                  <a:srgbClr val="111827"/>
                </a:solidFill>
              </a:defRPr>
            </a:pPr>
            <a:r>
              <a:t>Workspace</a:t>
            </a:r>
            <a:br/>
            <a:r>
              <a:t>files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673352" y="2048256"/>
            <a:ext cx="265176" cy="0"/>
          </a:xfrm>
          <a:prstGeom prst="line">
            <a:avLst/>
          </a:prstGeom>
          <a:ln w="1905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1938528" y="1719072"/>
            <a:ext cx="1078992" cy="658368"/>
          </a:xfrm>
          <a:prstGeom prst="rect">
            <a:avLst/>
          </a:prstGeom>
          <a:solidFill>
            <a:srgbClr val="DCFCE7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defRPr sz="950" b="1">
                <a:solidFill>
                  <a:srgbClr val="111827"/>
                </a:solidFill>
              </a:defRPr>
            </a:pPr>
            <a:r>
              <a:t>Ingestion</a:t>
            </a:r>
            <a:br/>
            <a:r>
              <a:t>catalog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017520" y="2048256"/>
            <a:ext cx="274320" cy="0"/>
          </a:xfrm>
          <a:prstGeom prst="line">
            <a:avLst/>
          </a:prstGeom>
          <a:ln w="1905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291840" y="1719072"/>
            <a:ext cx="1078992" cy="658368"/>
          </a:xfrm>
          <a:prstGeom prst="rect">
            <a:avLst/>
          </a:prstGeom>
          <a:solidFill>
            <a:srgbClr val="DBEAFE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defRPr sz="950" b="1">
                <a:solidFill>
                  <a:srgbClr val="111827"/>
                </a:solidFill>
              </a:defRPr>
            </a:pPr>
            <a:r>
              <a:t>Parse +</a:t>
            </a:r>
            <a:br/>
            <a:r>
              <a:t>chunk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370832" y="2048256"/>
            <a:ext cx="274320" cy="0"/>
          </a:xfrm>
          <a:prstGeom prst="line">
            <a:avLst/>
          </a:prstGeom>
          <a:ln w="1905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4645152" y="1719072"/>
            <a:ext cx="1078992" cy="658368"/>
          </a:xfrm>
          <a:prstGeom prst="rect">
            <a:avLst/>
          </a:prstGeom>
          <a:solidFill>
            <a:srgbClr val="EDE9FE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defRPr sz="950" b="1">
                <a:solidFill>
                  <a:srgbClr val="111827"/>
                </a:solidFill>
              </a:defRPr>
            </a:pPr>
            <a:r>
              <a:t>Embeddings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724144" y="2048256"/>
            <a:ext cx="265176" cy="0"/>
          </a:xfrm>
          <a:prstGeom prst="line">
            <a:avLst/>
          </a:prstGeom>
          <a:ln w="1905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5989320" y="1719072"/>
            <a:ext cx="1078992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defRPr sz="950" b="1">
                <a:solidFill>
                  <a:srgbClr val="111827"/>
                </a:solidFill>
              </a:defRPr>
            </a:pPr>
            <a:r>
              <a:t>Milvus</a:t>
            </a:r>
            <a:br/>
            <a:r>
              <a:t>collections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068312" y="2048256"/>
            <a:ext cx="274319" cy="0"/>
          </a:xfrm>
          <a:prstGeom prst="line">
            <a:avLst/>
          </a:prstGeom>
          <a:ln w="1905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7342631" y="1719072"/>
            <a:ext cx="1078992" cy="658368"/>
          </a:xfrm>
          <a:prstGeom prst="rect">
            <a:avLst/>
          </a:prstGeom>
          <a:solidFill>
            <a:srgbClr val="FFF7ED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defRPr sz="950" b="1">
                <a:solidFill>
                  <a:srgbClr val="111827"/>
                </a:solidFill>
              </a:defRPr>
            </a:pPr>
            <a:r>
              <a:t>Summaries</a:t>
            </a:r>
            <a:br/>
            <a:r>
              <a:t>profiles docs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4360" y="2971800"/>
            <a:ext cx="8549640" cy="256032"/>
          </a:xfrm>
          <a:prstGeom prst="rect">
            <a:avLst/>
          </a:prstGeom>
          <a:solidFill>
            <a:srgbClr val="F1F5F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defRPr sz="1000" b="1">
                <a:solidFill>
                  <a:srgbClr val="111827"/>
                </a:solidFill>
              </a:defRPr>
            </a:pPr>
            <a:r>
              <a:t>Online Query Path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4360" y="3456432"/>
            <a:ext cx="107899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defRPr sz="950" b="1">
                <a:solidFill>
                  <a:srgbClr val="111827"/>
                </a:solidFill>
              </a:defRPr>
            </a:pPr>
            <a:r>
              <a:t>User</a:t>
            </a:r>
            <a:br/>
            <a:r>
              <a:t>query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673352" y="3785615"/>
            <a:ext cx="265176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1938528" y="3456432"/>
            <a:ext cx="1078992" cy="658368"/>
          </a:xfrm>
          <a:prstGeom prst="rect">
            <a:avLst/>
          </a:prstGeom>
          <a:solidFill>
            <a:srgbClr val="DCFCE7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defRPr sz="950" b="1">
                <a:solidFill>
                  <a:srgbClr val="111827"/>
                </a:solidFill>
              </a:defRPr>
            </a:pPr>
            <a:r>
              <a:t>Classify</a:t>
            </a:r>
            <a:br/>
            <a:r>
              <a:t>rewrite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017520" y="3785615"/>
            <a:ext cx="274320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3291840" y="3456432"/>
            <a:ext cx="1078992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defRPr sz="950" b="1">
                <a:solidFill>
                  <a:srgbClr val="111827"/>
                </a:solidFill>
              </a:defRPr>
            </a:pPr>
            <a:r>
              <a:t>Retrieve</a:t>
            </a:r>
            <a:br/>
            <a:r>
              <a:t>context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370832" y="3785615"/>
            <a:ext cx="274320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4645152" y="3456432"/>
            <a:ext cx="1078992" cy="658368"/>
          </a:xfrm>
          <a:prstGeom prst="rect">
            <a:avLst/>
          </a:prstGeom>
          <a:solidFill>
            <a:srgbClr val="EDE9FE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defRPr sz="950" b="1">
                <a:solidFill>
                  <a:srgbClr val="111827"/>
                </a:solidFill>
              </a:defRPr>
            </a:pPr>
            <a:r>
              <a:t>Prompt +</a:t>
            </a:r>
            <a:br/>
            <a:r>
              <a:t>generate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724144" y="3785615"/>
            <a:ext cx="265176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5989320" y="3456432"/>
            <a:ext cx="1078992" cy="658368"/>
          </a:xfrm>
          <a:prstGeom prst="rect">
            <a:avLst/>
          </a:prstGeom>
          <a:solidFill>
            <a:srgbClr val="DBEAFE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defRPr sz="950" b="1">
                <a:solidFill>
                  <a:srgbClr val="111827"/>
                </a:solidFill>
              </a:defRPr>
            </a:pPr>
            <a:r>
              <a:t>Answer +</a:t>
            </a:r>
            <a:br/>
            <a:r>
              <a:t>sources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068312" y="3785615"/>
            <a:ext cx="274319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7342631" y="3456432"/>
            <a:ext cx="1078992" cy="658368"/>
          </a:xfrm>
          <a:prstGeom prst="rect">
            <a:avLst/>
          </a:prstGeom>
          <a:solidFill>
            <a:srgbClr val="FCE7F3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defRPr sz="950" b="1">
                <a:solidFill>
                  <a:srgbClr val="111827"/>
                </a:solidFill>
              </a:defRPr>
            </a:pPr>
            <a:r>
              <a:t>trace_id</a:t>
            </a:r>
            <a:br/>
            <a:r>
              <a:t>feedback</a:t>
            </a:r>
          </a:p>
        </p:txBody>
      </p:sp>
      <p:cxnSp>
        <p:nvCxnSpPr>
          <p:cNvPr id="33" name="Connector 32"/>
          <p:cNvCxnSpPr/>
          <p:nvPr/>
        </p:nvCxnSpPr>
        <p:spPr>
          <a:xfrm flipH="1">
            <a:off x="3794760" y="2377440"/>
            <a:ext cx="2734056" cy="1078992"/>
          </a:xfrm>
          <a:prstGeom prst="line">
            <a:avLst/>
          </a:prstGeom>
          <a:ln w="19050">
            <a:solidFill>
              <a:srgbClr val="D977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4617720" y="2514600"/>
            <a:ext cx="182880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defRPr sz="900" b="0">
                <a:solidFill>
                  <a:srgbClr val="4B5563"/>
                </a:solidFill>
              </a:defRPr>
            </a:pPr>
            <a:r>
              <a:t>retrieval uses built indexes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94360" y="4709160"/>
            <a:ext cx="8549640" cy="256032"/>
          </a:xfrm>
          <a:prstGeom prst="rect">
            <a:avLst/>
          </a:prstGeom>
          <a:solidFill>
            <a:srgbClr val="F1F5F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defRPr sz="1000" b="1">
                <a:solidFill>
                  <a:srgbClr val="111827"/>
                </a:solidFill>
              </a:defRPr>
            </a:pPr>
            <a:r>
              <a:t>Evaluation and Improvement Path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4400" y="5138928"/>
            <a:ext cx="1417320" cy="530352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defRPr sz="950" b="1">
                <a:solidFill>
                  <a:srgbClr val="111827"/>
                </a:solidFill>
              </a:defRPr>
            </a:pPr>
            <a:r>
              <a:t>Response</a:t>
            </a:r>
            <a:br/>
            <a:r>
              <a:t>contexts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0" y="5138928"/>
            <a:ext cx="1417320" cy="530352"/>
          </a:xfrm>
          <a:prstGeom prst="rect">
            <a:avLst/>
          </a:prstGeom>
          <a:solidFill>
            <a:srgbClr val="FCE7F3"/>
          </a:solidFill>
          <a:ln w="12700">
            <a:solidFill>
              <a:srgbClr val="DB2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defRPr sz="950" b="1">
                <a:solidFill>
                  <a:srgbClr val="111827"/>
                </a:solidFill>
              </a:defRPr>
            </a:pPr>
            <a:r>
              <a:t>RAGAS /</a:t>
            </a:r>
            <a:br/>
            <a:r>
              <a:t>LLM judge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0" y="5138928"/>
            <a:ext cx="1417320" cy="530352"/>
          </a:xfrm>
          <a:prstGeom prst="rect">
            <a:avLst/>
          </a:prstGeom>
          <a:solidFill>
            <a:srgbClr val="FCE7F3"/>
          </a:solidFill>
          <a:ln w="12700">
            <a:solidFill>
              <a:srgbClr val="DB2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defRPr sz="950" b="1">
                <a:solidFill>
                  <a:srgbClr val="111827"/>
                </a:solidFill>
              </a:defRPr>
            </a:pPr>
            <a:r>
              <a:t>Langfuse</a:t>
            </a:r>
            <a:br/>
            <a:r>
              <a:t>scores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0" y="5138928"/>
            <a:ext cx="1417320" cy="530352"/>
          </a:xfrm>
          <a:prstGeom prst="rect">
            <a:avLst/>
          </a:prstGeom>
          <a:solidFill>
            <a:srgbClr val="DCFCE7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defRPr sz="950" b="1">
                <a:solidFill>
                  <a:srgbClr val="111827"/>
                </a:solidFill>
              </a:defRPr>
            </a:pPr>
            <a:r>
              <a:t>Tune prompts</a:t>
            </a:r>
            <a:br/>
            <a:r>
              <a:t>retrieval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2331720" y="5404104"/>
            <a:ext cx="411480" cy="0"/>
          </a:xfrm>
          <a:prstGeom prst="line">
            <a:avLst/>
          </a:prstGeom>
          <a:ln w="19050">
            <a:solidFill>
              <a:srgbClr val="DB27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4160520" y="5404104"/>
            <a:ext cx="411480" cy="0"/>
          </a:xfrm>
          <a:prstGeom prst="line">
            <a:avLst/>
          </a:prstGeom>
          <a:ln w="19050">
            <a:solidFill>
              <a:srgbClr val="DB27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5989320" y="5404104"/>
            <a:ext cx="411480" cy="0"/>
          </a:xfrm>
          <a:prstGeom prst="line">
            <a:avLst/>
          </a:prstGeom>
          <a:ln w="19050">
            <a:solidFill>
              <a:srgbClr val="DB27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9372600" y="1234440"/>
            <a:ext cx="2331720" cy="452628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537192" y="1417320"/>
            <a:ext cx="2011679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200" b="1">
                <a:solidFill>
                  <a:srgbClr val="111827"/>
                </a:solidFill>
              </a:defRPr>
            </a:pPr>
            <a:r>
              <a:t>Important Points</a:t>
            </a:r>
          </a:p>
        </p:txBody>
      </p:sp>
      <p:sp>
        <p:nvSpPr>
          <p:cNvPr id="45" name="Oval 44"/>
          <p:cNvSpPr/>
          <p:nvPr/>
        </p:nvSpPr>
        <p:spPr>
          <a:xfrm>
            <a:off x="9573768" y="1929384"/>
            <a:ext cx="82296" cy="82296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738360" y="1856232"/>
            <a:ext cx="1828799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050" b="0">
                <a:solidFill>
                  <a:srgbClr val="111827"/>
                </a:solidFill>
              </a:defRPr>
            </a:pPr>
            <a:r>
              <a:t>Offline path builds catalog, summaries, profiles, document chunks, and vector indexes</a:t>
            </a:r>
          </a:p>
        </p:txBody>
      </p:sp>
      <p:sp>
        <p:nvSpPr>
          <p:cNvPr id="47" name="Oval 46"/>
          <p:cNvSpPr/>
          <p:nvPr/>
        </p:nvSpPr>
        <p:spPr>
          <a:xfrm>
            <a:off x="9573768" y="2642616"/>
            <a:ext cx="82296" cy="82296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738360" y="2569464"/>
            <a:ext cx="1828799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050" b="0">
                <a:solidFill>
                  <a:srgbClr val="111827"/>
                </a:solidFill>
              </a:defRPr>
            </a:pPr>
            <a:r>
              <a:t>Online path classifies the query, retrieves context, generates an answer, and returns trace_id</a:t>
            </a:r>
          </a:p>
        </p:txBody>
      </p:sp>
      <p:sp>
        <p:nvSpPr>
          <p:cNvPr id="49" name="Oval 48"/>
          <p:cNvSpPr/>
          <p:nvPr/>
        </p:nvSpPr>
        <p:spPr>
          <a:xfrm>
            <a:off x="9573768" y="3355848"/>
            <a:ext cx="82296" cy="82296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738360" y="3282696"/>
            <a:ext cx="1828799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050" b="0">
                <a:solidFill>
                  <a:srgbClr val="111827"/>
                </a:solidFill>
              </a:defRPr>
            </a:pPr>
            <a:r>
              <a:t>Evaluation path posts quality scores to the same Langfuse trace asynchronously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29260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"/>
            <a:ext cx="3044952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4952" y="292608"/>
            <a:ext cx="3044952" cy="54864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89904" y="292608"/>
            <a:ext cx="3044952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34856" y="292608"/>
            <a:ext cx="3044952" cy="54864"/>
          </a:xfrm>
          <a:prstGeom prst="rect">
            <a:avLst/>
          </a:prstGeom>
          <a:solidFill>
            <a:srgbClr val="DB2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10972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00" b="0">
                <a:solidFill>
                  <a:srgbClr val="4B5563"/>
                </a:solidFill>
              </a:defRPr>
            </a:pPr>
            <a:r>
              <a:t>Kubeflow Workspace Intelligence LLMOps - v4 - 08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3000" b="1">
                <a:solidFill>
                  <a:srgbClr val="111827"/>
                </a:solidFill>
              </a:defRPr>
            </a:pPr>
            <a:r>
              <a:t>Ingestion and Indexing Pipeline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1490472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1389888"/>
            <a:ext cx="1037844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0">
                <a:solidFill>
                  <a:srgbClr val="111827"/>
                </a:solidFill>
              </a:defRPr>
            </a:pPr>
            <a:r>
              <a:t>Scan workspace directories and classify supported files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2112264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2011680"/>
            <a:ext cx="1037844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0">
                <a:solidFill>
                  <a:srgbClr val="111827"/>
                </a:solidFill>
              </a:defRPr>
            </a:pPr>
            <a:r>
              <a:t>Extract notebook/script metadata: tools, table references, database targets</a:t>
            </a:r>
          </a:p>
        </p:txBody>
      </p:sp>
      <p:sp>
        <p:nvSpPr>
          <p:cNvPr id="13" name="Oval 12"/>
          <p:cNvSpPr/>
          <p:nvPr/>
        </p:nvSpPr>
        <p:spPr>
          <a:xfrm>
            <a:off x="786384" y="2734056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4128" y="2633472"/>
            <a:ext cx="1037844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0">
                <a:solidFill>
                  <a:srgbClr val="111827"/>
                </a:solidFill>
              </a:defRPr>
            </a:pPr>
            <a:r>
              <a:t>Convert artifacts into LangChain documents and extract notebook cell text</a:t>
            </a:r>
          </a:p>
        </p:txBody>
      </p:sp>
      <p:sp>
        <p:nvSpPr>
          <p:cNvPr id="15" name="Oval 14"/>
          <p:cNvSpPr/>
          <p:nvPr/>
        </p:nvSpPr>
        <p:spPr>
          <a:xfrm>
            <a:off x="786384" y="3355848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" y="3255264"/>
            <a:ext cx="1037844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0">
                <a:solidFill>
                  <a:srgbClr val="111827"/>
                </a:solidFill>
              </a:defRPr>
            </a:pPr>
            <a:r>
              <a:t>Chunk by content type, embed with text-embedding-3-small, and upsert to Milvus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29260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"/>
            <a:ext cx="3044952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4952" y="292608"/>
            <a:ext cx="3044952" cy="54864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89904" y="292608"/>
            <a:ext cx="3044952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34856" y="292608"/>
            <a:ext cx="3044952" cy="54864"/>
          </a:xfrm>
          <a:prstGeom prst="rect">
            <a:avLst/>
          </a:prstGeom>
          <a:solidFill>
            <a:srgbClr val="DB2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10972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00" b="0">
                <a:solidFill>
                  <a:srgbClr val="4B5563"/>
                </a:solidFill>
              </a:defRPr>
            </a:pPr>
            <a:r>
              <a:t>Kubeflow Workspace Intelligence LLMOps - v4 - 09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3000" b="1">
                <a:solidFill>
                  <a:srgbClr val="111827"/>
                </a:solidFill>
              </a:defRPr>
            </a:pPr>
            <a:r>
              <a:t>Retrieval Surfaces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1490472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1389888"/>
            <a:ext cx="1037844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0">
                <a:solidFill>
                  <a:srgbClr val="111827"/>
                </a:solidFill>
              </a:defRPr>
            </a:pPr>
            <a:r>
              <a:t>kubeflow_artifacts: raw artifact chunks for semantic artifact search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2112264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2011680"/>
            <a:ext cx="1037844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0">
                <a:solidFill>
                  <a:srgbClr val="111827"/>
                </a:solidFill>
              </a:defRPr>
            </a:pPr>
            <a:r>
              <a:t>artifact_summaries: concise notebook/script descriptions and tags</a:t>
            </a:r>
          </a:p>
        </p:txBody>
      </p:sp>
      <p:sp>
        <p:nvSpPr>
          <p:cNvPr id="13" name="Oval 12"/>
          <p:cNvSpPr/>
          <p:nvPr/>
        </p:nvSpPr>
        <p:spPr>
          <a:xfrm>
            <a:off x="786384" y="2734056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4128" y="2633472"/>
            <a:ext cx="1037844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0">
                <a:solidFill>
                  <a:srgbClr val="111827"/>
                </a:solidFill>
              </a:defRPr>
            </a:pPr>
            <a:r>
              <a:t>user_profiles: generated expertise summaries by workspace owner</a:t>
            </a:r>
          </a:p>
        </p:txBody>
      </p:sp>
      <p:sp>
        <p:nvSpPr>
          <p:cNvPr id="15" name="Oval 14"/>
          <p:cNvSpPr/>
          <p:nvPr/>
        </p:nvSpPr>
        <p:spPr>
          <a:xfrm>
            <a:off x="786384" y="3355848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" y="3255264"/>
            <a:ext cx="1037844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0">
                <a:solidFill>
                  <a:srgbClr val="111827"/>
                </a:solidFill>
              </a:defRPr>
            </a:pPr>
            <a:r>
              <a:t>platform_docs: chunks extracted from platform Word documents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29260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"/>
            <a:ext cx="3044952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4952" y="292608"/>
            <a:ext cx="3044952" cy="54864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89904" y="292608"/>
            <a:ext cx="3044952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34856" y="292608"/>
            <a:ext cx="3044952" cy="54864"/>
          </a:xfrm>
          <a:prstGeom prst="rect">
            <a:avLst/>
          </a:prstGeom>
          <a:solidFill>
            <a:srgbClr val="DB2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10972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00" b="0">
                <a:solidFill>
                  <a:srgbClr val="4B5563"/>
                </a:solidFill>
              </a:defRPr>
            </a:pPr>
            <a:r>
              <a:t>Kubeflow Workspace Intelligence LLMOps - v4 - 10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3000" b="1">
                <a:solidFill>
                  <a:srgbClr val="111827"/>
                </a:solidFill>
              </a:defRPr>
            </a:pPr>
            <a:r>
              <a:t>Chatbot Runtime Flow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1572768"/>
            <a:ext cx="9601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defRPr sz="919" b="1">
                <a:solidFill>
                  <a:srgbClr val="111827"/>
                </a:solidFill>
              </a:defRPr>
            </a:pPr>
            <a:r>
              <a:t>Query</a:t>
            </a:r>
            <a:br/>
            <a:r>
              <a:t>+ trace_id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554480" y="1901952"/>
            <a:ext cx="274320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1828800" y="1572768"/>
            <a:ext cx="960120" cy="658368"/>
          </a:xfrm>
          <a:prstGeom prst="rect">
            <a:avLst/>
          </a:prstGeom>
          <a:solidFill>
            <a:srgbClr val="DCFCE7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defRPr sz="919" b="1">
                <a:solidFill>
                  <a:srgbClr val="111827"/>
                </a:solidFill>
              </a:defRPr>
            </a:pPr>
            <a:r>
              <a:t>Intent</a:t>
            </a:r>
            <a:br/>
            <a:r>
              <a:t>classifier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788920" y="1901952"/>
            <a:ext cx="274320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3063240" y="1572768"/>
            <a:ext cx="960120" cy="658368"/>
          </a:xfrm>
          <a:prstGeom prst="rect">
            <a:avLst/>
          </a:prstGeom>
          <a:solidFill>
            <a:srgbClr val="DCFCE7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defRPr sz="919" b="1">
                <a:solidFill>
                  <a:srgbClr val="111827"/>
                </a:solidFill>
              </a:defRPr>
            </a:pPr>
            <a:r>
              <a:t>Query</a:t>
            </a:r>
            <a:br/>
            <a:r>
              <a:t>rewriter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023360" y="1901952"/>
            <a:ext cx="274320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4297680" y="1572768"/>
            <a:ext cx="960120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defRPr sz="919" b="1">
                <a:solidFill>
                  <a:srgbClr val="111827"/>
                </a:solidFill>
              </a:defRPr>
            </a:pPr>
            <a:r>
              <a:t>Routed</a:t>
            </a:r>
            <a:br/>
            <a:r>
              <a:t>retriever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257800" y="1901952"/>
            <a:ext cx="274320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5532120" y="1572768"/>
            <a:ext cx="960120" cy="658368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defRPr sz="919" b="1">
                <a:solidFill>
                  <a:srgbClr val="111827"/>
                </a:solidFill>
              </a:defRPr>
            </a:pPr>
            <a:r>
              <a:t>Prompt</a:t>
            </a:r>
            <a:br/>
            <a:r>
              <a:t>builder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492240" y="1901952"/>
            <a:ext cx="274320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6766560" y="1572768"/>
            <a:ext cx="960120" cy="658368"/>
          </a:xfrm>
          <a:prstGeom prst="rect">
            <a:avLst/>
          </a:prstGeom>
          <a:solidFill>
            <a:srgbClr val="EDE9FE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defRPr sz="919" b="1">
                <a:solidFill>
                  <a:srgbClr val="111827"/>
                </a:solidFill>
              </a:defRPr>
            </a:pPr>
            <a:r>
              <a:t>LiteLLM</a:t>
            </a:r>
            <a:br/>
            <a:r>
              <a:t>generate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726680" y="1901952"/>
            <a:ext cx="274320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8001000" y="1572768"/>
            <a:ext cx="9601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defRPr sz="919" b="1">
                <a:solidFill>
                  <a:srgbClr val="111827"/>
                </a:solidFill>
              </a:defRPr>
            </a:pPr>
            <a:r>
              <a:t>Formatted</a:t>
            </a:r>
            <a:br/>
            <a:r>
              <a:t>response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4360" y="2788920"/>
            <a:ext cx="3703320" cy="256032"/>
          </a:xfrm>
          <a:prstGeom prst="rect">
            <a:avLst/>
          </a:prstGeom>
          <a:solidFill>
            <a:srgbClr val="F1F5F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defRPr sz="1000" b="1">
                <a:solidFill>
                  <a:srgbClr val="111827"/>
                </a:solidFill>
              </a:defRPr>
            </a:pPr>
            <a:r>
              <a:t>USER_SEARCH special path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8680" y="3246120"/>
            <a:ext cx="1143000" cy="566928"/>
          </a:xfrm>
          <a:prstGeom prst="rect">
            <a:avLst/>
          </a:prstGeom>
          <a:solidFill>
            <a:srgbClr val="DCFCE7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defRPr sz="950" b="1">
                <a:solidFill>
                  <a:srgbClr val="111827"/>
                </a:solidFill>
              </a:defRPr>
            </a:pPr>
            <a:r>
              <a:t>Candidate</a:t>
            </a:r>
            <a:br/>
            <a:r>
              <a:t>resolution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331720" y="3246120"/>
            <a:ext cx="1143000" cy="566928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defRPr sz="919" b="1">
                <a:solidFill>
                  <a:srgbClr val="111827"/>
                </a:solidFill>
              </a:defRPr>
            </a:pPr>
            <a:r>
              <a:t>Exact match:</a:t>
            </a:r>
            <a:br/>
            <a:r>
              <a:t>profile fetch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011680" y="3529584"/>
            <a:ext cx="320040" cy="0"/>
          </a:xfrm>
          <a:prstGeom prst="line">
            <a:avLst/>
          </a:prstGeom>
          <a:ln w="1905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1435608" y="2231136"/>
            <a:ext cx="877824" cy="1014984"/>
          </a:xfrm>
          <a:prstGeom prst="line">
            <a:avLst/>
          </a:prstGeom>
          <a:ln w="1905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2907792" y="2231136"/>
            <a:ext cx="5276087" cy="1581912"/>
          </a:xfrm>
          <a:prstGeom prst="line">
            <a:avLst/>
          </a:prstGeom>
          <a:ln w="19050">
            <a:solidFill>
              <a:srgbClr val="D977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4617720" y="2788920"/>
            <a:ext cx="4343400" cy="256032"/>
          </a:xfrm>
          <a:prstGeom prst="rect">
            <a:avLst/>
          </a:prstGeom>
          <a:solidFill>
            <a:srgbClr val="F1F5F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defRPr sz="1000" b="1">
                <a:solidFill>
                  <a:srgbClr val="111827"/>
                </a:solidFill>
              </a:defRPr>
            </a:pPr>
            <a:r>
              <a:t>Observability and evaluation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00600" y="3246120"/>
            <a:ext cx="1143000" cy="566928"/>
          </a:xfrm>
          <a:prstGeom prst="rect">
            <a:avLst/>
          </a:prstGeom>
          <a:solidFill>
            <a:srgbClr val="FCE7F3"/>
          </a:solidFill>
          <a:ln w="12700">
            <a:solidFill>
              <a:srgbClr val="DB2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defRPr sz="950" b="1">
                <a:solidFill>
                  <a:srgbClr val="111827"/>
                </a:solidFill>
              </a:defRPr>
            </a:pPr>
            <a:r>
              <a:t>Layer 1</a:t>
            </a:r>
            <a:br/>
            <a:r>
              <a:t>heuristics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63640" y="3246120"/>
            <a:ext cx="1143000" cy="566928"/>
          </a:xfrm>
          <a:prstGeom prst="rect">
            <a:avLst/>
          </a:prstGeom>
          <a:solidFill>
            <a:srgbClr val="FCE7F3"/>
          </a:solidFill>
          <a:ln w="12700">
            <a:solidFill>
              <a:srgbClr val="DB2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defRPr sz="950" b="1">
                <a:solidFill>
                  <a:srgbClr val="111827"/>
                </a:solidFill>
              </a:defRPr>
            </a:pPr>
            <a:r>
              <a:t>Layer 2</a:t>
            </a:r>
            <a:br/>
            <a:r>
              <a:t>RAGAS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26679" y="3246120"/>
            <a:ext cx="1143000" cy="566928"/>
          </a:xfrm>
          <a:prstGeom prst="rect">
            <a:avLst/>
          </a:prstGeom>
          <a:solidFill>
            <a:srgbClr val="FCE7F3"/>
          </a:solidFill>
          <a:ln w="12700">
            <a:solidFill>
              <a:srgbClr val="DB2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defRPr sz="950" b="1">
                <a:solidFill>
                  <a:srgbClr val="111827"/>
                </a:solidFill>
              </a:defRPr>
            </a:pPr>
            <a:r>
              <a:t>Langfuse</a:t>
            </a:r>
            <a:br/>
            <a:r>
              <a:t>trace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943600" y="3529584"/>
            <a:ext cx="320040" cy="0"/>
          </a:xfrm>
          <a:prstGeom prst="line">
            <a:avLst/>
          </a:prstGeom>
          <a:ln w="19050">
            <a:solidFill>
              <a:srgbClr val="DB27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406640" y="3529584"/>
            <a:ext cx="320039" cy="0"/>
          </a:xfrm>
          <a:prstGeom prst="line">
            <a:avLst/>
          </a:prstGeom>
          <a:ln w="19050">
            <a:solidFill>
              <a:srgbClr val="DB27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>
            <a:off x="5376672" y="2231136"/>
            <a:ext cx="3108960" cy="1014984"/>
          </a:xfrm>
          <a:prstGeom prst="line">
            <a:avLst/>
          </a:prstGeom>
          <a:ln w="19050">
            <a:solidFill>
              <a:srgbClr val="DB27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594360" y="4645152"/>
            <a:ext cx="8366760" cy="256032"/>
          </a:xfrm>
          <a:prstGeom prst="rect">
            <a:avLst/>
          </a:prstGeom>
          <a:solidFill>
            <a:srgbClr val="F1F5F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defRPr sz="1000" b="1">
                <a:solidFill>
                  <a:srgbClr val="111827"/>
                </a:solidFill>
              </a:defRPr>
            </a:pPr>
            <a:r>
              <a:t>Intent-to-store routing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68680" y="5074920"/>
            <a:ext cx="1371600" cy="475488"/>
          </a:xfrm>
          <a:prstGeom prst="rect">
            <a:avLst/>
          </a:prstGeom>
          <a:solidFill>
            <a:srgbClr val="FFF7ED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defRPr sz="880" b="0">
                <a:solidFill>
                  <a:srgbClr val="111827"/>
                </a:solidFill>
              </a:defRPr>
            </a:pPr>
            <a:r>
              <a:t>DOC_QA</a:t>
            </a:r>
            <a:br/>
            <a:r>
              <a:t>platform_docs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514600" y="5074920"/>
            <a:ext cx="1371600" cy="475488"/>
          </a:xfrm>
          <a:prstGeom prst="rect">
            <a:avLst/>
          </a:prstGeom>
          <a:solidFill>
            <a:srgbClr val="FFF7ED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defRPr sz="850" b="0">
                <a:solidFill>
                  <a:srgbClr val="111827"/>
                </a:solidFill>
              </a:defRPr>
            </a:pPr>
            <a:r>
              <a:t>ARTIFACT_SEARCH</a:t>
            </a:r>
            <a:br/>
            <a:r>
              <a:t>summaries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60520" y="5074920"/>
            <a:ext cx="1371600" cy="475488"/>
          </a:xfrm>
          <a:prstGeom prst="rect">
            <a:avLst/>
          </a:prstGeom>
          <a:solidFill>
            <a:srgbClr val="FFF7ED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defRPr sz="880" b="0">
                <a:solidFill>
                  <a:srgbClr val="111827"/>
                </a:solidFill>
              </a:defRPr>
            </a:pPr>
            <a:r>
              <a:t>USER_SEARCH</a:t>
            </a:r>
            <a:br/>
            <a:r>
              <a:t>profiles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806440" y="5074920"/>
            <a:ext cx="1371600" cy="475488"/>
          </a:xfrm>
          <a:prstGeom prst="rect">
            <a:avLst/>
          </a:prstGeom>
          <a:solidFill>
            <a:srgbClr val="FFF7ED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defRPr sz="880" b="0">
                <a:solidFill>
                  <a:srgbClr val="111827"/>
                </a:solidFill>
              </a:defRPr>
            </a:pPr>
            <a:r>
              <a:t>HYBRID</a:t>
            </a:r>
            <a:br/>
            <a:r>
              <a:t>all stores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452360" y="5074920"/>
            <a:ext cx="1371600" cy="475488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>
              <a:defRPr sz="880" b="0">
                <a:solidFill>
                  <a:srgbClr val="111827"/>
                </a:solidFill>
              </a:defRPr>
            </a:pPr>
            <a:r>
              <a:t>OUT_OF_SCOPE</a:t>
            </a:r>
            <a:br/>
            <a:r>
              <a:t>bounded reply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372600" y="1234440"/>
            <a:ext cx="2331720" cy="452628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537192" y="1417320"/>
            <a:ext cx="2011679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200" b="1">
                <a:solidFill>
                  <a:srgbClr val="111827"/>
                </a:solidFill>
              </a:defRPr>
            </a:pPr>
            <a:r>
              <a:t>Important Points</a:t>
            </a:r>
          </a:p>
        </p:txBody>
      </p:sp>
      <p:sp>
        <p:nvSpPr>
          <p:cNvPr id="43" name="Oval 42"/>
          <p:cNvSpPr/>
          <p:nvPr/>
        </p:nvSpPr>
        <p:spPr>
          <a:xfrm>
            <a:off x="9573768" y="1929384"/>
            <a:ext cx="82296" cy="82296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738360" y="1856232"/>
            <a:ext cx="1828799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050" b="0">
                <a:solidFill>
                  <a:srgbClr val="111827"/>
                </a:solidFill>
              </a:defRPr>
            </a:pPr>
            <a:r>
              <a:t>One trace_id groups classify, rewrite, retrieve, generate, and scoring</a:t>
            </a:r>
          </a:p>
        </p:txBody>
      </p:sp>
      <p:sp>
        <p:nvSpPr>
          <p:cNvPr id="45" name="Oval 44"/>
          <p:cNvSpPr/>
          <p:nvPr/>
        </p:nvSpPr>
        <p:spPr>
          <a:xfrm>
            <a:off x="9573768" y="2642616"/>
            <a:ext cx="82296" cy="82296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738360" y="2569464"/>
            <a:ext cx="1828799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050" b="0">
                <a:solidFill>
                  <a:srgbClr val="111827"/>
                </a:solidFill>
              </a:defRPr>
            </a:pPr>
            <a:r>
              <a:t>Intent decides which store is queried and which prompt is built</a:t>
            </a:r>
          </a:p>
        </p:txBody>
      </p:sp>
      <p:sp>
        <p:nvSpPr>
          <p:cNvPr id="47" name="Oval 46"/>
          <p:cNvSpPr/>
          <p:nvPr/>
        </p:nvSpPr>
        <p:spPr>
          <a:xfrm>
            <a:off x="9573768" y="3355848"/>
            <a:ext cx="82296" cy="82296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738360" y="3282696"/>
            <a:ext cx="1828799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050" b="0">
                <a:solidFill>
                  <a:srgbClr val="111827"/>
                </a:solidFill>
              </a:defRPr>
            </a:pPr>
            <a:r>
              <a:t>USER_SEARCH uses exact/candidate name resolution before semantic retrieval</a:t>
            </a:r>
          </a:p>
        </p:txBody>
      </p:sp>
      <p:sp>
        <p:nvSpPr>
          <p:cNvPr id="49" name="Oval 48"/>
          <p:cNvSpPr/>
          <p:nvPr/>
        </p:nvSpPr>
        <p:spPr>
          <a:xfrm>
            <a:off x="9573768" y="4069080"/>
            <a:ext cx="82296" cy="82296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738360" y="3995928"/>
            <a:ext cx="1828799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050" b="0">
                <a:solidFill>
                  <a:srgbClr val="111827"/>
                </a:solidFill>
              </a:defRPr>
            </a:pPr>
            <a:r>
              <a:t>Scores and feedback are attached to the same Langfuse trace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29260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"/>
            <a:ext cx="3044952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4952" y="292608"/>
            <a:ext cx="3044952" cy="54864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89904" y="292608"/>
            <a:ext cx="3044952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34856" y="292608"/>
            <a:ext cx="3044952" cy="54864"/>
          </a:xfrm>
          <a:prstGeom prst="rect">
            <a:avLst/>
          </a:prstGeom>
          <a:solidFill>
            <a:srgbClr val="DB2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10972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00" b="0">
                <a:solidFill>
                  <a:srgbClr val="4B5563"/>
                </a:solidFill>
              </a:defRPr>
            </a:pPr>
            <a:r>
              <a:t>Kubeflow Workspace Intelligence LLMOps - v4 - 11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3000" b="1">
                <a:solidFill>
                  <a:srgbClr val="111827"/>
                </a:solidFill>
              </a:defRPr>
            </a:pPr>
            <a:r>
              <a:t>Intent Routing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1490472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1389888"/>
            <a:ext cx="1037844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700" b="0">
                <a:solidFill>
                  <a:srgbClr val="111827"/>
                </a:solidFill>
              </a:defRPr>
            </a:pPr>
            <a:r>
              <a:t>DOC_QA routes to platform_docs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2020824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1920240"/>
            <a:ext cx="1037844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700" b="0">
                <a:solidFill>
                  <a:srgbClr val="111827"/>
                </a:solidFill>
              </a:defRPr>
            </a:pPr>
            <a:r>
              <a:t>ARTIFACT_SEARCH routes to artifact_summaries</a:t>
            </a:r>
          </a:p>
        </p:txBody>
      </p:sp>
      <p:sp>
        <p:nvSpPr>
          <p:cNvPr id="13" name="Oval 12"/>
          <p:cNvSpPr/>
          <p:nvPr/>
        </p:nvSpPr>
        <p:spPr>
          <a:xfrm>
            <a:off x="786384" y="2551176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4128" y="2450592"/>
            <a:ext cx="1037844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700" b="0">
                <a:solidFill>
                  <a:srgbClr val="111827"/>
                </a:solidFill>
              </a:defRPr>
            </a:pPr>
            <a:r>
              <a:t>USER_SEARCH routes to direct profile lookup or user_profiles</a:t>
            </a:r>
          </a:p>
        </p:txBody>
      </p:sp>
      <p:sp>
        <p:nvSpPr>
          <p:cNvPr id="15" name="Oval 14"/>
          <p:cNvSpPr/>
          <p:nvPr/>
        </p:nvSpPr>
        <p:spPr>
          <a:xfrm>
            <a:off x="786384" y="3081528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" y="2980944"/>
            <a:ext cx="1037844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700" b="0">
                <a:solidFill>
                  <a:srgbClr val="111827"/>
                </a:solidFill>
              </a:defRPr>
            </a:pPr>
            <a:r>
              <a:t>HYBRID retrieves from docs, artifacts, and profiles</a:t>
            </a:r>
          </a:p>
        </p:txBody>
      </p:sp>
      <p:sp>
        <p:nvSpPr>
          <p:cNvPr id="17" name="Oval 16"/>
          <p:cNvSpPr/>
          <p:nvPr/>
        </p:nvSpPr>
        <p:spPr>
          <a:xfrm>
            <a:off x="786384" y="3611880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8" y="3511296"/>
            <a:ext cx="1037844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700" b="0">
                <a:solidFill>
                  <a:srgbClr val="111827"/>
                </a:solidFill>
              </a:defRPr>
            </a:pPr>
            <a:r>
              <a:t>OUT_OF_SCOPE returns a bounded response instead of general model knowledge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29260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"/>
            <a:ext cx="3044952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4952" y="292608"/>
            <a:ext cx="3044952" cy="54864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89904" y="292608"/>
            <a:ext cx="3044952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34856" y="292608"/>
            <a:ext cx="3044952" cy="54864"/>
          </a:xfrm>
          <a:prstGeom prst="rect">
            <a:avLst/>
          </a:prstGeom>
          <a:solidFill>
            <a:srgbClr val="DB2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10972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00" b="0">
                <a:solidFill>
                  <a:srgbClr val="4B5563"/>
                </a:solidFill>
              </a:defRPr>
            </a:pPr>
            <a:r>
              <a:t>Kubeflow Workspace Intelligence LLMOps - v4 - 12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3000" b="1">
                <a:solidFill>
                  <a:srgbClr val="111827"/>
                </a:solidFill>
              </a:defRPr>
            </a:pPr>
            <a:r>
              <a:t>LLM Orchestration with LiteLLM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1490472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1389888"/>
            <a:ext cx="1037844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0">
                <a:solidFill>
                  <a:srgbClr val="111827"/>
                </a:solidFill>
              </a:defRPr>
            </a:pPr>
            <a:r>
              <a:t>All chat calls use an OpenAI-compatible client pointed at LiteLLM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2112264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2011680"/>
            <a:ext cx="1037844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0">
                <a:solidFill>
                  <a:srgbClr val="111827"/>
                </a:solidFill>
              </a:defRPr>
            </a:pPr>
            <a:r>
              <a:t>Generation defaults to gpt-4o-mini for cost-sensitive interaction</a:t>
            </a:r>
          </a:p>
        </p:txBody>
      </p:sp>
      <p:sp>
        <p:nvSpPr>
          <p:cNvPr id="13" name="Oval 12"/>
          <p:cNvSpPr/>
          <p:nvPr/>
        </p:nvSpPr>
        <p:spPr>
          <a:xfrm>
            <a:off x="786384" y="2734056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4128" y="2633472"/>
            <a:ext cx="1037844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0">
                <a:solidFill>
                  <a:srgbClr val="111827"/>
                </a:solidFill>
              </a:defRPr>
            </a:pPr>
            <a:r>
              <a:t>Evaluation and judge paths use gpt-4o for stronger scoring reliability</a:t>
            </a:r>
          </a:p>
        </p:txBody>
      </p:sp>
      <p:sp>
        <p:nvSpPr>
          <p:cNvPr id="15" name="Oval 14"/>
          <p:cNvSpPr/>
          <p:nvPr/>
        </p:nvSpPr>
        <p:spPr>
          <a:xfrm>
            <a:off x="786384" y="3355848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" y="3255264"/>
            <a:ext cx="1037844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0">
                <a:solidFill>
                  <a:srgbClr val="111827"/>
                </a:solidFill>
              </a:defRPr>
            </a:pPr>
            <a:r>
              <a:t>Trace metadata groups multi-step calls under one Langfuse request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29260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"/>
            <a:ext cx="3044952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4952" y="292608"/>
            <a:ext cx="3044952" cy="54864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89904" y="292608"/>
            <a:ext cx="3044952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34856" y="292608"/>
            <a:ext cx="3044952" cy="54864"/>
          </a:xfrm>
          <a:prstGeom prst="rect">
            <a:avLst/>
          </a:prstGeom>
          <a:solidFill>
            <a:srgbClr val="DB2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10972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00" b="0">
                <a:solidFill>
                  <a:srgbClr val="4B5563"/>
                </a:solidFill>
              </a:defRPr>
            </a:pPr>
            <a:r>
              <a:t>Kubeflow Workspace Intelligence LLMOps - v4 - 13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3000" b="1">
                <a:solidFill>
                  <a:srgbClr val="111827"/>
                </a:solidFill>
              </a:defRPr>
            </a:pPr>
            <a:r>
              <a:t>Layer 1 Observability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1490472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1389888"/>
            <a:ext cx="1037844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0">
                <a:solidFill>
                  <a:srgbClr val="111827"/>
                </a:solidFill>
              </a:defRPr>
            </a:pPr>
            <a:r>
              <a:t>LiteLLM forwards prompts, responses, latency, cost, tokens, and errors to Langfuse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2112264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2011680"/>
            <a:ext cx="1037844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0">
                <a:solidFill>
                  <a:srgbClr val="111827"/>
                </a:solidFill>
              </a:defRPr>
            </a:pPr>
            <a:r>
              <a:t>Application posts response_length, has_content, intent_confidence, and source_count</a:t>
            </a:r>
          </a:p>
        </p:txBody>
      </p:sp>
      <p:sp>
        <p:nvSpPr>
          <p:cNvPr id="13" name="Oval 12"/>
          <p:cNvSpPr/>
          <p:nvPr/>
        </p:nvSpPr>
        <p:spPr>
          <a:xfrm>
            <a:off x="786384" y="2734056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4128" y="2633472"/>
            <a:ext cx="1037844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0">
                <a:solidFill>
                  <a:srgbClr val="111827"/>
                </a:solidFill>
              </a:defRPr>
            </a:pPr>
            <a:r>
              <a:t>The trace_id is returned so frontend feedback can attach to the same trace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29260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"/>
            <a:ext cx="3044952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4952" y="292608"/>
            <a:ext cx="3044952" cy="54864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89904" y="292608"/>
            <a:ext cx="3044952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34856" y="292608"/>
            <a:ext cx="3044952" cy="54864"/>
          </a:xfrm>
          <a:prstGeom prst="rect">
            <a:avLst/>
          </a:prstGeom>
          <a:solidFill>
            <a:srgbClr val="DB2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10972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00" b="0">
                <a:solidFill>
                  <a:srgbClr val="4B5563"/>
                </a:solidFill>
              </a:defRPr>
            </a:pPr>
            <a:r>
              <a:t>Kubeflow Workspace Intelligence LLMOps - v4 - 14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3000" b="1">
                <a:solidFill>
                  <a:srgbClr val="111827"/>
                </a:solidFill>
              </a:defRPr>
            </a:pPr>
            <a:r>
              <a:t>Layer 2 RAG Evaluation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1490472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1389888"/>
            <a:ext cx="1037844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0">
                <a:solidFill>
                  <a:srgbClr val="111827"/>
                </a:solidFill>
              </a:defRPr>
            </a:pPr>
            <a:r>
              <a:t>Runs after the response in a background thread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2112264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2011680"/>
            <a:ext cx="1037844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0">
                <a:solidFill>
                  <a:srgbClr val="111827"/>
                </a:solidFill>
              </a:defRPr>
            </a:pPr>
            <a:r>
              <a:t>RAGAS metrics: faithfulness, answer_relevancy, context_precision</a:t>
            </a:r>
          </a:p>
        </p:txBody>
      </p:sp>
      <p:sp>
        <p:nvSpPr>
          <p:cNvPr id="13" name="Oval 12"/>
          <p:cNvSpPr/>
          <p:nvPr/>
        </p:nvSpPr>
        <p:spPr>
          <a:xfrm>
            <a:off x="786384" y="2734056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4128" y="2633472"/>
            <a:ext cx="1037844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0">
                <a:solidFill>
                  <a:srgbClr val="111827"/>
                </a:solidFill>
              </a:defRPr>
            </a:pPr>
            <a:r>
              <a:t>Exact USER_SEARCH uses LLM judge score: profile_relevance</a:t>
            </a:r>
          </a:p>
        </p:txBody>
      </p:sp>
      <p:sp>
        <p:nvSpPr>
          <p:cNvPr id="15" name="Oval 14"/>
          <p:cNvSpPr/>
          <p:nvPr/>
        </p:nvSpPr>
        <p:spPr>
          <a:xfrm>
            <a:off x="786384" y="3355848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" y="3255264"/>
            <a:ext cx="1037844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0">
                <a:solidFill>
                  <a:srgbClr val="111827"/>
                </a:solidFill>
              </a:defRPr>
            </a:pPr>
            <a:r>
              <a:t>Scores are posted back to the same Langfuse trace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29260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"/>
            <a:ext cx="3044952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4952" y="292608"/>
            <a:ext cx="3044952" cy="54864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89904" y="292608"/>
            <a:ext cx="3044952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34856" y="292608"/>
            <a:ext cx="3044952" cy="54864"/>
          </a:xfrm>
          <a:prstGeom prst="rect">
            <a:avLst/>
          </a:prstGeom>
          <a:solidFill>
            <a:srgbClr val="DB2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10972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00" b="0">
                <a:solidFill>
                  <a:srgbClr val="4B5563"/>
                </a:solidFill>
              </a:defRPr>
            </a:pPr>
            <a:r>
              <a:t>Kubeflow Workspace Intelligence LLMOps - v4 - 15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3000" b="1">
                <a:solidFill>
                  <a:srgbClr val="111827"/>
                </a:solidFill>
              </a:defRPr>
            </a:pPr>
            <a:r>
              <a:t>Evaluation Interpretation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1490472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1389888"/>
            <a:ext cx="1037844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0">
                <a:solidFill>
                  <a:srgbClr val="111827"/>
                </a:solidFill>
              </a:defRPr>
            </a:pPr>
            <a:r>
              <a:t>Low faithfulness means answer claims are unsupported by retrieved context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2112264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2011680"/>
            <a:ext cx="1037844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0">
                <a:solidFill>
                  <a:srgbClr val="111827"/>
                </a:solidFill>
              </a:defRPr>
            </a:pPr>
            <a:r>
              <a:t>Low answer_relevancy means the answer missed the user question</a:t>
            </a:r>
          </a:p>
        </p:txBody>
      </p:sp>
      <p:sp>
        <p:nvSpPr>
          <p:cNvPr id="13" name="Oval 12"/>
          <p:cNvSpPr/>
          <p:nvPr/>
        </p:nvSpPr>
        <p:spPr>
          <a:xfrm>
            <a:off x="786384" y="2734056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4128" y="2633472"/>
            <a:ext cx="1037844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0">
                <a:solidFill>
                  <a:srgbClr val="111827"/>
                </a:solidFill>
              </a:defRPr>
            </a:pPr>
            <a:r>
              <a:t>Low context_precision means retrieval returned weak or poorly ranked context</a:t>
            </a:r>
          </a:p>
        </p:txBody>
      </p:sp>
      <p:sp>
        <p:nvSpPr>
          <p:cNvPr id="15" name="Oval 14"/>
          <p:cNvSpPr/>
          <p:nvPr/>
        </p:nvSpPr>
        <p:spPr>
          <a:xfrm>
            <a:off x="786384" y="3355848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" y="3255264"/>
            <a:ext cx="1037844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0">
                <a:solidFill>
                  <a:srgbClr val="111827"/>
                </a:solidFill>
              </a:defRPr>
            </a:pPr>
            <a:r>
              <a:t>Low profile_relevance means people-search output did not match the ask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29260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"/>
            <a:ext cx="3044952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4952" y="292608"/>
            <a:ext cx="3044952" cy="54864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89904" y="292608"/>
            <a:ext cx="3044952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34856" y="292608"/>
            <a:ext cx="3044952" cy="54864"/>
          </a:xfrm>
          <a:prstGeom prst="rect">
            <a:avLst/>
          </a:prstGeom>
          <a:solidFill>
            <a:srgbClr val="DB2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10972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00" b="0">
                <a:solidFill>
                  <a:srgbClr val="4B5563"/>
                </a:solidFill>
              </a:defRPr>
            </a:pPr>
            <a:r>
              <a:t>Kubeflow Workspace Intelligence LLMOps - v4 - 16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3000" b="1">
                <a:solidFill>
                  <a:srgbClr val="111827"/>
                </a:solidFill>
              </a:defRPr>
            </a:pPr>
            <a:r>
              <a:t>API and Web Surface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1490472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1389888"/>
            <a:ext cx="1037844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0">
                <a:solidFill>
                  <a:srgbClr val="111827"/>
                </a:solidFill>
              </a:defRPr>
            </a:pPr>
            <a:r>
              <a:t>/query, /chat, /workspaces, /user-profiles, /profile/workspace/{id}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2112264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2011680"/>
            <a:ext cx="1037844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0">
                <a:solidFill>
                  <a:srgbClr val="111827"/>
                </a:solidFill>
              </a:defRPr>
            </a:pPr>
            <a:r>
              <a:t>Admin endpoints rebuild indexes, summaries, profiles, and platform-doc chunks</a:t>
            </a:r>
          </a:p>
        </p:txBody>
      </p:sp>
      <p:sp>
        <p:nvSpPr>
          <p:cNvPr id="13" name="Oval 12"/>
          <p:cNvSpPr/>
          <p:nvPr/>
        </p:nvSpPr>
        <p:spPr>
          <a:xfrm>
            <a:off x="786384" y="2734056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4128" y="2633472"/>
            <a:ext cx="1037844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0">
                <a:solidFill>
                  <a:srgbClr val="111827"/>
                </a:solidFill>
              </a:defRPr>
            </a:pPr>
            <a:r>
              <a:t>Feedback and score endpoints attach quality signals to Langfuse traces</a:t>
            </a:r>
          </a:p>
        </p:txBody>
      </p:sp>
      <p:sp>
        <p:nvSpPr>
          <p:cNvPr id="15" name="Oval 14"/>
          <p:cNvSpPr/>
          <p:nvPr/>
        </p:nvSpPr>
        <p:spPr>
          <a:xfrm>
            <a:off x="786384" y="3355848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" y="3255264"/>
            <a:ext cx="1037844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0">
                <a:solidFill>
                  <a:srgbClr val="111827"/>
                </a:solidFill>
              </a:defRPr>
            </a:pPr>
            <a:r>
              <a:t>Next.js server routes proxy browser requests to FastAPI via PYTHON_API_URL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29260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"/>
            <a:ext cx="3044952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4952" y="292608"/>
            <a:ext cx="3044952" cy="54864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89904" y="292608"/>
            <a:ext cx="3044952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34856" y="292608"/>
            <a:ext cx="3044952" cy="54864"/>
          </a:xfrm>
          <a:prstGeom prst="rect">
            <a:avLst/>
          </a:prstGeom>
          <a:solidFill>
            <a:srgbClr val="DB2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10972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00" b="0">
                <a:solidFill>
                  <a:srgbClr val="4B5563"/>
                </a:solidFill>
              </a:defRPr>
            </a:pPr>
            <a:r>
              <a:t>Kubeflow Workspace Intelligence LLMOps - v4 - 17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3000" b="1">
                <a:solidFill>
                  <a:srgbClr val="111827"/>
                </a:solidFill>
              </a:defRPr>
            </a:pPr>
            <a:r>
              <a:t>Design Decisions and Tradeoffs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1490472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1389888"/>
            <a:ext cx="1037844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700" b="0">
                <a:solidFill>
                  <a:srgbClr val="111827"/>
                </a:solidFill>
              </a:defRPr>
            </a:pPr>
            <a:r>
              <a:t>Separate vector collections improve precision but require freshness management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2020824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1920240"/>
            <a:ext cx="1037844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700" b="0">
                <a:solidFill>
                  <a:srgbClr val="111827"/>
                </a:solidFill>
              </a:defRPr>
            </a:pPr>
            <a:r>
              <a:t>Summary-first profiles reduce token noise but depend on summary quality</a:t>
            </a:r>
          </a:p>
        </p:txBody>
      </p:sp>
      <p:sp>
        <p:nvSpPr>
          <p:cNvPr id="13" name="Oval 12"/>
          <p:cNvSpPr/>
          <p:nvPr/>
        </p:nvSpPr>
        <p:spPr>
          <a:xfrm>
            <a:off x="786384" y="2551176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4128" y="2450592"/>
            <a:ext cx="1037844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700" b="0">
                <a:solidFill>
                  <a:srgbClr val="111827"/>
                </a:solidFill>
              </a:defRPr>
            </a:pPr>
            <a:r>
              <a:t>Async evaluation preserves latency but scores arrive later</a:t>
            </a:r>
          </a:p>
        </p:txBody>
      </p:sp>
      <p:sp>
        <p:nvSpPr>
          <p:cNvPr id="15" name="Oval 14"/>
          <p:cNvSpPr/>
          <p:nvPr/>
        </p:nvSpPr>
        <p:spPr>
          <a:xfrm>
            <a:off x="786384" y="3081528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" y="2980944"/>
            <a:ext cx="1037844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700" b="0">
                <a:solidFill>
                  <a:srgbClr val="111827"/>
                </a:solidFill>
              </a:defRPr>
            </a:pPr>
            <a:r>
              <a:t>LLM classifier is flexible but introduces uncertainty and model dependency</a:t>
            </a:r>
          </a:p>
        </p:txBody>
      </p:sp>
      <p:sp>
        <p:nvSpPr>
          <p:cNvPr id="17" name="Oval 16"/>
          <p:cNvSpPr/>
          <p:nvPr/>
        </p:nvSpPr>
        <p:spPr>
          <a:xfrm>
            <a:off x="786384" y="3611880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8" y="3511296"/>
            <a:ext cx="1037844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700" b="0">
                <a:solidFill>
                  <a:srgbClr val="111827"/>
                </a:solidFill>
              </a:defRPr>
            </a:pPr>
            <a:r>
              <a:t>LiteLLM adds a service but centralizes routing and observability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29260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"/>
            <a:ext cx="3044952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4952" y="292608"/>
            <a:ext cx="3044952" cy="54864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89904" y="292608"/>
            <a:ext cx="3044952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34856" y="292608"/>
            <a:ext cx="3044952" cy="54864"/>
          </a:xfrm>
          <a:prstGeom prst="rect">
            <a:avLst/>
          </a:prstGeom>
          <a:solidFill>
            <a:srgbClr val="DB2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10972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00" b="0">
                <a:solidFill>
                  <a:srgbClr val="4B5563"/>
                </a:solidFill>
              </a:defRPr>
            </a:pPr>
            <a:r>
              <a:t>Kubeflow Workspace Intelligence LLMOps - v4 - 18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3000" b="1">
                <a:solidFill>
                  <a:srgbClr val="111827"/>
                </a:solidFill>
              </a:defRPr>
            </a:pPr>
            <a:r>
              <a:t>Failure Cases and Mitigations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1490472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1389888"/>
            <a:ext cx="1037844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700" b="0">
                <a:solidFill>
                  <a:srgbClr val="111827"/>
                </a:solidFill>
              </a:defRPr>
            </a:pPr>
            <a:r>
              <a:t>Missing or stale indexes -&gt; health checks and admin sync endpoints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2020824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1920240"/>
            <a:ext cx="1037844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700" b="0">
                <a:solidFill>
                  <a:srgbClr val="111827"/>
                </a:solidFill>
              </a:defRPr>
            </a:pPr>
            <a:r>
              <a:t>Low retrieval recall -&gt; query rewriting, chunk overlap, and intent-specific stores</a:t>
            </a:r>
          </a:p>
        </p:txBody>
      </p:sp>
      <p:sp>
        <p:nvSpPr>
          <p:cNvPr id="13" name="Oval 12"/>
          <p:cNvSpPr/>
          <p:nvPr/>
        </p:nvSpPr>
        <p:spPr>
          <a:xfrm>
            <a:off x="786384" y="2551176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4128" y="2450592"/>
            <a:ext cx="1037844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700" b="0">
                <a:solidFill>
                  <a:srgbClr val="111827"/>
                </a:solidFill>
              </a:defRPr>
            </a:pPr>
            <a:r>
              <a:t>Hallucinated answers -&gt; OUT_OF_SCOPE guard, grounded prompts, faithfulness scoring</a:t>
            </a:r>
          </a:p>
        </p:txBody>
      </p:sp>
      <p:sp>
        <p:nvSpPr>
          <p:cNvPr id="15" name="Oval 14"/>
          <p:cNvSpPr/>
          <p:nvPr/>
        </p:nvSpPr>
        <p:spPr>
          <a:xfrm>
            <a:off x="786384" y="3081528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" y="2980944"/>
            <a:ext cx="1037844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700" b="0">
                <a:solidFill>
                  <a:srgbClr val="111827"/>
                </a:solidFill>
              </a:defRPr>
            </a:pPr>
            <a:r>
              <a:t>Ambiguous people queries -&gt; candidate resolution before semantic fallback</a:t>
            </a:r>
          </a:p>
        </p:txBody>
      </p:sp>
      <p:sp>
        <p:nvSpPr>
          <p:cNvPr id="17" name="Oval 16"/>
          <p:cNvSpPr/>
          <p:nvPr/>
        </p:nvSpPr>
        <p:spPr>
          <a:xfrm>
            <a:off x="786384" y="3611880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8" y="3511296"/>
            <a:ext cx="1037844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700" b="0">
                <a:solidFill>
                  <a:srgbClr val="111827"/>
                </a:solidFill>
              </a:defRPr>
            </a:pPr>
            <a:r>
              <a:t>Evaluation cost/latency -&gt; background RAGAS execution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29260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"/>
            <a:ext cx="3044952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4952" y="292608"/>
            <a:ext cx="3044952" cy="54864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89904" y="292608"/>
            <a:ext cx="3044952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34856" y="292608"/>
            <a:ext cx="3044952" cy="54864"/>
          </a:xfrm>
          <a:prstGeom prst="rect">
            <a:avLst/>
          </a:prstGeom>
          <a:solidFill>
            <a:srgbClr val="DB2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10972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00" b="0">
                <a:solidFill>
                  <a:srgbClr val="4B5563"/>
                </a:solidFill>
              </a:defRPr>
            </a:pPr>
            <a:r>
              <a:t>Kubeflow Workspace Intelligence LLMOps - v4 - 19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3000" b="1">
                <a:solidFill>
                  <a:srgbClr val="111827"/>
                </a:solidFill>
              </a:defRPr>
            </a:pPr>
            <a:r>
              <a:t>Production Readiness: Current State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1490472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1389888"/>
            <a:ext cx="1037844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0">
                <a:solidFill>
                  <a:srgbClr val="111827"/>
                </a:solidFill>
              </a:defRPr>
            </a:pPr>
            <a:r>
              <a:t>Implemented: full/incremental ingestion, indexing, assistant runtime, tracing, scoring, RAGAS, feedback, admin sync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2112264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2011680"/>
            <a:ext cx="1037844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0">
                <a:solidFill>
                  <a:srgbClr val="111827"/>
                </a:solidFill>
              </a:defRPr>
            </a:pPr>
            <a:r>
              <a:t>Observable request lifecycle: classify, rewrite, retrieve, generate, score</a:t>
            </a:r>
          </a:p>
        </p:txBody>
      </p:sp>
      <p:sp>
        <p:nvSpPr>
          <p:cNvPr id="13" name="Oval 12"/>
          <p:cNvSpPr/>
          <p:nvPr/>
        </p:nvSpPr>
        <p:spPr>
          <a:xfrm>
            <a:off x="786384" y="2734056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4128" y="2633472"/>
            <a:ext cx="1037844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0">
                <a:solidFill>
                  <a:srgbClr val="111827"/>
                </a:solidFill>
              </a:defRPr>
            </a:pPr>
            <a:r>
              <a:t>Operational controls exist, but identity, ACLs, alerting, and release gates still need hardening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29260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"/>
            <a:ext cx="3044952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4952" y="292608"/>
            <a:ext cx="3044952" cy="54864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89904" y="292608"/>
            <a:ext cx="3044952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34856" y="292608"/>
            <a:ext cx="3044952" cy="54864"/>
          </a:xfrm>
          <a:prstGeom prst="rect">
            <a:avLst/>
          </a:prstGeom>
          <a:solidFill>
            <a:srgbClr val="DB2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10972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00" b="0">
                <a:solidFill>
                  <a:srgbClr val="4B5563"/>
                </a:solidFill>
              </a:defRPr>
            </a:pPr>
            <a:r>
              <a:t>Kubeflow Workspace Intelligence LLMOps - v4 - 20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3000" b="1">
                <a:solidFill>
                  <a:srgbClr val="111827"/>
                </a:solidFill>
              </a:defRPr>
            </a:pPr>
            <a:r>
              <a:t>Production Readiness: Security and Governance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1490472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1389888"/>
            <a:ext cx="1037844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700" b="0">
                <a:solidFill>
                  <a:srgbClr val="111827"/>
                </a:solidFill>
              </a:defRPr>
            </a:pPr>
            <a:r>
              <a:t>Add authentication and propagate user identity from UI to FastAPI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2020824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1920240"/>
            <a:ext cx="1037844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700" b="0">
                <a:solidFill>
                  <a:srgbClr val="111827"/>
                </a:solidFill>
              </a:defRPr>
            </a:pPr>
            <a:r>
              <a:t>Apply workspace/user ACL filters before retrieval and before answer generation</a:t>
            </a:r>
          </a:p>
        </p:txBody>
      </p:sp>
      <p:sp>
        <p:nvSpPr>
          <p:cNvPr id="13" name="Oval 12"/>
          <p:cNvSpPr/>
          <p:nvPr/>
        </p:nvSpPr>
        <p:spPr>
          <a:xfrm>
            <a:off x="786384" y="2551176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4128" y="2450592"/>
            <a:ext cx="1037844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700" b="0">
                <a:solidFill>
                  <a:srgbClr val="111827"/>
                </a:solidFill>
              </a:defRPr>
            </a:pPr>
            <a:r>
              <a:t>Move secrets to a managed secret store and rotate LiteLLM/Langfuse keys</a:t>
            </a:r>
          </a:p>
        </p:txBody>
      </p:sp>
      <p:sp>
        <p:nvSpPr>
          <p:cNvPr id="15" name="Oval 14"/>
          <p:cNvSpPr/>
          <p:nvPr/>
        </p:nvSpPr>
        <p:spPr>
          <a:xfrm>
            <a:off x="786384" y="3081528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" y="2980944"/>
            <a:ext cx="1037844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700" b="0">
                <a:solidFill>
                  <a:srgbClr val="111827"/>
                </a:solidFill>
              </a:defRPr>
            </a:pPr>
            <a:r>
              <a:t>Add audit logs for admin syncs, data access, feedback, and prompt changes</a:t>
            </a:r>
          </a:p>
        </p:txBody>
      </p:sp>
      <p:sp>
        <p:nvSpPr>
          <p:cNvPr id="17" name="Oval 16"/>
          <p:cNvSpPr/>
          <p:nvPr/>
        </p:nvSpPr>
        <p:spPr>
          <a:xfrm>
            <a:off x="786384" y="3611880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8" y="3511296"/>
            <a:ext cx="1037844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700" b="0">
                <a:solidFill>
                  <a:srgbClr val="111827"/>
                </a:solidFill>
              </a:defRPr>
            </a:pPr>
            <a:r>
              <a:t>Introduce PII/sensitive-content checks for artifacts and trace payloads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29260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"/>
            <a:ext cx="3044952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4952" y="292608"/>
            <a:ext cx="3044952" cy="54864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89904" y="292608"/>
            <a:ext cx="3044952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34856" y="292608"/>
            <a:ext cx="3044952" cy="54864"/>
          </a:xfrm>
          <a:prstGeom prst="rect">
            <a:avLst/>
          </a:prstGeom>
          <a:solidFill>
            <a:srgbClr val="DB2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10972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00" b="0">
                <a:solidFill>
                  <a:srgbClr val="4B5563"/>
                </a:solidFill>
              </a:defRPr>
            </a:pPr>
            <a:r>
              <a:t>Kubeflow Workspace Intelligence LLMOps - v4 - 21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3000" b="1">
                <a:solidFill>
                  <a:srgbClr val="111827"/>
                </a:solidFill>
              </a:defRPr>
            </a:pPr>
            <a:r>
              <a:t>Production Readiness: Reliability and Quality Gates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1490472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1389888"/>
            <a:ext cx="1037844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700" b="0">
                <a:solidFill>
                  <a:srgbClr val="111827"/>
                </a:solidFill>
              </a:defRPr>
            </a:pPr>
            <a:r>
              <a:t>Move background RAGAS work to a queue-backed worker for retry and backpressure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2020824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1920240"/>
            <a:ext cx="1037844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700" b="0">
                <a:solidFill>
                  <a:srgbClr val="111827"/>
                </a:solidFill>
              </a:defRPr>
            </a:pPr>
            <a:r>
              <a:t>Create scheduled eval datasets for DOC_QA, ARTIFACT_SEARCH, USER_SEARCH, and HYBRID</a:t>
            </a:r>
          </a:p>
        </p:txBody>
      </p:sp>
      <p:sp>
        <p:nvSpPr>
          <p:cNvPr id="13" name="Oval 12"/>
          <p:cNvSpPr/>
          <p:nvPr/>
        </p:nvSpPr>
        <p:spPr>
          <a:xfrm>
            <a:off x="786384" y="2551176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4128" y="2450592"/>
            <a:ext cx="1037844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700" b="0">
                <a:solidFill>
                  <a:srgbClr val="111827"/>
                </a:solidFill>
              </a:defRPr>
            </a:pPr>
            <a:r>
              <a:t>Gate prompt/model/index changes on regression metrics before promotion</a:t>
            </a:r>
          </a:p>
        </p:txBody>
      </p:sp>
      <p:sp>
        <p:nvSpPr>
          <p:cNvPr id="15" name="Oval 14"/>
          <p:cNvSpPr/>
          <p:nvPr/>
        </p:nvSpPr>
        <p:spPr>
          <a:xfrm>
            <a:off x="786384" y="3081528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" y="2980944"/>
            <a:ext cx="1037844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700" b="0">
                <a:solidFill>
                  <a:srgbClr val="111827"/>
                </a:solidFill>
              </a:defRPr>
            </a:pPr>
            <a:r>
              <a:t>Add SLO dashboards for latency, error rate, index freshness, cost/query, and faithfulness</a:t>
            </a:r>
          </a:p>
        </p:txBody>
      </p:sp>
      <p:sp>
        <p:nvSpPr>
          <p:cNvPr id="17" name="Oval 16"/>
          <p:cNvSpPr/>
          <p:nvPr/>
        </p:nvSpPr>
        <p:spPr>
          <a:xfrm>
            <a:off x="786384" y="3611880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8" y="3511296"/>
            <a:ext cx="1037844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700" b="0">
                <a:solidFill>
                  <a:srgbClr val="111827"/>
                </a:solidFill>
              </a:defRPr>
            </a:pPr>
            <a:r>
              <a:t>Use canary releases for classifier prompts and generation prompts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29260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"/>
            <a:ext cx="3044952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4952" y="292608"/>
            <a:ext cx="3044952" cy="54864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89904" y="292608"/>
            <a:ext cx="3044952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34856" y="292608"/>
            <a:ext cx="3044952" cy="54864"/>
          </a:xfrm>
          <a:prstGeom prst="rect">
            <a:avLst/>
          </a:prstGeom>
          <a:solidFill>
            <a:srgbClr val="DB2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10972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00" b="0">
                <a:solidFill>
                  <a:srgbClr val="4B5563"/>
                </a:solidFill>
              </a:defRPr>
            </a:pPr>
            <a:r>
              <a:t>Kubeflow Workspace Intelligence LLMOps - v4 - 22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3000" b="1">
                <a:solidFill>
                  <a:srgbClr val="111827"/>
                </a:solidFill>
              </a:defRPr>
            </a:pPr>
            <a:r>
              <a:t>Production Readiness: Deployment and Operations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1490472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1389888"/>
            <a:ext cx="1037844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0">
                <a:solidFill>
                  <a:srgbClr val="111827"/>
                </a:solidFill>
              </a:defRPr>
            </a:pPr>
            <a:r>
              <a:t>Containerize FastAPI, Next.js, LiteLLM, Langfuse, and Milvus with environment-specific configs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2112264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2011680"/>
            <a:ext cx="1037844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0">
                <a:solidFill>
                  <a:srgbClr val="111827"/>
                </a:solidFill>
              </a:defRPr>
            </a:pPr>
            <a:r>
              <a:t>Run ingestion/indexing as scheduled jobs with idempotent full and incremental modes</a:t>
            </a:r>
          </a:p>
        </p:txBody>
      </p:sp>
      <p:sp>
        <p:nvSpPr>
          <p:cNvPr id="13" name="Oval 12"/>
          <p:cNvSpPr/>
          <p:nvPr/>
        </p:nvSpPr>
        <p:spPr>
          <a:xfrm>
            <a:off x="786384" y="2734056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4128" y="2633472"/>
            <a:ext cx="1037844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0">
                <a:solidFill>
                  <a:srgbClr val="111827"/>
                </a:solidFill>
              </a:defRPr>
            </a:pPr>
            <a:r>
              <a:t>Add CI for unit, integration, retrieval, and API contract tests</a:t>
            </a:r>
          </a:p>
        </p:txBody>
      </p:sp>
      <p:sp>
        <p:nvSpPr>
          <p:cNvPr id="15" name="Oval 14"/>
          <p:cNvSpPr/>
          <p:nvPr/>
        </p:nvSpPr>
        <p:spPr>
          <a:xfrm>
            <a:off x="786384" y="3355848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" y="3255264"/>
            <a:ext cx="1037844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0">
                <a:solidFill>
                  <a:srgbClr val="111827"/>
                </a:solidFill>
              </a:defRPr>
            </a:pPr>
            <a:r>
              <a:t>Define runbooks for stale indexes, failed LLM calls, high cost, and low evaluation scores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29260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"/>
            <a:ext cx="3044952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4952" y="292608"/>
            <a:ext cx="3044952" cy="54864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89904" y="292608"/>
            <a:ext cx="3044952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34856" y="292608"/>
            <a:ext cx="3044952" cy="54864"/>
          </a:xfrm>
          <a:prstGeom prst="rect">
            <a:avLst/>
          </a:prstGeom>
          <a:solidFill>
            <a:srgbClr val="DB2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10972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00" b="0">
                <a:solidFill>
                  <a:srgbClr val="4B5563"/>
                </a:solidFill>
              </a:defRPr>
            </a:pPr>
            <a:r>
              <a:t>Kubeflow Workspace Intelligence LLMOps - v4 - 23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3000" b="1">
                <a:solidFill>
                  <a:srgbClr val="111827"/>
                </a:solidFill>
              </a:defRPr>
            </a:pPr>
            <a:r>
              <a:t>Demo Walkthrough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1490472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1389888"/>
            <a:ext cx="1037844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0">
                <a:solidFill>
                  <a:srgbClr val="111827"/>
                </a:solidFill>
              </a:defRPr>
            </a:pPr>
            <a:r>
              <a:t>Show workspaces and a generated workspace/user profile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2112264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2011680"/>
            <a:ext cx="1037844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0">
                <a:solidFill>
                  <a:srgbClr val="111827"/>
                </a:solidFill>
              </a:defRPr>
            </a:pPr>
            <a:r>
              <a:t>Run semantic artifact search for an ML concept</a:t>
            </a:r>
          </a:p>
        </p:txBody>
      </p:sp>
      <p:sp>
        <p:nvSpPr>
          <p:cNvPr id="13" name="Oval 12"/>
          <p:cNvSpPr/>
          <p:nvPr/>
        </p:nvSpPr>
        <p:spPr>
          <a:xfrm>
            <a:off x="786384" y="2734056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4128" y="2633472"/>
            <a:ext cx="1037844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0">
                <a:solidFill>
                  <a:srgbClr val="111827"/>
                </a:solidFill>
              </a:defRPr>
            </a:pPr>
            <a:r>
              <a:t>Ask DOC_QA, ARTIFACT_SEARCH, and USER_SEARCH questions in the assistant</a:t>
            </a:r>
          </a:p>
        </p:txBody>
      </p:sp>
      <p:sp>
        <p:nvSpPr>
          <p:cNvPr id="15" name="Oval 14"/>
          <p:cNvSpPr/>
          <p:nvPr/>
        </p:nvSpPr>
        <p:spPr>
          <a:xfrm>
            <a:off x="786384" y="3355848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" y="3255264"/>
            <a:ext cx="1037844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0">
                <a:solidFill>
                  <a:srgbClr val="111827"/>
                </a:solidFill>
              </a:defRPr>
            </a:pPr>
            <a:r>
              <a:t>Open Langfuse trace and show classify, rewrite, generate, and score events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29260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"/>
            <a:ext cx="3044952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4952" y="292608"/>
            <a:ext cx="3044952" cy="54864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89904" y="292608"/>
            <a:ext cx="3044952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34856" y="292608"/>
            <a:ext cx="3044952" cy="54864"/>
          </a:xfrm>
          <a:prstGeom prst="rect">
            <a:avLst/>
          </a:prstGeom>
          <a:solidFill>
            <a:srgbClr val="DB2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10972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defRPr sz="900" b="0">
                <a:solidFill>
                  <a:srgbClr val="4B5563"/>
                </a:solidFill>
              </a:defRPr>
            </a:pPr>
            <a:r>
              <a:t>Kubeflow Workspace Intelligence LLMOps - v4 - 24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3000" b="1">
                <a:solidFill>
                  <a:srgbClr val="111827"/>
                </a:solidFill>
              </a:defRPr>
            </a:pPr>
            <a:r>
              <a:t>Close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1490472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1389888"/>
            <a:ext cx="1037844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0">
                <a:solidFill>
                  <a:srgbClr val="111827"/>
                </a:solidFill>
              </a:defRPr>
            </a:pPr>
            <a:r>
              <a:t>Turns workspace artifacts into a queryable intelligence layer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2112264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2011680"/>
            <a:ext cx="1037844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0">
                <a:solidFill>
                  <a:srgbClr val="111827"/>
                </a:solidFill>
              </a:defRPr>
            </a:pPr>
            <a:r>
              <a:t>Separates ingestion, retrieval, orchestration, observability, and evaluation</a:t>
            </a:r>
          </a:p>
        </p:txBody>
      </p:sp>
      <p:sp>
        <p:nvSpPr>
          <p:cNvPr id="13" name="Oval 12"/>
          <p:cNvSpPr/>
          <p:nvPr/>
        </p:nvSpPr>
        <p:spPr>
          <a:xfrm>
            <a:off x="786384" y="2734056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4128" y="2633472"/>
            <a:ext cx="1037844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0">
                <a:solidFill>
                  <a:srgbClr val="111827"/>
                </a:solidFill>
              </a:defRPr>
            </a:pPr>
            <a:r>
              <a:t>Built to explain failures, not just return answers</a:t>
            </a:r>
          </a:p>
        </p:txBody>
      </p:sp>
      <p:sp>
        <p:nvSpPr>
          <p:cNvPr id="15" name="Oval 14"/>
          <p:cNvSpPr/>
          <p:nvPr/>
        </p:nvSpPr>
        <p:spPr>
          <a:xfrm>
            <a:off x="786384" y="3355848"/>
            <a:ext cx="109728" cy="10972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" y="3255264"/>
            <a:ext cx="1037844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defRPr sz="1900" b="0">
                <a:solidFill>
                  <a:srgbClr val="111827"/>
                </a:solidFill>
              </a:defRPr>
            </a:pPr>
            <a:r>
              <a:t>Clear production path: security, quality gates, deployment automation, and operational runbooks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