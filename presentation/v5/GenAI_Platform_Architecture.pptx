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In-House GenAI Engineering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4A3B8"/>
                </a:solidFill>
              </a:rPr>
              <a:t>Architecture Design · Observability · Governance · RAG Reference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50+ Developers  ·  10+ Teams  ·  2× DGX A100  ·  LiteLLM  ·  Langfuse  ·  Milvus  ·  Kubeflow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8288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Platform Architecture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What we will cover in 30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457200" cy="1920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0759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 &amp;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Physical GPU servers, model catalog, NGINX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34440"/>
            <a:ext cx="457200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30759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Gateway &amp;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LiteLLM, Langfuse, automated tracing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3444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34440"/>
            <a:ext cx="457200" cy="1920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30759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&amp; MLOps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Milvus vector DB, Kubeflow, Airflow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429000"/>
            <a:ext cx="457200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50215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Flow Diagrams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023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LLM request, RAG query, ingestion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42900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429000"/>
            <a:ext cx="457200" cy="192024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50215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RAG End-to-End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023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Indexing · Query · Evaluation full 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429000"/>
            <a:ext cx="3749039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429000"/>
            <a:ext cx="457200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350215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Governance &amp;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023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Access, cost, data governance + 16-week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Platform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Scale, capability, and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657600" cy="1554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44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Developers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65760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44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3657600" cy="15544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44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A100 80GB GPUs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3657600" cy="15544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0815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1.28TB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38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Total VRAM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971800"/>
            <a:ext cx="3657600" cy="1554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0815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538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Deployed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971800"/>
            <a:ext cx="3657600" cy="1554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0815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538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K8s Clusters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27432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754880"/>
            <a:ext cx="274320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846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212080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Unified LLM access via LiteLLM with per-team API keys, budgets, and rate limits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754880"/>
            <a:ext cx="27432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4754880"/>
            <a:ext cx="274320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846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Auto-Tracing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5212080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Every LLM call traced in Langfuse automatically — zero developer instrumentation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754880"/>
            <a:ext cx="27432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754880"/>
            <a:ext cx="274320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846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RAG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5212080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Kubeflow pipeline templates + Airflow ingestion DAGs ready to fork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4754880"/>
            <a:ext cx="27432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0" y="4754880"/>
            <a:ext cx="274320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48463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5212080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PII scrubbing, model aliases, cost showback, RBAC across all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a Centralized GenAI Platform?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Problems we are solving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Shadow LLM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Teams calling external APIs directly — no visibility, no cost control, no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No Trace Lineage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Impossible to debug or improve RAG quality without end-to-end observability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Duplicated 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Every team rebuilding the same ingestion → embed → search → generate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97180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Cost Surprises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No per-team budgets → runaway LLM spend discovered at month 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70916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Model Coupling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Code tied to specific model versions → impossible to upgrade or A/B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54864" cy="16002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D7AA"/>
                </a:solidFill>
              </a:rPr>
              <a:t>No Eval Culture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No standardized evaluation → quality regressions go undetected in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00800"/>
            <a:ext cx="11612880" cy="10972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66534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76B900"/>
                </a:solidFill>
              </a:rPr>
              <a:t>&amp; Model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E7B7"/>
                </a:solidFill>
              </a:rPr>
              <a:t>Physical GPU servers · Model catalog · NGINX proxy · Kubernetes clusters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Physical GPU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2× NVIDIA DGX A100 · 16 GPUs · 1.28TB VRAM · NVLink mesh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6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Deployed Model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models registered in LiteLLM with OpenAI-compatible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188366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61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LiteLLM Alias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234440"/>
            <a:ext cx="215798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261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160934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234440"/>
            <a:ext cx="142646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Quantization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234440"/>
            <a:ext cx="87782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261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Replicas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234440"/>
            <a:ext cx="96926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VRAM/rep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234440"/>
            <a:ext cx="786384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261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600200"/>
            <a:ext cx="18836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162763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text-gen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1600200"/>
            <a:ext cx="21579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03704" y="162763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Llama 3.3 70B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1600200"/>
            <a:ext cx="160934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162763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88E5"/>
                </a:solidFill>
              </a:rPr>
              <a:t>Text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600200"/>
            <a:ext cx="14264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3" y="162763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8-bit AWQ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600200"/>
            <a:ext cx="87782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4" y="162763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1600200"/>
            <a:ext cx="9692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162763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~42GB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1600200"/>
            <a:ext cx="7863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1627632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128K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075688"/>
            <a:ext cx="18836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" y="210312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reasoning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2075688"/>
            <a:ext cx="21579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03704" y="21031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Qwen3 30B A3B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2075688"/>
            <a:ext cx="160934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8264" y="210312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</a:rPr>
              <a:t>Reasoning/CoT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075688"/>
            <a:ext cx="14264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44183" y="210312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BF16 MoE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2075688"/>
            <a:ext cx="87782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07224" y="210312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2075688"/>
            <a:ext cx="9692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21624" y="210312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~24GB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075688"/>
            <a:ext cx="7863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27464" y="2103120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32K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2551176"/>
            <a:ext cx="18836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" y="257860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embed-v1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48840" y="2551176"/>
            <a:ext cx="21579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03704" y="2578608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BGE-M3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2551176"/>
            <a:ext cx="160934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98264" y="257860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897B"/>
                </a:solidFill>
              </a:rPr>
              <a:t>Embedding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2551176"/>
            <a:ext cx="14264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44183" y="257860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FP32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2551176"/>
            <a:ext cx="87782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07224" y="257860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2551176"/>
            <a:ext cx="9692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21624" y="2578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~2.4GB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2551176"/>
            <a:ext cx="7863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27464" y="2578608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8K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3026664"/>
            <a:ext cx="18836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3054096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embed-v2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3026664"/>
            <a:ext cx="21579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03704" y="3054096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E5-Large-v2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43400" y="3026664"/>
            <a:ext cx="160934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98264" y="3054096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897B"/>
                </a:solidFill>
              </a:rPr>
              <a:t>Embedding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3026664"/>
            <a:ext cx="14264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44183" y="305409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FP32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3026664"/>
            <a:ext cx="87782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07224" y="305409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66760" y="3026664"/>
            <a:ext cx="9692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1624" y="3054096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~1.3GB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72600" y="3026664"/>
            <a:ext cx="7863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27464" y="3054096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512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3502152"/>
            <a:ext cx="18836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" y="3529584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embed-v3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48840" y="3502152"/>
            <a:ext cx="21579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03704" y="3529584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UAE-Large-V1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43400" y="3502152"/>
            <a:ext cx="160934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98264" y="3529584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897B"/>
                </a:solidFill>
              </a:rPr>
              <a:t>Embedding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320" y="3502152"/>
            <a:ext cx="14264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44183" y="352958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FP32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360" y="3502152"/>
            <a:ext cx="87782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07224" y="352958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66760" y="3502152"/>
            <a:ext cx="9692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21624" y="352958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~1.3GB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72600" y="3502152"/>
            <a:ext cx="7863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27464" y="3529584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512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3977639"/>
            <a:ext cx="18836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3464" y="400507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embed-v4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148840" y="3977639"/>
            <a:ext cx="21579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203704" y="400507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NV-Embed-v2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43400" y="3977639"/>
            <a:ext cx="160934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98264" y="400507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897B"/>
                </a:solidFill>
              </a:rPr>
              <a:t>Embedding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89320" y="3977639"/>
            <a:ext cx="14264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44183" y="400507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FP32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52360" y="3977639"/>
            <a:ext cx="87782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07224" y="400507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66760" y="3977639"/>
            <a:ext cx="96926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21624" y="400507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~7GB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72600" y="3977639"/>
            <a:ext cx="786384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27464" y="4005072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32K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8600" y="4453128"/>
            <a:ext cx="18836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3464" y="448056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embed-v5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48840" y="4453128"/>
            <a:ext cx="21579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03704" y="448056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GTE-Qwen2-7B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43400" y="4453128"/>
            <a:ext cx="160934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398264" y="448056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897B"/>
                </a:solidFill>
              </a:rPr>
              <a:t>Embedding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89320" y="4453128"/>
            <a:ext cx="14264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44183" y="44805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FP16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52360" y="4453128"/>
            <a:ext cx="87782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07224" y="448056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66760" y="4453128"/>
            <a:ext cx="96926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21624" y="448056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~14GB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372600" y="4453128"/>
            <a:ext cx="786384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27464" y="4480560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32K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8600" y="5212080"/>
            <a:ext cx="11704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5257800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•  All models served via vLLM / TGI / SGLang with OpenAI-compatible REST endpoints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60" y="559612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•  NGINX reverse proxy provides HTTPS termination — teams never call GPU servers directly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5760" y="5934456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•  LiteLLM routes traffic across replicas with automatic load balancing and failover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12E81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7C3AED"/>
                </a:solidFill>
              </a:rPr>
              <a:t>&amp;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4B5FD"/>
                </a:solidFill>
              </a:rPr>
              <a:t>LiteLLM · Langfuse · Automated tracing · LLM judge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LiteLLM — AI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Single entry point for all LLM calls across 50+ developers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12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Tenant Hierarchy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" y="1554480"/>
            <a:ext cx="11297412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" y="1600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0020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search-team  |  reco-team  |  nlp-team  |  finance-team 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59" y="2029967"/>
            <a:ext cx="111328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" y="2075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7568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doc-search-prod  |  doc-search-dev  |  chatbot-v2  |  qa-pipeline 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" y="2505456"/>
            <a:ext cx="10968228" cy="411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" y="2551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API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55117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Developer key  |  CI/CD service account  |  Budget + Rate limit + Model allowlist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3749039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355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749039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Routes to correct vLLM/TGI replica
Load balancing + failover chains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297679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text-gen → replica-1 → replica-2 → alert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24612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246120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355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Budget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749039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Hard block when $ cap exceeded
Soft alert at 80% → Slack/email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297679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Per-project monthly token budgets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24612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246120"/>
            <a:ext cx="3749039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355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749039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RPM / TPM limits per project
Prevents one team starving others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97679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Configurable per API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0060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800600"/>
            <a:ext cx="3749039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910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Aliases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Teams call "text-gen" not "llama-3.3-70b"
Admin swaps alias — zero app changes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852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Immutable API surface for developers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80060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4800600"/>
            <a:ext cx="3749039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4910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PII Hooks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Pre-call hook scrubs PII
before logging to Langfuse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5852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Regex + NER-based redaction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480060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4800600"/>
            <a:ext cx="3749039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7888" y="4910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Langfuse CB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Automatic trace for every LLM call
Tokens, cost, latency, errors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5852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eg: Zero developer instrumentation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Langfuse — Observability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Auto-tracing via LiteLLM callback · RAG spans · LLM judge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128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How Tracing Works — Zero Config for LLM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LiteLLM is configured server-side with a Langfuse callback. Every LLM call made with a team's API key is automatically traced — no Langfuse SDK import required in application code. Teams get full input/output traces, token usage, latency, and cost attribution out of the 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11612880" cy="2834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Trace Anatomy (one user turn)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113385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200400"/>
            <a:ext cx="11192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TRACE  ·  trace_id, session_id, user_id, project, timestamp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03320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SPAN: retrieval  ·  query, docs[], scores[], collection, top_k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160520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SPAN: rerank     ·  input_docs[], output_docs[], scores[]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4864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703320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GENERATION: llm_call  ·  prompt, completion, tokens, cost, latency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4160520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USER FEEDBACK  ·  thumbs_up / thumbs_down / custom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1133856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4663440"/>
            <a:ext cx="11192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SCORES (async LLM judge)  ·  faithfulness: 0.87  |  answer_relevance: 0.91  |  context_precision: 0.79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1288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4A19"/>
                </a:solidFill>
              </a:rPr>
              <a:t>LLM Judge Pipeline (Async · Airflow DAG · Qwen3 30B as evaluator)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533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After each RAG response: Airflow fetches trace → sends to Qwen3 judge with structured eval prompt → writes scores back to Langfuse Scores API → p50/p95 eval metrics aggregated on team dashboards → regression alerts if quality drops.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Five-layer platform overview — infrastructure to developer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11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34E4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Data &amp;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897B"/>
                </a:solidFill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F6E4"/>
                </a:solidFill>
              </a:rPr>
              <a:t>Milvus vector DB · Kubeflow pipelines · Apache Airflow · Namespace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Milvus — Distributed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K8s Cluster 2 · Team-namespaced collections · HNSW &amp; IVF indexes · RBAC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13232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Namespace Isolation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D3EE"/>
                </a:solidFill>
              </a:rPr>
              <a:t>team_&lt;slug&gt;_&lt;env&gt;_&lt;collection_name&gt;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6858000" cy="3200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search-team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0253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AE6FD"/>
                </a:solidFill>
              </a:rPr>
              <a:t>RBAC: isolated credentials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77439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team_search_prod_knowledge_base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9191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24911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team_search_dev_knowledge_base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26663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72383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team_search_prod_products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6858000" cy="3200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112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reco-team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112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AE6FD"/>
                </a:solidFill>
              </a:rPr>
              <a:t>RBAC: isolated credentials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86200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team_reco_prod_user_interactions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87952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33672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team_reco_dev_catalog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83479"/>
            <a:ext cx="6858000" cy="3200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20055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finance-team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020055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AE6FD"/>
                </a:solidFill>
              </a:rPr>
              <a:t>RBAC: isolated credentials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49240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394959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team_finance_prod_reports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96712"/>
            <a:ext cx="649224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42431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D3FC"/>
                </a:solidFill>
              </a:rPr>
              <a:t>team_finance_prod_policies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1188720"/>
            <a:ext cx="4480560" cy="2468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Index Configurations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1627632"/>
            <a:ext cx="44805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1627632"/>
            <a:ext cx="457200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8" y="165506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HNSW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18836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Dense semantic search
Best recall, higher mem
nlist=1024, ef=200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267712"/>
            <a:ext cx="44805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2267712"/>
            <a:ext cx="457200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22951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IVF_FLAT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25237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Large-scale retrieval
Lower mem, fast
nlist=4096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907791"/>
            <a:ext cx="44805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80960" y="2907791"/>
            <a:ext cx="45720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2168" y="29352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DISKANN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31638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Billion-scale vectors
Disk-based index
For very large corpora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794760"/>
            <a:ext cx="448056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Chunking Strategy by Doc Type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4224528"/>
            <a:ext cx="448056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42519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Dense Prose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251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512 tokens, 10% overlap, recursive char split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4773168"/>
            <a:ext cx="448056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18120" y="48006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Source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800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AST-based, function/class boundaries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5321808"/>
            <a:ext cx="448056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18120" y="53492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Tables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349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Row-level + header injection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5870448"/>
            <a:ext cx="448056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58978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Long Docs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Hierarchical: parent + child chunks
(parent doc retrieval pattern)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MLOps Platform — Kubeflow +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K8s Cluster 3 · Pipeline templates · Scheduled DAGs · Eval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760720" cy="347472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161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Kubeflow Pipelines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7607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54864" cy="1051560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73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</a:rPr>
              <a:t>RAG Eval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984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Trigger: PR merge / weekly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258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LLM judge scores → Langfuse datasets
Regression alert if p50 drops &gt;10%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57607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54864" cy="1051560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16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</a:rPr>
              <a:t>Fine-Tuning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127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Trigger: manual / data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Model artifact → internal registry
GPU: 4×A100, ~6h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57607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4864" cy="1051560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</a:rPr>
              <a:t>Dataset Curation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70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Trigger: Airflow → Kubeflow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Dedup + quality filter → Langfuse datasets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029200"/>
            <a:ext cx="57607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029200"/>
            <a:ext cx="54864" cy="1051560"/>
          </a:xfrm>
          <a:prstGeom prst="rect">
            <a:avLst/>
          </a:prstGeom>
          <a:solidFill>
            <a:srgbClr val="01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02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</a:rPr>
              <a:t>Embed Model 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413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Trigger: manual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687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Recall@k report across 5 embedding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216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Airflow DAGs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600200"/>
            <a:ext cx="55778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600200"/>
            <a:ext cx="54864" cy="10515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673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BAE6FD"/>
                </a:solidFill>
              </a:rPr>
              <a:t>ingestion_dag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984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@daily or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258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scrape → chunk → embed → upsert → log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743200"/>
            <a:ext cx="55778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2743200"/>
            <a:ext cx="54864" cy="10515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816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BAE6FD"/>
                </a:solidFill>
              </a:rPr>
              <a:t>eval_dag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127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@weekly + post-deploy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fetch traces → LLM judge → write scores → alert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886200"/>
            <a:ext cx="55778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886200"/>
            <a:ext cx="54864" cy="10515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BAE6FD"/>
                </a:solidFill>
              </a:rPr>
              <a:t>cost_report_dag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270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@weekly (Monday)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pull LiteLLM usage → aggregate → dashboard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029200"/>
            <a:ext cx="55778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5029200"/>
            <a:ext cx="54864" cy="10515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102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BAE6FD"/>
                </a:solidFill>
              </a:rPr>
              <a:t>index_health_dag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413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64A19"/>
                </a:solidFill>
              </a:rPr>
              <a:t>@hourly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687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check Milvus segment health → alert on drift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419088"/>
            <a:ext cx="1161288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37376"/>
            <a:ext cx="11430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Kubeflow for GPU-heavy ML workflows  ·  Airflow for data pipelines with complex scheduling dependencies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E3A8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88E5"/>
                </a:solidFill>
              </a:rPr>
              <a:t>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AE6FD"/>
                </a:solidFill>
              </a:rPr>
              <a:t>LLM request journey · RAG query pipeline · Document ingestion · Async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Flow: LLM Request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Developer app → LiteLLM → NGINX → vLLM → streaming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16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Flow: RAG Query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7-step pipeline with Langfuse tracing and async LLM judge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17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Flow: Document Ingestion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Airflow DAG — source docs → chunk → embed → Milvus upsert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18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Tenant Onboarding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New team onboarded in under 15 minutes via self-service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" y="139903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356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7160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Visit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87451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developer.genai.internal
Select "New Team Onboard"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47288" y="139903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4356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Create Org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187451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Team slug created in LiteLLM
eg: org=search-team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9088" y="139903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4356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87451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App/environment scope
eg: project=doc-search-prod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123444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90888" y="139903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4356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37160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Get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187451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LiteLLM key issued
+ budget + model allowlist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1188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5488" y="377647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8130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4904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Milvus 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251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team_search_prod_* namespace
+ RBAC credentials issued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361188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47288" y="377647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8" y="38130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374904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Kubeflow 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4251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K8s namespace + RBAC
+ GPU quota assigned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61188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19088" y="377647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38130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74904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SDK Install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251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pip install genai_platform
Includes LiteLLM + observe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611880"/>
            <a:ext cx="2834640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90888" y="3776472"/>
            <a:ext cx="347472" cy="34747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0888" y="38130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374904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First Trace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4251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Make first LLM call
Verify in Langfuse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419088"/>
            <a:ext cx="1161288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37376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Step 1-4: LiteLLM + Langfuse  ·  Step 5: Milvus  ·  Step 6: Kubeflow  ·  Step 7-8: Dev SDK  ·  Total time: &lt; 15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C2D12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RAG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4A19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ED7AA"/>
                </a:solidFill>
              </a:rPr>
              <a:t>Indexing · Query · Evaluation — complete reference stack with zero-config observability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RAG Architecture —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Indexing · Query · Evaluation pipelines with observability wired throughout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21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43000"/>
            <a:ext cx="11978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RAG: Indexing Pipeline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Airflow DAG triggered on data update · configurable chunking · batch embedding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22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074920"/>
            <a:ext cx="116128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4A19"/>
                </a:solidFill>
              </a:rPr>
              <a:t>Supported Source Connectors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Confluence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Wiki &amp; docs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1136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76856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SharePoint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856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Enterprise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Structured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Web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4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S3 / GCS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File uploads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5486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57972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Code + READMEs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RAG: Query Pipeline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7 numbered steps with latency targets and Langfuse span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23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074920"/>
            <a:ext cx="1161288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Latency Budget (p50 targets)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5458968"/>
            <a:ext cx="18288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Query Rewrite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~80ms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optional, Llama 3.3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1136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31136" y="5458968"/>
            <a:ext cx="18288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Embed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~15ms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single vector, batch 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87952" y="5458968"/>
            <a:ext cx="18288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Vector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~10ms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HNSW index, top_k=20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5458968"/>
            <a:ext cx="18288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Re-rank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~120ms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cross-encoder, top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1584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1584" y="5458968"/>
            <a:ext cx="18288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LLM 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~800ms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streaming, first token ~200ms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5458968"/>
            <a:ext cx="1828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58400" y="5458968"/>
            <a:ext cx="18288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31552" y="555040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2E8F0"/>
                </a:solidFill>
              </a:rPr>
              <a:t>Total (typical)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1552" y="58430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4A19"/>
                </a:solidFill>
              </a:rPr>
              <a:t>~200ms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1552" y="609904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</a:rPr>
              <a:t>w/o rewrite; ~280ms with rewrite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RAG: LLM Judge Evaluation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Qwen3 30B as async evaluator · 3 eval dimensions · scores in Langfuse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749039" cy="38404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Faithfulness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0992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Does the answer follow only from the retrieved context?
No hallucinations beyond what the docs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07208"/>
            <a:ext cx="35661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62072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Input: context + answer
Output: score 0-1 + explanation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234440"/>
            <a:ext cx="3749039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234440"/>
            <a:ext cx="3749039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29844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Answer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70992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Does the answer actually address what the user asked?
Not just topically related — directly responsive.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807208"/>
            <a:ext cx="35661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862072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Input: question + answer
Output: score 0-1 + explanation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34440"/>
            <a:ext cx="3749039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234440"/>
            <a:ext cx="3749039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29844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Context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70992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Were the retrieved chunks actually relevant and used?
Penalizes irrelevant context pollution.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807208"/>
            <a:ext cx="356616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862072"/>
            <a:ext cx="3383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Input: question + context chunks
Output: score 0-1 per chunk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97680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43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CD34D"/>
                </a:solidFill>
              </a:rPr>
              <a:t>Evaluator Model: Qwen3 30B A3B (MoE — only ~3B active params → low inference cost)  ·  Async via Airflow  ·  Scores written to Langfuse Scores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92040"/>
            <a:ext cx="1161288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Example Eval Output (one trace)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1143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86EFAC"/>
                </a:solidFill>
              </a:rPr>
              <a:t>{
  "trace_id": "tr_a1b2c3d4",
  "scores": {
    "faithfulness":       { "value": 0.87, "comment": "Answer supported by chunk 1 and 3; minor extrapolation in sentence 2" },
    "answer_relevance":   { "value": 0.91, "comment": "Directly addresses question about pricing tiers" },
    "context_precision":  { "value": 0.79, "comment": "Chunk 4 (unrelated FAQ) retrieved but not used — reduce top_k" }
  }
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Internal SDK — genai_platform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Thin wrapper: retrieval spans for Langfuse + LiteLLM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132320" cy="5212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</a:rPr>
              <a:t>What the SDK provides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72768"/>
            <a:ext cx="70408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0" i="0">
                <a:solidFill>
                  <a:srgbClr val="86EFAC"/>
                </a:solidFill>
              </a:rPr>
              <a:t># pip install genai_platform
from genai_platform.observe import trace_rag_retrieval
from genai_platform.client import get_llm_client
# LiteLLM client pre-configured with team's API key
client = get_llm_client()       # reads GENAI_API_KEY env var
# Wrap retrieval in a Langfuse span
with trace_rag_retrieval(session_id="sess-001") as span:
    query_vec = client.embed("embed-v1", user_query)
    docs = milvus.search(
        collection="team_search_prod_kb",
        vectors=query_vec, top_k=10
    )
    span.log(
        query=user_query,
        results=docs,       # ids + scores + payloads
        collection="team_search_prod_kb",
    )
# LiteLLM adds generation span automatically
response = client.chat(
    model="text-gen",       # alias, never changes
    messages=build_prompt(docs, user_query),
    trace_id=span.trace_id  # stitches spans together
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188720"/>
            <a:ext cx="4297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234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</a:rPr>
              <a:t>SDK Responsibilities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572768"/>
            <a:ext cx="42976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600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+ Create Langfuse trace + retrieval span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956816"/>
            <a:ext cx="42976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984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+ Log query, docs, scores to span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340864"/>
            <a:ext cx="42976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+ Pass trace_id to LiteLLM 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724912"/>
            <a:ext cx="42976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7523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+ LiteLLM adds generation span (auto)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108960"/>
            <a:ext cx="42976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1363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+ Scores added async by eval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703320"/>
            <a:ext cx="42976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74903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4A19"/>
                </a:solidFill>
              </a:rPr>
              <a:t>What teams DON'T need to 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096512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12394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Import Langfuse SDK directly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4453128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48055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Configure Langfuse credentials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4809744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8371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Handle LLM auth or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166360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5193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Implement cost tracking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5522976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5550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Build evaluation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5879592"/>
            <a:ext cx="42976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59070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</a:rPr>
              <a:t>- Manage model versions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Observability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Five layers from GPU metrics to LLM eval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26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F1D1D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CA5A5"/>
                </a:solidFill>
              </a:rPr>
              <a:t>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CA5A5"/>
                </a:solidFill>
              </a:rPr>
              <a:t>Access control · Cost governance · Data policies · Model lifecycle · 16-week delivery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Governance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Access control · Cost &amp; budget · Data governance · Model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28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Access Control — RBAC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Role-based access across all platform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1965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261872"/>
            <a:ext cx="1901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234440"/>
            <a:ext cx="18745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144" y="1261872"/>
            <a:ext cx="18105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LiteLLM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18745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261872"/>
            <a:ext cx="18105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34440"/>
            <a:ext cx="1691639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1261872"/>
            <a:ext cx="162763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Milvus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234440"/>
            <a:ext cx="1691639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2984" y="1261872"/>
            <a:ext cx="162763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Kubeflow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234440"/>
            <a:ext cx="17830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2618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DGX/GPU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664208"/>
            <a:ext cx="1965960" cy="5120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1700784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1664208"/>
            <a:ext cx="18745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5144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Read own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664208"/>
            <a:ext cx="18745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5384" y="17007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Read own project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664208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5624" y="1700784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Own namespace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1664208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2984" y="1700784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Own namespace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1664208"/>
            <a:ext cx="1783080" cy="5120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17007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231136"/>
            <a:ext cx="1965960" cy="5120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" y="2267712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231136"/>
            <a:ext cx="18745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95144" y="22677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Read org-wide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2231136"/>
            <a:ext cx="18745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5384" y="226771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Read org-wide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231136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2267712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Own namespace + creds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231136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72984" y="2267712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Manage team 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5480" y="2231136"/>
            <a:ext cx="1783080" cy="5120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10344" y="2267712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None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2798064"/>
            <a:ext cx="196596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" y="2834640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Platform 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798064"/>
            <a:ext cx="18745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5144" y="283464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Full edit + config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2798064"/>
            <a:ext cx="18745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4" y="283464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Full edit + config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2798064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2834640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All namespaces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2798064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4" y="2834640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All namespaces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2798064"/>
            <a:ext cx="178308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10344" y="2834640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</a:rPr>
              <a:t>Break-glass SSH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364991"/>
            <a:ext cx="1965960" cy="5120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" y="340156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CI/CD SA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3364991"/>
            <a:ext cx="18745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95144" y="340156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Create API keys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3364991"/>
            <a:ext cx="1874520" cy="5120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15384" y="3401568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No access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3364991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3401568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Own namespace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364991"/>
            <a:ext cx="1691639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72984" y="3401568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Deploy workloads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55480" y="3364991"/>
            <a:ext cx="1783080" cy="5120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10344" y="3401568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None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069080"/>
            <a:ext cx="117500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4096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Access Tiers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4462272"/>
            <a:ext cx="117500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4462272"/>
            <a:ext cx="164592" cy="5303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44897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— All Teams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66160" y="44897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</a:rPr>
              <a:t>embed-*, text-gen (Llama 3.3)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448970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No approval needed — default allocation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654296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→ No approval needed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5056632"/>
            <a:ext cx="117500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8600" y="5056632"/>
            <a:ext cx="164592" cy="530352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08406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2 — Approved Teams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66160" y="50840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</a:rPr>
              <a:t>reasoning (Qwen3 30B)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0" y="508406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Business justification + admin approval required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5248656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→ Business justification + admin approval required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5650992"/>
            <a:ext cx="117500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8600" y="5650992"/>
            <a:ext cx="16459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6784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3 — Platform Admin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6160" y="56784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</a:rPr>
              <a:t>Direct NGINX endpoints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63840" y="567842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Break-glass debugging only, fully audited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5843016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→ Break-glass debugging only, fully audited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Cost &amp; Budget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Per-team budgets, hard limits, automated showback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1288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4A19"/>
                </a:solidFill>
              </a:rPr>
              <a:t>Budget Enforcement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72768"/>
            <a:ext cx="178308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API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Team calls LiteLLM
with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377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7712" y="1572768"/>
            <a:ext cx="1783080" cy="320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864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Check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Current spend vs
project hard 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2377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4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9664" y="1572768"/>
            <a:ext cx="178308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Hard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2816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Request rejected
if cap exceeded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2377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71616" y="1572768"/>
            <a:ext cx="1783080" cy="32004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Soft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Slack/email at
80%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4696" y="2377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1572768"/>
            <a:ext cx="178308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Log &amp;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Token usage logged
to Langfuse +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2377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572768"/>
            <a:ext cx="178308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75520" y="1572768"/>
            <a:ext cx="178308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48672" y="16184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Weekly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8672" y="1984248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Airflow DAG
aggregates spend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611880"/>
            <a:ext cx="557784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4A19"/>
                </a:solidFill>
              </a:rPr>
              <a:t>LiteLLM Budget Config (per project)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977639"/>
            <a:ext cx="5394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6EFAC"/>
                </a:solidFill>
              </a:rPr>
              <a:t>litellm_settings:
  default_team_settings:
    max_budget: 500          # USD/month
    soft_budget: 400         # 80% alert
    max_parallel_requests: 20
    tpm_limit: 100000
    rpm_limit: 200
team_overrides:
  team_finance:              # sensitive, lower limit
    max_budget: 200
  team_search:               # high-traffic team
    max_budget: 1000
    rpm_limit: 500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611880"/>
            <a:ext cx="59436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657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4A19"/>
                </a:solidFill>
              </a:rPr>
              <a:t>Weekly Showback Report (Airflow DAG)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005072"/>
            <a:ext cx="5943600" cy="31089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03250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403250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13064" y="403250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Requests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3496" y="403250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53928" y="403250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Cost USD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352544"/>
            <a:ext cx="59436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3799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search-team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1" y="43799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text-gen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3799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12,450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83496" y="43799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8.2M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43799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$82.00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4700016"/>
            <a:ext cx="59436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47274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search-team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2631" y="47274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embed-v1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3064" y="47274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45,000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3496" y="47274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18.5M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53928" y="47274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$9.25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5047488"/>
            <a:ext cx="59436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507492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reco-team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2631" y="507492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text-gen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13064" y="507492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3,200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83496" y="507492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2.1M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3928" y="507492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$21.00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5394960"/>
            <a:ext cx="59436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72200" y="5422392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finance-team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5422392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reasoning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13064" y="5422392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890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83496" y="5422392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1.4M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5422392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BD5E1"/>
                </a:solidFill>
              </a:rPr>
              <a:t>$28.00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5742431"/>
            <a:ext cx="5943600" cy="3108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72200" y="576986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TOTAL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42631" y="576986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13064" y="576986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61,540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83496" y="576986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30.2M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53928" y="5769864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$140.25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&amp; Model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PII scrubbing · Milvus RBAC · Model aliases · Promotion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7607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73152" cy="23774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Data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1907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Milvus namespace: team_&lt;slug&gt;_&lt;env&gt;_&lt;collection&gt;
Cross-team reads require admin approval + read-only creds
No team can delete another team's collection
Retention policy: 90 days for non-prod, indefinite for prod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57607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73152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587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PII Scrubbing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7939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Pre-call hook in LiteLLM before logging to Langfuse
Regex + NER-based entity detection
Configurable per org (finance = stricter rules)
Redacted as [REDACTED:&lt;entity_type&gt;]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669280" cy="5074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801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4A19"/>
                </a:solidFill>
              </a:rPr>
              <a:t>Model Alias Promotion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645920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1691640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0992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16824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Admin deploys new model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New replica on DGX, new internal endpoint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359152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2404872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3957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Point staging alias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2633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text-gen-staging → new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72384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118104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3639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10896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Run eval benchmark (Kubeflow)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3467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Must pass: faithfulness p50 &gt; 0.80
no regression vs text-gen-prev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785615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831335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84962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38221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2-week team 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405993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Teams notified: alias re-pointing in 14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498848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544568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6285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5354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Admin updates live alias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773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text-gen → new model (zero app changes for teams)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212080"/>
            <a:ext cx="56692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5257800"/>
            <a:ext cx="274320" cy="27432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7608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52486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D7AA"/>
                </a:solidFill>
              </a:rPr>
              <a:t>Old alias preserved 30 days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text-gen-prev → old model for rollback window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Architectural choices and their rationale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64008" cy="1207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89304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LiteLLM as sole LLM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1848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Single choke point for cost, rate limits, auth,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Teams cannot route around governance; all spend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64008" cy="1207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89304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Langfuse via callback, not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1848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LiteLLM callback = zero instrumentation for LLM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RAG spans need thin wrapper only; not two SDKs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560320"/>
            <a:ext cx="64008" cy="1207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15184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Model aliases not model 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4436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Teams call "text-gen" not "llama-3.3-70b"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Admin can upgrade model with zero app code changes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56032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60320"/>
            <a:ext cx="64008" cy="1207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15184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Qwen3 30B as LLM 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4436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MoE: only ~3B active params → cheap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Smart enough for structured eval; ~10× cheaper than dense 30B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8620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86200"/>
            <a:ext cx="64008" cy="1207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41063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Async eval, not inline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702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Sync eval adds 2-5s per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Run out-of-band; score p50/p95 trends over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86200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886200"/>
            <a:ext cx="64008" cy="1207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41063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Milvus namespace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7024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Not separate clusters per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720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Cost-efficient; RBAC handles multi-tenancy; operationally feasible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12079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212079"/>
            <a:ext cx="64008" cy="1207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66943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Airflow + Kubeflow split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596127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Airflow for data pipelines; Kubeflow for GPU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97879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Each tool in its strength zone; shared K8s Cluster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212079"/>
            <a:ext cx="566928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5212079"/>
            <a:ext cx="64008" cy="1207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66943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Dev/prod key separation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596127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Dev keys → lower priority replicas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897879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Impact: Prod workloads have reserved capacity; dev cannot starve prod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Platform Delivery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16 weeks · 4 phases · 50+ developers productive from Week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33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Developer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Onboard to production in hours, not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34 / 34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300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Success Metrics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How we measure platform health and developer productivity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2377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66928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9844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Platform 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373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Teams onboarded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97510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≥ 10 teams by Week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13432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Active API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5786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&gt; 80 keys in use by Week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16936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443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LLM calls/day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18211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A5FA"/>
                </a:solidFill>
              </a:rPr>
              <a:t>&gt; 10,000 by Week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234440"/>
            <a:ext cx="5669280" cy="2377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566928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29844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1709928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7373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Trace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7510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DE80"/>
                </a:solidFill>
              </a:rPr>
              <a:t>100% of LLM calls traced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2313432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RAG span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5786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DE80"/>
                </a:solidFill>
              </a:rPr>
              <a:t>&gt; 80% of RAG pipelines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2916936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9443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Eval score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18211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DE80"/>
                </a:solidFill>
              </a:rPr>
              <a:t>p50/p95 for all prod apps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5669280" cy="2377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56692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58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70248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297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RAG faithfulness p50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5354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78BFA"/>
                </a:solidFill>
              </a:rPr>
              <a:t>&gt; 0.80 across all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873752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9011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Answer relevance p50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1389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78BFA"/>
                </a:solidFill>
              </a:rPr>
              <a:t>&gt; 0.75 across all teams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77256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5046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Regression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74243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78BFA"/>
                </a:solidFill>
              </a:rPr>
              <a:t>&lt; 48h to detect quality drop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94760"/>
            <a:ext cx="5669280" cy="2377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794760"/>
            <a:ext cx="5669280" cy="38404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858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Cost Governance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59" y="4270248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4297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Budget overruns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45354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B923C"/>
                </a:solidFill>
              </a:rPr>
              <a:t>Zero budget surprises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59" y="4873752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9011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Cost attribution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51389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B923C"/>
                </a:solidFill>
              </a:rPr>
              <a:t>100% spend allocated to team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59" y="5477256"/>
            <a:ext cx="5440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55046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Cost/query trend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574243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B923C"/>
                </a:solidFill>
              </a:rPr>
              <a:t>Decreasing over model upgrades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88E5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41148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6400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1071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2× DGX A100 (16 GPUs)  →  NGINX  →  LiteLLM  →  Langfuse  →  Milvus  →  Kubeflow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50208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50208"/>
            <a:ext cx="6400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977639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Unified AI gateway: every LLM call governed, traced, and cost-attributed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17136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17136"/>
            <a:ext cx="6400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544568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RAG reference stack: Airflow ingest + Kubeflow eval + LLM judge scores in Langfuse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84064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084064"/>
            <a:ext cx="6400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11149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16-week delivery roadmap: Phase 1 (infra) → Phase 2 (RAG) → Phase 3 (portal) → Phase 4 (governance)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42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Platform Architecture Review  ·  May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GenAI Engineering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