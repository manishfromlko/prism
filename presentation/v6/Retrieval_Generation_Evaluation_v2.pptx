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3047238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6748272"/>
            <a:ext cx="3047238" cy="10972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6748272"/>
            <a:ext cx="3047238" cy="109728"/>
          </a:xfrm>
          <a:prstGeom prst="rect">
            <a:avLst/>
          </a:prstGeom>
          <a:solidFill>
            <a:srgbClr val="B46400"/>
          </a:solidFill>
          <a:ln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6748272"/>
            <a:ext cx="3047238" cy="109728"/>
          </a:xfrm>
          <a:prstGeom prst="rect">
            <a:avLst/>
          </a:prstGeom>
          <a:solidFill>
            <a:srgbClr val="BE185D"/>
          </a:solidFill>
          <a:ln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430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</a:defRPr>
            </a:pPr>
            <a:r>
              <a:t>Kubeflow Workspace Intelligence  ·  LLMOps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"/>
            <a:ext cx="117043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 i="0">
                <a:solidFill>
                  <a:srgbClr val="111827"/>
                </a:solidFill>
              </a:defRPr>
            </a:pPr>
            <a:r>
              <a:t>Retrieval  –  Step 1: Intent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566928"/>
            <a:ext cx="11612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</a:defRPr>
            </a:pPr>
            <a:r>
              <a:t>Every query is routed by an LLM before any vector search happens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896112"/>
            <a:ext cx="5029200" cy="658368"/>
          </a:xfrm>
          <a:prstGeom prst="rect">
            <a:avLst/>
          </a:prstGeom>
          <a:solidFill>
            <a:srgbClr val="FAFAFC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969264"/>
            <a:ext cx="48463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000" b="1" i="0">
                <a:solidFill>
                  <a:srgbClr val="64748B"/>
                </a:solidFill>
              </a:defRPr>
            </a:pPr>
            <a:r>
              <a:t>User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170432"/>
            <a:ext cx="4846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11827"/>
                </a:solidFill>
              </a:defRPr>
            </a:pPr>
            <a:r>
              <a:t>"How do I submit a Spark job?"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1554480"/>
            <a:ext cx="0" cy="256032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280160" y="1810512"/>
            <a:ext cx="9601200" cy="1609344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1883664"/>
            <a:ext cx="45720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1" i="0">
                <a:solidFill>
                  <a:srgbClr val="2563EB"/>
                </a:solidFill>
              </a:defRPr>
            </a:pPr>
            <a:r>
              <a:t>Intent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39696"/>
            <a:ext cx="43891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LLM call  ·  gpt-4o-mini  ·  temperature = 0.0</a:t>
            </a:r>
          </a:p>
        </p:txBody>
      </p:sp>
      <p:sp>
        <p:nvSpPr>
          <p:cNvPr id="16" name="Oval 15"/>
          <p:cNvSpPr/>
          <p:nvPr/>
        </p:nvSpPr>
        <p:spPr>
          <a:xfrm>
            <a:off x="1499616" y="244144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2377440"/>
            <a:ext cx="380390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System prompt defines 5 intent categories</a:t>
            </a:r>
          </a:p>
        </p:txBody>
      </p:sp>
      <p:sp>
        <p:nvSpPr>
          <p:cNvPr id="18" name="Oval 17"/>
          <p:cNvSpPr/>
          <p:nvPr/>
        </p:nvSpPr>
        <p:spPr>
          <a:xfrm>
            <a:off x="1499616" y="2679192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2615184"/>
            <a:ext cx="380390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Returns JSON: { intent, confidence, reasoning }</a:t>
            </a:r>
          </a:p>
        </p:txBody>
      </p:sp>
      <p:sp>
        <p:nvSpPr>
          <p:cNvPr id="20" name="Oval 19"/>
          <p:cNvSpPr/>
          <p:nvPr/>
        </p:nvSpPr>
        <p:spPr>
          <a:xfrm>
            <a:off x="1499616" y="2916936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2852928"/>
            <a:ext cx="380390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Falls back to DOC_QA on parse failure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1920240"/>
            <a:ext cx="3749039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1975104"/>
            <a:ext cx="3566160" cy="1243584"/>
          </a:xfrm>
          <a:prstGeom prst="rect">
            <a:avLst/>
          </a:prstGeom>
          <a:noFill/>
        </p:spPr>
        <p:txBody>
          <a:bodyPr wrap="square" rIns="54864" tIns="73152" bIns="54864" anchor="t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64748B"/>
                </a:solidFill>
              </a:defRPr>
            </a:pPr>
            <a:r>
              <a:t>Returns: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111827"/>
                </a:solidFill>
              </a:defRPr>
            </a:pPr>
            <a:r>
              <a:t>  "intent":     "DOC_QA"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111827"/>
                </a:solidFill>
              </a:defRPr>
            </a:pPr>
            <a:r>
              <a:t>  "confidence": 0.92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111827"/>
                </a:solidFill>
              </a:defRPr>
            </a:pPr>
            <a:r>
              <a:t>  "reasoning":  "asks about platform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111827"/>
                </a:solidFill>
              </a:defRPr>
            </a:pPr>
            <a:r>
              <a:t>                 procedure"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3419856"/>
            <a:ext cx="0" cy="237744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1792" y="3657600"/>
            <a:ext cx="2084831" cy="24688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730752"/>
            <a:ext cx="188366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 i="0">
                <a:solidFill>
                  <a:srgbClr val="2563EB"/>
                </a:solidFill>
              </a:defRPr>
            </a:pPr>
            <a:r>
              <a:t>DOC_QA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4023360"/>
            <a:ext cx="1901952" cy="18288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9808" y="417880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114800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Platform how-to guides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4416552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352544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Concepts &amp; procedures</a:t>
            </a:r>
          </a:p>
        </p:txBody>
      </p:sp>
      <p:sp>
        <p:nvSpPr>
          <p:cNvPr id="32" name="Oval 31"/>
          <p:cNvSpPr/>
          <p:nvPr/>
        </p:nvSpPr>
        <p:spPr>
          <a:xfrm>
            <a:off x="749808" y="4654296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590288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Onboarding steps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34640" y="3657600"/>
            <a:ext cx="2084831" cy="246888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44368" y="3730752"/>
            <a:ext cx="188366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 i="0">
                <a:solidFill>
                  <a:srgbClr val="16A34A"/>
                </a:solidFill>
              </a:defRPr>
            </a:pPr>
            <a:r>
              <a:t>ARTIFACT_SEARCH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4023360"/>
            <a:ext cx="1901952" cy="18288"/>
          </a:xfrm>
          <a:prstGeom prst="rect">
            <a:avLst/>
          </a:prstGeom>
          <a:solidFill>
            <a:srgbClr val="16A34A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962656" y="4178808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4114800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Find notebooks / scripts</a:t>
            </a:r>
          </a:p>
        </p:txBody>
      </p:sp>
      <p:sp>
        <p:nvSpPr>
          <p:cNvPr id="39" name="Oval 38"/>
          <p:cNvSpPr/>
          <p:nvPr/>
        </p:nvSpPr>
        <p:spPr>
          <a:xfrm>
            <a:off x="2962656" y="4416552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4352544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Code examples by tech</a:t>
            </a:r>
          </a:p>
        </p:txBody>
      </p:sp>
      <p:sp>
        <p:nvSpPr>
          <p:cNvPr id="41" name="Oval 40"/>
          <p:cNvSpPr/>
          <p:nvPr/>
        </p:nvSpPr>
        <p:spPr>
          <a:xfrm>
            <a:off x="2962656" y="4654296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4590288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Task-based search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47488" y="3657600"/>
            <a:ext cx="2084831" cy="24688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905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57216" y="3730752"/>
            <a:ext cx="188366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 i="0">
                <a:solidFill>
                  <a:srgbClr val="B46400"/>
                </a:solidFill>
              </a:defRPr>
            </a:pPr>
            <a:r>
              <a:t>USER_SEARCH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38927" y="4023360"/>
            <a:ext cx="1901952" cy="18288"/>
          </a:xfrm>
          <a:prstGeom prst="rect">
            <a:avLst/>
          </a:prstGeom>
          <a:solidFill>
            <a:srgbClr val="B46400"/>
          </a:solidFill>
          <a:ln w="635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175503" y="4178808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21807" y="4114800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Find people by name</a:t>
            </a:r>
          </a:p>
        </p:txBody>
      </p:sp>
      <p:sp>
        <p:nvSpPr>
          <p:cNvPr id="48" name="Oval 47"/>
          <p:cNvSpPr/>
          <p:nvPr/>
        </p:nvSpPr>
        <p:spPr>
          <a:xfrm>
            <a:off x="5175503" y="4416552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21807" y="4352544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Expertise / skill lookup</a:t>
            </a:r>
          </a:p>
        </p:txBody>
      </p:sp>
      <p:sp>
        <p:nvSpPr>
          <p:cNvPr id="50" name="Oval 49"/>
          <p:cNvSpPr/>
          <p:nvPr/>
        </p:nvSpPr>
        <p:spPr>
          <a:xfrm>
            <a:off x="5175503" y="4654296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21807" y="4590288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Who works on what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60336" y="3657600"/>
            <a:ext cx="2084831" cy="246888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0064" y="3730752"/>
            <a:ext cx="188366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 i="0">
                <a:solidFill>
                  <a:srgbClr val="6D28D9"/>
                </a:solidFill>
              </a:defRPr>
            </a:pPr>
            <a:r>
              <a:t>HYBRID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51776" y="4023360"/>
            <a:ext cx="1901952" cy="1828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88352" y="4178808"/>
            <a:ext cx="82296" cy="8229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34656" y="4114800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Query spans 2+ intents</a:t>
            </a:r>
          </a:p>
        </p:txBody>
      </p:sp>
      <p:sp>
        <p:nvSpPr>
          <p:cNvPr id="57" name="Oval 56"/>
          <p:cNvSpPr/>
          <p:nvPr/>
        </p:nvSpPr>
        <p:spPr>
          <a:xfrm>
            <a:off x="7388352" y="4416552"/>
            <a:ext cx="82296" cy="8229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34656" y="4352544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All 3 retrievers used</a:t>
            </a:r>
          </a:p>
        </p:txBody>
      </p:sp>
      <p:sp>
        <p:nvSpPr>
          <p:cNvPr id="59" name="Oval 58"/>
          <p:cNvSpPr/>
          <p:nvPr/>
        </p:nvSpPr>
        <p:spPr>
          <a:xfrm>
            <a:off x="7388352" y="4654296"/>
            <a:ext cx="82296" cy="8229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34656" y="4590288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top-3 from each store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73184" y="3657600"/>
            <a:ext cx="2084831" cy="246888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82911" y="3730752"/>
            <a:ext cx="188366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 i="0">
                <a:solidFill>
                  <a:srgbClr val="B91C1C"/>
                </a:solidFill>
              </a:defRPr>
            </a:pPr>
            <a:r>
              <a:t>OUT_OF_SCOPE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64624" y="4023360"/>
            <a:ext cx="1901952" cy="18288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601199" y="4178808"/>
            <a:ext cx="82296" cy="8229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47503" y="4114800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Weather, stocks, news</a:t>
            </a:r>
          </a:p>
        </p:txBody>
      </p:sp>
      <p:sp>
        <p:nvSpPr>
          <p:cNvPr id="66" name="Oval 65"/>
          <p:cNvSpPr/>
          <p:nvPr/>
        </p:nvSpPr>
        <p:spPr>
          <a:xfrm>
            <a:off x="9601199" y="4416552"/>
            <a:ext cx="82296" cy="8229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47503" y="4352544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General coding help</a:t>
            </a:r>
          </a:p>
        </p:txBody>
      </p:sp>
      <p:sp>
        <p:nvSpPr>
          <p:cNvPr id="68" name="Oval 67"/>
          <p:cNvSpPr/>
          <p:nvPr/>
        </p:nvSpPr>
        <p:spPr>
          <a:xfrm>
            <a:off x="9601199" y="4654296"/>
            <a:ext cx="82296" cy="8229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47503" y="4590288"/>
            <a:ext cx="1700784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External services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0515600" y="6126480"/>
            <a:ext cx="1371600" cy="0"/>
          </a:xfrm>
          <a:prstGeom prst="line">
            <a:avLst/>
          </a:prstGeom>
          <a:ln w="1778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10149840" y="6144768"/>
            <a:ext cx="1920240" cy="493776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016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22992" y="6199632"/>
            <a:ext cx="1773936" cy="384048"/>
          </a:xfrm>
          <a:prstGeom prst="rect">
            <a:avLst/>
          </a:prstGeom>
          <a:noFill/>
        </p:spPr>
        <p:txBody>
          <a:bodyPr wrap="square" rIns="54864" tIns="73152" bIns="54864" anchor="t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B91C1C"/>
                </a:solidFill>
              </a:defRPr>
            </a:pPr>
            <a:r>
              <a:t>⚡ Immediate return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475569"/>
                </a:solidFill>
              </a:defRPr>
            </a:pPr>
            <a:r>
              <a:t>No scoring · No retrieval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" y="6181344"/>
            <a:ext cx="8778240" cy="384048"/>
          </a:xfrm>
          <a:prstGeom prst="rect">
            <a:avLst/>
          </a:prstGeom>
          <a:solidFill>
            <a:srgbClr val="F1F5F9"/>
          </a:solidFill>
          <a:ln w="76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6236208"/>
            <a:ext cx="8503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</a:defRPr>
            </a:pPr>
            <a:r>
              <a:t>DOC_QA · ARTIFACT_SEARCH · USER_SEARCH · HYBRID  →  proceed to Step 2: Query Rewrite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3047238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6748272"/>
            <a:ext cx="3047238" cy="10972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6748272"/>
            <a:ext cx="3047238" cy="109728"/>
          </a:xfrm>
          <a:prstGeom prst="rect">
            <a:avLst/>
          </a:prstGeom>
          <a:solidFill>
            <a:srgbClr val="B46400"/>
          </a:solidFill>
          <a:ln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6748272"/>
            <a:ext cx="3047238" cy="109728"/>
          </a:xfrm>
          <a:prstGeom prst="rect">
            <a:avLst/>
          </a:prstGeom>
          <a:solidFill>
            <a:srgbClr val="BE185D"/>
          </a:solidFill>
          <a:ln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430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</a:defRPr>
            </a:pPr>
            <a:r>
              <a:t>Kubeflow Workspace Intelligence  ·  LLMOps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"/>
            <a:ext cx="117043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 i="0">
                <a:solidFill>
                  <a:srgbClr val="111827"/>
                </a:solidFill>
              </a:defRPr>
            </a:pPr>
            <a:r>
              <a:t>Retrieval  –  Step 2: Query Rewrite &amp; Vector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566928"/>
            <a:ext cx="11612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</a:defRPr>
            </a:pPr>
            <a:r>
              <a:t>Query is enriched before embedding, then routed to the correct Milvus collection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896112"/>
            <a:ext cx="7772400" cy="1408176"/>
          </a:xfrm>
          <a:prstGeom prst="rect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969264"/>
            <a:ext cx="3657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1" i="0">
                <a:solidFill>
                  <a:srgbClr val="0F766E"/>
                </a:solidFill>
              </a:defRPr>
            </a:pPr>
            <a:r>
              <a:t>Query Rewriter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225296"/>
            <a:ext cx="35661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LLM call  ·  gpt-4o-mini  ·  T=0.0  ·  max 80 tokens</a:t>
            </a:r>
          </a:p>
        </p:txBody>
      </p:sp>
      <p:sp>
        <p:nvSpPr>
          <p:cNvPr id="12" name="Oval 11"/>
          <p:cNvSpPr/>
          <p:nvPr/>
        </p:nvSpPr>
        <p:spPr>
          <a:xfrm>
            <a:off x="2414016" y="1508760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444752"/>
            <a:ext cx="3255263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Expands query with synonyms and technical terms</a:t>
            </a:r>
          </a:p>
        </p:txBody>
      </p:sp>
      <p:sp>
        <p:nvSpPr>
          <p:cNvPr id="14" name="Oval 13"/>
          <p:cNvSpPr/>
          <p:nvPr/>
        </p:nvSpPr>
        <p:spPr>
          <a:xfrm>
            <a:off x="2414016" y="1746504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682496"/>
            <a:ext cx="3255263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Improves cosine similarity recall in Milvus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05840"/>
            <a:ext cx="347472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060704"/>
            <a:ext cx="3291840" cy="1078992"/>
          </a:xfrm>
          <a:prstGeom prst="rect">
            <a:avLst/>
          </a:prstGeom>
          <a:noFill/>
        </p:spPr>
        <p:txBody>
          <a:bodyPr wrap="square" rIns="54864" tIns="73152" bIns="54864" anchor="t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64748B"/>
                </a:solidFill>
              </a:defRPr>
            </a:pPr>
            <a:r>
              <a:t>Example: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475569"/>
                </a:solidFill>
              </a:defRPr>
            </a:pPr>
            <a:r>
              <a:t>In:   "Spark job Kubeflow"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0F766E"/>
                </a:solidFill>
              </a:defRPr>
            </a:pPr>
            <a:r>
              <a:t>Out:  "submit Spark application Kubeflow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0F766E"/>
                </a:solidFill>
              </a:defRPr>
            </a:pPr>
            <a:r>
              <a:t>       pipeline resource configuration"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0400" y="2304288"/>
            <a:ext cx="0" cy="310896"/>
          </a:xfrm>
          <a:prstGeom prst="line">
            <a:avLst/>
          </a:prstGeom>
          <a:ln w="1778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2304288"/>
            <a:ext cx="0" cy="310896"/>
          </a:xfrm>
          <a:prstGeom prst="line">
            <a:avLst/>
          </a:prstGeom>
          <a:ln w="17780">
            <a:solidFill>
              <a:srgbClr val="B4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61120" y="2304288"/>
            <a:ext cx="0" cy="310896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481328" y="2615184"/>
            <a:ext cx="3291840" cy="64008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9344" y="2706624"/>
            <a:ext cx="3054096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50" b="1" i="0">
                <a:solidFill>
                  <a:srgbClr val="16A34A"/>
                </a:solidFill>
              </a:defRPr>
            </a:pPr>
            <a:r>
              <a:t>Doc Retriever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2962656"/>
            <a:ext cx="3054096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</a:defRPr>
            </a:pPr>
            <a:r>
              <a:t>platform_docs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27248" y="3255264"/>
            <a:ext cx="0" cy="237744"/>
          </a:xfrm>
          <a:prstGeom prst="line">
            <a:avLst/>
          </a:prstGeom>
          <a:ln w="1778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481328" y="3493008"/>
            <a:ext cx="3291840" cy="1938528"/>
          </a:xfrm>
          <a:prstGeom prst="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3566160"/>
            <a:ext cx="3054096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</a:defRPr>
            </a:pPr>
            <a:r>
              <a:t>Milvus Collection</a:t>
            </a:r>
          </a:p>
        </p:txBody>
      </p:sp>
      <p:sp>
        <p:nvSpPr>
          <p:cNvPr id="27" name="Oval 26"/>
          <p:cNvSpPr/>
          <p:nvPr/>
        </p:nvSpPr>
        <p:spPr>
          <a:xfrm>
            <a:off x="1645920" y="3895344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92224" y="3840480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Kubeflow access guide</a:t>
            </a:r>
          </a:p>
        </p:txBody>
      </p:sp>
      <p:sp>
        <p:nvSpPr>
          <p:cNvPr id="29" name="Oval 28"/>
          <p:cNvSpPr/>
          <p:nvPr/>
        </p:nvSpPr>
        <p:spPr>
          <a:xfrm>
            <a:off x="1645920" y="4151376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92224" y="4096512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Notebook setup guide</a:t>
            </a:r>
          </a:p>
        </p:txBody>
      </p:sp>
      <p:sp>
        <p:nvSpPr>
          <p:cNvPr id="31" name="Oval 30"/>
          <p:cNvSpPr/>
          <p:nvPr/>
        </p:nvSpPr>
        <p:spPr>
          <a:xfrm>
            <a:off x="1645920" y="4407408"/>
            <a:ext cx="82296" cy="822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92224" y="4352544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Spark job guide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431536"/>
            <a:ext cx="3291840" cy="530352"/>
          </a:xfrm>
          <a:prstGeom prst="rect">
            <a:avLst/>
          </a:prstGeom>
          <a:solidFill>
            <a:srgbClr val="F1F5F9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9344" y="5486400"/>
            <a:ext cx="3054096" cy="173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chunk_text  (top 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9344" y="5660136"/>
            <a:ext cx="3054096" cy="173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HNSW · COSINE · 1536-dim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9344" y="5833872"/>
            <a:ext cx="3054096" cy="173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Used by:  DOC_QA · HYBRID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61688" y="2615184"/>
            <a:ext cx="3291840" cy="6400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905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9703" y="2706624"/>
            <a:ext cx="3054096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50" b="1" i="0">
                <a:solidFill>
                  <a:srgbClr val="B46400"/>
                </a:solidFill>
              </a:defRPr>
            </a:pPr>
            <a:r>
              <a:t>Artifact Retriever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9703" y="2962656"/>
            <a:ext cx="3054096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</a:defRPr>
            </a:pPr>
            <a:r>
              <a:t>artifact_summaries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07607" y="3255264"/>
            <a:ext cx="0" cy="237744"/>
          </a:xfrm>
          <a:prstGeom prst="line">
            <a:avLst/>
          </a:prstGeom>
          <a:ln w="17780">
            <a:solidFill>
              <a:srgbClr val="B4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361688" y="3493008"/>
            <a:ext cx="3291840" cy="1938528"/>
          </a:xfrm>
          <a:prstGeom prst="rect">
            <a:avLst/>
          </a:prstGeom>
          <a:solidFill>
            <a:srgbClr val="FFFFFF"/>
          </a:solidFill>
          <a:ln w="1524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9703" y="3566160"/>
            <a:ext cx="3054096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</a:defRPr>
            </a:pPr>
            <a:r>
              <a:t>Milvus Collection</a:t>
            </a:r>
          </a:p>
        </p:txBody>
      </p:sp>
      <p:sp>
        <p:nvSpPr>
          <p:cNvPr id="43" name="Oval 42"/>
          <p:cNvSpPr/>
          <p:nvPr/>
        </p:nvSpPr>
        <p:spPr>
          <a:xfrm>
            <a:off x="4526279" y="3895344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2583" y="3840480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ajay11.yadav — PySpark</a:t>
            </a:r>
          </a:p>
        </p:txBody>
      </p:sp>
      <p:sp>
        <p:nvSpPr>
          <p:cNvPr id="45" name="Oval 44"/>
          <p:cNvSpPr/>
          <p:nvPr/>
        </p:nvSpPr>
        <p:spPr>
          <a:xfrm>
            <a:off x="4526279" y="4151376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72583" y="4096512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amit23.sharma — pandas</a:t>
            </a:r>
          </a:p>
        </p:txBody>
      </p:sp>
      <p:sp>
        <p:nvSpPr>
          <p:cNvPr id="47" name="Oval 46"/>
          <p:cNvSpPr/>
          <p:nvPr/>
        </p:nvSpPr>
        <p:spPr>
          <a:xfrm>
            <a:off x="4526279" y="4407408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72583" y="4352544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dhruv2.aggarwal — Spark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61688" y="5431536"/>
            <a:ext cx="3291840" cy="530352"/>
          </a:xfrm>
          <a:prstGeom prst="rect">
            <a:avLst/>
          </a:prstGeom>
          <a:solidFill>
            <a:srgbClr val="F1F5F9"/>
          </a:solidFill>
          <a:ln w="762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9703" y="5486400"/>
            <a:ext cx="3054096" cy="173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artifact_summary  (top 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9703" y="5660136"/>
            <a:ext cx="3054096" cy="173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HNSW · COSINE · 1536-dim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9703" y="5833872"/>
            <a:ext cx="3054096" cy="173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Used by:  ARTIFACT · HYBRID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42048" y="2615184"/>
            <a:ext cx="3291840" cy="64008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0064" y="2706624"/>
            <a:ext cx="3054096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50" b="1" i="0">
                <a:solidFill>
                  <a:srgbClr val="6D28D9"/>
                </a:solidFill>
              </a:defRPr>
            </a:pPr>
            <a:r>
              <a:t>User Retriever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70064" y="2962656"/>
            <a:ext cx="3054096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</a:defRPr>
            </a:pPr>
            <a:r>
              <a:t>user_profiles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887968" y="3255264"/>
            <a:ext cx="0" cy="237744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242048" y="3493008"/>
            <a:ext cx="3291840" cy="1938528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70064" y="3566160"/>
            <a:ext cx="3054096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</a:defRPr>
            </a:pPr>
            <a:r>
              <a:t>Milvus Collection</a:t>
            </a:r>
          </a:p>
        </p:txBody>
      </p:sp>
      <p:sp>
        <p:nvSpPr>
          <p:cNvPr id="59" name="Oval 58"/>
          <p:cNvSpPr/>
          <p:nvPr/>
        </p:nvSpPr>
        <p:spPr>
          <a:xfrm>
            <a:off x="7406640" y="3895344"/>
            <a:ext cx="82296" cy="8229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52944" y="3840480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ravi.verma</a:t>
            </a:r>
          </a:p>
        </p:txBody>
      </p:sp>
      <p:sp>
        <p:nvSpPr>
          <p:cNvPr id="61" name="Oval 60"/>
          <p:cNvSpPr/>
          <p:nvPr/>
        </p:nvSpPr>
        <p:spPr>
          <a:xfrm>
            <a:off x="7406640" y="4151376"/>
            <a:ext cx="82296" cy="8229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52944" y="4096512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julie1.dixit</a:t>
            </a:r>
          </a:p>
        </p:txBody>
      </p:sp>
      <p:sp>
        <p:nvSpPr>
          <p:cNvPr id="63" name="Oval 62"/>
          <p:cNvSpPr/>
          <p:nvPr/>
        </p:nvSpPr>
        <p:spPr>
          <a:xfrm>
            <a:off x="7406640" y="4407408"/>
            <a:ext cx="82296" cy="8229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52944" y="4352544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+ 3 more profiles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42048" y="5431536"/>
            <a:ext cx="3291840" cy="530352"/>
          </a:xfrm>
          <a:prstGeom prst="rect">
            <a:avLst/>
          </a:prstGeom>
          <a:solidFill>
            <a:srgbClr val="F1F5F9"/>
          </a:solidFill>
          <a:ln w="762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70064" y="5486400"/>
            <a:ext cx="3054096" cy="173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user_profile  (top 5)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70064" y="5660136"/>
            <a:ext cx="3054096" cy="173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HNSW · COSINE · 1536-dim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70064" y="5833872"/>
            <a:ext cx="3054096" cy="1737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Used by:  USER · HYBRID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6016752"/>
            <a:ext cx="11887200" cy="621792"/>
          </a:xfrm>
          <a:prstGeom prst="rect">
            <a:avLst/>
          </a:prstGeom>
          <a:noFill/>
          <a:ln w="1524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09759" y="6364224"/>
            <a:ext cx="2468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 i="0">
                <a:solidFill>
                  <a:srgbClr val="6D28D9"/>
                </a:solidFill>
              </a:defRPr>
            </a:pPr>
            <a:r>
              <a:t>Special path:  USER_SEARCH exact name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9184" y="6071616"/>
            <a:ext cx="11521440" cy="512064"/>
          </a:xfrm>
          <a:prstGeom prst="rect">
            <a:avLst/>
          </a:prstGeom>
          <a:noFill/>
        </p:spPr>
        <p:txBody>
          <a:bodyPr wrap="square" rIns="54864" tIns="73152" bIns="54864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6D28D9"/>
                </a:solidFill>
              </a:defRPr>
            </a:pPr>
            <a:r>
              <a:t>Name Resolution:  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475569"/>
                </a:solidFill>
              </a:defRPr>
            </a:pPr>
            <a:r>
              <a:t>RapidFuzz string match against all user IDs  →  LLM disambiguation (user_resolve span)  →  direct Milvus profile fetch  →  LLM judge scores profile_relevance.  No generate step, no Layer 1 scores.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9184" y="6071616"/>
            <a:ext cx="11521440" cy="475488"/>
          </a:xfrm>
          <a:prstGeom prst="rect">
            <a:avLst/>
          </a:prstGeom>
          <a:noFill/>
        </p:spPr>
        <p:txBody>
          <a:bodyPr wrap="square" lIns="73152" tIns="36576" anchor="t">
            <a:spAutoFit/>
          </a:bodyPr>
          <a:lstStyle/>
          <a:p>
            <a:pPr algn="l">
              <a:defRPr sz="900">
                <a:solidFill>
                  <a:srgbClr val="475569"/>
                </a:solidFill>
              </a:defRPr>
            </a:pPr>
            <a:r>
              <a:rPr b="1" sz="900">
                <a:solidFill>
                  <a:srgbClr val="6D28D9"/>
                </a:solidFill>
              </a:rPr>
              <a:t>Name Resolution:  </a:t>
            </a:r>
            <a:r>
              <a:rPr sz="900">
                <a:solidFill>
                  <a:srgbClr val="475569"/>
                </a:solidFill>
              </a:rPr>
              <a:t>RapidFuzz string match against all user IDs  →  LLM disambiguation (user_resolve span)  →  direct Milvus profile fetch  →  LLM judge scores profile_relevance.  No generate step. No Layer 1 heuristic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3047238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6748272"/>
            <a:ext cx="3047238" cy="10972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6748272"/>
            <a:ext cx="3047238" cy="109728"/>
          </a:xfrm>
          <a:prstGeom prst="rect">
            <a:avLst/>
          </a:prstGeom>
          <a:solidFill>
            <a:srgbClr val="B46400"/>
          </a:solidFill>
          <a:ln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6748272"/>
            <a:ext cx="3047238" cy="109728"/>
          </a:xfrm>
          <a:prstGeom prst="rect">
            <a:avLst/>
          </a:prstGeom>
          <a:solidFill>
            <a:srgbClr val="BE185D"/>
          </a:solidFill>
          <a:ln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430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</a:defRPr>
            </a:pPr>
            <a:r>
              <a:t>Kubeflow Workspace Intelligence  ·  LLMOps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"/>
            <a:ext cx="117043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 i="0">
                <a:solidFill>
                  <a:srgbClr val="111827"/>
                </a:solidFill>
              </a:defRPr>
            </a:pPr>
            <a:r>
              <a:t>Generation  –  Context Assembly &amp; LLM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566928"/>
            <a:ext cx="11612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</a:defRPr>
            </a:pPr>
            <a:r>
              <a:t>Retrieved chunks are assembled into a prompt and sent to gpt-4o-mini via LiteLLM proxy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896112"/>
            <a:ext cx="2834640" cy="73152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960120"/>
            <a:ext cx="2596896" cy="603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 i="0">
                <a:solidFill>
                  <a:srgbClr val="16A34A"/>
                </a:solidFill>
              </a:defRPr>
            </a:pPr>
            <a:r>
              <a:t>Retrieved</a:t>
            </a:r>
            <a:br/>
            <a:r>
              <a:t>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896112"/>
            <a:ext cx="2834640" cy="7315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960120"/>
            <a:ext cx="2596896" cy="603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 i="0">
                <a:solidFill>
                  <a:srgbClr val="2563EB"/>
                </a:solidFill>
              </a:defRPr>
            </a:pPr>
            <a:r>
              <a:t>Prompt</a:t>
            </a:r>
            <a:br/>
            <a:r>
              <a:t>Builder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7376" y="896112"/>
            <a:ext cx="2834640" cy="73152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960120"/>
            <a:ext cx="2596896" cy="603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 i="0">
                <a:solidFill>
                  <a:srgbClr val="6D28D9"/>
                </a:solidFill>
              </a:defRPr>
            </a:pPr>
            <a:r>
              <a:t>LLM</a:t>
            </a:r>
            <a:br/>
            <a:r>
              <a:t>Generate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8048" y="896112"/>
            <a:ext cx="2834640" cy="7315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905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56064" y="960120"/>
            <a:ext cx="2596896" cy="603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 i="0">
                <a:solidFill>
                  <a:srgbClr val="B46400"/>
                </a:solidFill>
              </a:defRPr>
            </a:pPr>
            <a:r>
              <a:t>Response</a:t>
            </a:r>
            <a:br/>
            <a:r>
              <a:t>Schema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90672" y="1261872"/>
            <a:ext cx="256032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81344" y="1261872"/>
            <a:ext cx="256032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72016" y="1261872"/>
            <a:ext cx="256032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56032" y="1737360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1810512"/>
            <a:ext cx="2596896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</a:defRPr>
            </a:pPr>
            <a:r>
              <a:t>Per Intent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2066543"/>
            <a:ext cx="27432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103120"/>
            <a:ext cx="1005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DOC_QA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2103120"/>
            <a:ext cx="1536192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doc chunks   (top 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2468879"/>
            <a:ext cx="27432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505456"/>
            <a:ext cx="1005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ARTIFACT_SEARCH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2505456"/>
            <a:ext cx="1536192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summaries     (top 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2871215"/>
            <a:ext cx="27432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907791"/>
            <a:ext cx="1005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USER_SEARCH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2907791"/>
            <a:ext cx="1536192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profiles       (top 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3273551"/>
            <a:ext cx="27432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310127"/>
            <a:ext cx="1005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HYBRID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3310127"/>
            <a:ext cx="1536192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all 3 sources (top 3 each)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46704" y="1737360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1810512"/>
            <a:ext cx="2596896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</a:defRPr>
            </a:pPr>
            <a:r>
              <a:t>4 Templates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38144" y="2066543"/>
            <a:ext cx="2651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7872" y="210312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2563EB"/>
                </a:solidFill>
              </a:defRPr>
            </a:pPr>
            <a:r>
              <a:t>doc_qa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2103120"/>
            <a:ext cx="1536192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answer only from retrieved docs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38144" y="2468879"/>
            <a:ext cx="2651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47872" y="2505456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2563EB"/>
                </a:solidFill>
              </a:defRPr>
            </a:pPr>
            <a:r>
              <a:t>artifact_search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2505456"/>
            <a:ext cx="1536192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list matching artifact IDs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38144" y="2871215"/>
            <a:ext cx="2651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47872" y="2907791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2563EB"/>
                </a:solidFill>
              </a:defRPr>
            </a:pPr>
            <a:r>
              <a:t>user_search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2907791"/>
            <a:ext cx="1536192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describe most relevant person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38144" y="3273551"/>
            <a:ext cx="2651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47872" y="3310127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2563EB"/>
                </a:solidFill>
              </a:defRPr>
            </a:pPr>
            <a:r>
              <a:t>hybrid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3310127"/>
            <a:ext cx="1536192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combine all 3 context types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803904"/>
            <a:ext cx="26517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Chat history prepended between system + user msg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37376" y="1737360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65392" y="1810512"/>
            <a:ext cx="2596896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</a:defRPr>
            </a:pPr>
            <a:r>
              <a:t>Parameters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2066543"/>
            <a:ext cx="1042415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26096" y="2066543"/>
            <a:ext cx="157276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gpt-4o-mini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2340863"/>
            <a:ext cx="1042415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Temperature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26096" y="2340863"/>
            <a:ext cx="157276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0.2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2615183"/>
            <a:ext cx="1042415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Max tokens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6096" y="2615183"/>
            <a:ext cx="157276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600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5392" y="2889503"/>
            <a:ext cx="1042415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Routing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26096" y="2889503"/>
            <a:ext cx="157276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via LiteLLM proxy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5392" y="3163823"/>
            <a:ext cx="1042415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Trace name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6096" y="3163823"/>
            <a:ext cx="157276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chat · {intent}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65392" y="3438143"/>
            <a:ext cx="1042415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Tags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6096" y="3438143"/>
            <a:ext cx="157276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intent:X · model:X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8048" y="1737360"/>
            <a:ext cx="24505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56064" y="1810512"/>
            <a:ext cx="21945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64748B"/>
                </a:solidFill>
              </a:defRPr>
            </a:pPr>
            <a:r>
              <a:t>Response fields</a:t>
            </a:r>
          </a:p>
        </p:txBody>
      </p:sp>
      <p:sp>
        <p:nvSpPr>
          <p:cNvPr id="65" name="Oval 64"/>
          <p:cNvSpPr/>
          <p:nvPr/>
        </p:nvSpPr>
        <p:spPr>
          <a:xfrm>
            <a:off x="9656063" y="2130551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02367" y="2066543"/>
            <a:ext cx="212140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answer  (str)</a:t>
            </a:r>
          </a:p>
        </p:txBody>
      </p:sp>
      <p:sp>
        <p:nvSpPr>
          <p:cNvPr id="67" name="Oval 66"/>
          <p:cNvSpPr/>
          <p:nvPr/>
        </p:nvSpPr>
        <p:spPr>
          <a:xfrm>
            <a:off x="9656063" y="2368295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02367" y="2304287"/>
            <a:ext cx="212140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intent  (str)</a:t>
            </a:r>
          </a:p>
        </p:txBody>
      </p:sp>
      <p:sp>
        <p:nvSpPr>
          <p:cNvPr id="69" name="Oval 68"/>
          <p:cNvSpPr/>
          <p:nvPr/>
        </p:nvSpPr>
        <p:spPr>
          <a:xfrm>
            <a:off x="9656063" y="2606039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02367" y="2542031"/>
            <a:ext cx="212140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confidence  (float)</a:t>
            </a:r>
          </a:p>
        </p:txBody>
      </p:sp>
      <p:sp>
        <p:nvSpPr>
          <p:cNvPr id="71" name="Oval 70"/>
          <p:cNvSpPr/>
          <p:nvPr/>
        </p:nvSpPr>
        <p:spPr>
          <a:xfrm>
            <a:off x="9656063" y="2843783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02367" y="2779775"/>
            <a:ext cx="212140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trace_id  (uuid)</a:t>
            </a:r>
          </a:p>
        </p:txBody>
      </p:sp>
      <p:sp>
        <p:nvSpPr>
          <p:cNvPr id="73" name="Oval 72"/>
          <p:cNvSpPr/>
          <p:nvPr/>
        </p:nvSpPr>
        <p:spPr>
          <a:xfrm>
            <a:off x="9656063" y="3081527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02367" y="3017519"/>
            <a:ext cx="212140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raw_docs  (list)</a:t>
            </a:r>
          </a:p>
        </p:txBody>
      </p:sp>
      <p:sp>
        <p:nvSpPr>
          <p:cNvPr id="75" name="Oval 74"/>
          <p:cNvSpPr/>
          <p:nvPr/>
        </p:nvSpPr>
        <p:spPr>
          <a:xfrm>
            <a:off x="9656063" y="3319271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02367" y="3255263"/>
            <a:ext cx="212140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raw_artifacts  (list)</a:t>
            </a:r>
          </a:p>
        </p:txBody>
      </p:sp>
      <p:sp>
        <p:nvSpPr>
          <p:cNvPr id="77" name="Oval 76"/>
          <p:cNvSpPr/>
          <p:nvPr/>
        </p:nvSpPr>
        <p:spPr>
          <a:xfrm>
            <a:off x="9656063" y="3557015"/>
            <a:ext cx="82296" cy="82296"/>
          </a:xfrm>
          <a:prstGeom prst="ellipse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02367" y="3493007"/>
            <a:ext cx="2121408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raw_users  (list)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" y="3858768"/>
            <a:ext cx="11704320" cy="2377440"/>
          </a:xfrm>
          <a:prstGeom prst="rect">
            <a:avLst/>
          </a:prstGeom>
          <a:noFill/>
          <a:ln w="1524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00032" y="5961888"/>
            <a:ext cx="2468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 i="0">
                <a:solidFill>
                  <a:srgbClr val="2563EB"/>
                </a:solidFill>
              </a:defRPr>
            </a:pPr>
            <a:r>
              <a:t>Langfuse Trace (per request)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2336" y="3931920"/>
            <a:ext cx="50292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trace_id  —  UUID generated at request start, forwarded via LiteLLM extra_body to group all spans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02336" y="4242816"/>
            <a:ext cx="2706624" cy="1261872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0352" y="4315968"/>
            <a:ext cx="2468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50" b="1" i="0">
                <a:solidFill>
                  <a:srgbClr val="6D28D9"/>
                </a:solidFill>
              </a:defRPr>
            </a:pPr>
            <a:r>
              <a:t>classify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064" y="4590288"/>
            <a:ext cx="2487168" cy="1828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0352" y="4645152"/>
            <a:ext cx="2468880" cy="7680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gpt-4o-mini · T=0.0 · max 150 tok</a:t>
            </a:r>
            <a:br/>
            <a:r>
              <a:t>Outputs: intent, confidence, reasoning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55264" y="4242816"/>
            <a:ext cx="2706624" cy="1261872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383280" y="4315968"/>
            <a:ext cx="2468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50" b="1" i="0">
                <a:solidFill>
                  <a:srgbClr val="0F766E"/>
                </a:solidFill>
              </a:defRPr>
            </a:pPr>
            <a:r>
              <a:t>rewrite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64992" y="4590288"/>
            <a:ext cx="2487168" cy="1828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383280" y="4645152"/>
            <a:ext cx="2468880" cy="7680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gpt-4o-mini · T=0.0 · max 80 tok</a:t>
            </a:r>
            <a:br/>
            <a:r>
              <a:t>Outputs: enriched search query string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08192" y="4242816"/>
            <a:ext cx="2706624" cy="1261872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36207" y="4315968"/>
            <a:ext cx="2468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50" b="1" i="0">
                <a:solidFill>
                  <a:srgbClr val="2563EB"/>
                </a:solidFill>
              </a:defRPr>
            </a:pPr>
            <a:r>
              <a:t>generate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217920" y="4590288"/>
            <a:ext cx="2487168" cy="18288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36207" y="4645152"/>
            <a:ext cx="2468880" cy="7680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gpt-4o-mini · T=0.2 · max 600 tok</a:t>
            </a:r>
            <a:br/>
            <a:r>
              <a:t>Metadata: query · intent · conf · hits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961120" y="4242816"/>
            <a:ext cx="2706624" cy="1261872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524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89136" y="4315968"/>
            <a:ext cx="2468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50" b="1" i="0">
                <a:solidFill>
                  <a:srgbClr val="B46400"/>
                </a:solidFill>
              </a:defRPr>
            </a:pPr>
            <a:r>
              <a:t>user_resolve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70848" y="4590288"/>
            <a:ext cx="2487168" cy="18288"/>
          </a:xfrm>
          <a:prstGeom prst="rect">
            <a:avLst/>
          </a:prstGeom>
          <a:solidFill>
            <a:srgbClr val="B46400"/>
          </a:solidFill>
          <a:ln w="635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089136" y="4645152"/>
            <a:ext cx="2468880" cy="7680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gpt-4o-mini · T=0.0 (USER_SEARCH only)</a:t>
            </a:r>
            <a:br/>
            <a:r>
              <a:t>Disambiguates fuzzy name matches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2336" y="5559552"/>
            <a:ext cx="11521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Scores are posted to Langfuse AFTER the trace via score_response_quality() and evaluate_in_background() — not attached to individual spans but to the root trace by trace_id.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3047238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6748272"/>
            <a:ext cx="3047238" cy="10972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6748272"/>
            <a:ext cx="3047238" cy="109728"/>
          </a:xfrm>
          <a:prstGeom prst="rect">
            <a:avLst/>
          </a:prstGeom>
          <a:solidFill>
            <a:srgbClr val="B46400"/>
          </a:solidFill>
          <a:ln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6748272"/>
            <a:ext cx="3047238" cy="109728"/>
          </a:xfrm>
          <a:prstGeom prst="rect">
            <a:avLst/>
          </a:prstGeom>
          <a:solidFill>
            <a:srgbClr val="BE185D"/>
          </a:solidFill>
          <a:ln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430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</a:defRPr>
            </a:pPr>
            <a:r>
              <a:t>Kubeflow Workspace Intelligence  ·  LLMOps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"/>
            <a:ext cx="117043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 i="0">
                <a:solidFill>
                  <a:srgbClr val="111827"/>
                </a:solidFill>
              </a:defRPr>
            </a:pPr>
            <a:r>
              <a:t>Evaluation  –  Layer 1: Heuristic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566928"/>
            <a:ext cx="11612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</a:defRPr>
            </a:pPr>
            <a:r>
              <a:t>4 scores posted synchronously inline after every generate call  ·  no LLM involved  ·  appear in Langfuse within 1–2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868680"/>
            <a:ext cx="5742432" cy="2596896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996695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33271"/>
            <a:ext cx="53035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response_length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508760"/>
            <a:ext cx="539496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50" b="1" i="0">
                <a:solidFill>
                  <a:srgbClr val="111827"/>
                </a:solidFill>
              </a:defRPr>
            </a:pPr>
            <a:r>
              <a:t>Normalised answer 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746504"/>
            <a:ext cx="5394960" cy="8412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&lt; 50 chars     → ramps from 0.0 to 0.5</a:t>
            </a:r>
            <a:br/>
            <a:r>
              <a:t>50 – 300 chars  → ramps from 0.5 to 1.0</a:t>
            </a:r>
            <a:br/>
            <a:r>
              <a:t>300 – 2000 chars → 1.0  (sweet spot)</a:t>
            </a:r>
            <a:br/>
            <a:r>
              <a:t>&gt; 2000 chars    → penalised toward 0.5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697480"/>
            <a:ext cx="26517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752344"/>
            <a:ext cx="24688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750" b="1" i="0">
                <a:solidFill>
                  <a:srgbClr val="16A34A"/>
                </a:solidFill>
              </a:defRPr>
            </a:pPr>
            <a:r>
              <a:t>Green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916936"/>
            <a:ext cx="2468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Answer is well-developed and substantive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697480"/>
            <a:ext cx="267004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39" y="2752344"/>
            <a:ext cx="2487168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750" b="1" i="0">
                <a:solidFill>
                  <a:srgbClr val="B91C1C"/>
                </a:solidFill>
              </a:defRPr>
            </a:pPr>
            <a:r>
              <a:t>Red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2916936"/>
            <a:ext cx="2487168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Very short fallback or extremely verbose wall of 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868680"/>
            <a:ext cx="5742432" cy="2596896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37376" y="996695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1033271"/>
            <a:ext cx="53035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has_content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508760"/>
            <a:ext cx="539496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50" b="1" i="0">
                <a:solidFill>
                  <a:srgbClr val="111827"/>
                </a:solidFill>
              </a:defRPr>
            </a:pPr>
            <a:r>
              <a:t>Substantive answer check  (string match, no LLM)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746504"/>
            <a:ext cx="5394960" cy="8412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Scans final answer for fallback phrases:</a:t>
            </a:r>
            <a:br/>
            <a:r>
              <a:t>"i couldn't find"  ·  "no matching"  ·  "please try again"</a:t>
            </a:r>
            <a:br/>
            <a:r>
              <a:t>"i don't have access"  ·  "i encountered an error"</a:t>
            </a:r>
            <a:br/>
            <a:br/>
            <a:r>
              <a:t>1.0  if none found   ·   0.0  if any found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37376" y="2697480"/>
            <a:ext cx="26517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2752344"/>
            <a:ext cx="24688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750" b="1" i="0">
                <a:solidFill>
                  <a:srgbClr val="16A34A"/>
                </a:solidFill>
              </a:defRPr>
            </a:pPr>
            <a:r>
              <a:t>Green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2916936"/>
            <a:ext cx="2468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LLM answered from retrieved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53728" y="2697480"/>
            <a:ext cx="267004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752344"/>
            <a:ext cx="2487168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750" b="1" i="0">
                <a:solidFill>
                  <a:srgbClr val="B91C1C"/>
                </a:solidFill>
              </a:defRPr>
            </a:pPr>
            <a:r>
              <a:t>Red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2916936"/>
            <a:ext cx="2487168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LLM gave up — retrieved nothing relevant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" y="3657600"/>
            <a:ext cx="5742432" cy="2596896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228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4048" y="3785615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822191"/>
            <a:ext cx="53035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intent_confidence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297680"/>
            <a:ext cx="539496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50" b="1" i="0">
                <a:solidFill>
                  <a:srgbClr val="111827"/>
                </a:solidFill>
              </a:defRPr>
            </a:pPr>
            <a:r>
              <a:t>Classifier certainty  (passthrough, no transform)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535424"/>
            <a:ext cx="5394960" cy="8412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Direct passthrough of confidence value</a:t>
            </a:r>
            <a:br/>
            <a:r>
              <a:t>returned by the Intent Classifier LLM call.</a:t>
            </a:r>
            <a:br/>
            <a:br/>
            <a:r>
              <a:t>High (&gt; 0.80)  →  clear, unambiguous query</a:t>
            </a:r>
            <a:br/>
            <a:r>
              <a:t>Medium (0.60–0.80)  →  boundary query</a:t>
            </a:r>
            <a:br/>
            <a:r>
              <a:t>Low (&lt; 0.60)  →  classifier was uncertain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5486400"/>
            <a:ext cx="26517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5541264"/>
            <a:ext cx="24688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750" b="1" i="0">
                <a:solidFill>
                  <a:srgbClr val="16A34A"/>
                </a:solidFill>
              </a:defRPr>
            </a:pPr>
            <a:r>
              <a:t>Green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5705856"/>
            <a:ext cx="2468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Query matched a clear intent category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5486400"/>
            <a:ext cx="267004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39" y="5541264"/>
            <a:ext cx="2487168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750" b="1" i="0">
                <a:solidFill>
                  <a:srgbClr val="B91C1C"/>
                </a:solidFill>
              </a:defRPr>
            </a:pPr>
            <a:r>
              <a:t>Red signal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39" y="5705856"/>
            <a:ext cx="2487168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Ambiguous query or classifier prompt needs tuning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3657600"/>
            <a:ext cx="5742432" cy="2596896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2286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37376" y="3785615"/>
            <a:ext cx="5486400" cy="420624"/>
          </a:xfrm>
          <a:prstGeom prst="roundRect">
            <a:avLst>
              <a:gd name="adj" fmla="val 4000"/>
            </a:avLst>
          </a:prstGeom>
          <a:solidFill>
            <a:srgbClr val="B46400"/>
          </a:solidFill>
          <a:ln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28816" y="3822191"/>
            <a:ext cx="53035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source_count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297680"/>
            <a:ext cx="539496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50" b="1" i="0">
                <a:solidFill>
                  <a:srgbClr val="111827"/>
                </a:solidFill>
              </a:defRPr>
            </a:pPr>
            <a:r>
              <a:t>Retrieval coverage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535424"/>
            <a:ext cx="5394960" cy="8412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value  =  (doc_hits + artifact_hits + user_hits)  ÷  5</a:t>
            </a:r>
            <a:br/>
            <a:r>
              <a:t>Capped at 1.0</a:t>
            </a:r>
            <a:br/>
            <a:br/>
            <a:r>
              <a:t>5 sources → 1.0   |   3 sources → 0.6</a:t>
            </a:r>
            <a:br/>
            <a:r>
              <a:t>1 source  → 0.2   |   0 sources → 0.0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37376" y="5486400"/>
            <a:ext cx="265176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28816" y="5541264"/>
            <a:ext cx="24688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750" b="1" i="0">
                <a:solidFill>
                  <a:srgbClr val="16A34A"/>
                </a:solidFill>
              </a:defRPr>
            </a:pPr>
            <a:r>
              <a:t>Green signal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8816" y="5705856"/>
            <a:ext cx="24688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Multiple relevant sources found in Milvus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53728" y="5486400"/>
            <a:ext cx="267004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45168" y="5541264"/>
            <a:ext cx="2487168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750" b="1" i="0">
                <a:solidFill>
                  <a:srgbClr val="B91C1C"/>
                </a:solidFill>
              </a:defRPr>
            </a:pPr>
            <a:r>
              <a:t>Red signal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8" y="5705856"/>
            <a:ext cx="2487168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0" i="0">
                <a:solidFill>
                  <a:srgbClr val="475569"/>
                </a:solidFill>
              </a:defRPr>
            </a:pPr>
            <a:r>
              <a:t>Retrieval returned nothing — embedding or indexing issue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" y="6327648"/>
            <a:ext cx="11686032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2336" y="6364224"/>
            <a:ext cx="11375136" cy="256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l"/>
            <a:r>
              <a:rPr b="1" sz="900">
                <a:solidFill>
                  <a:srgbClr val="B91C1C"/>
                </a:solidFill>
              </a:rPr>
              <a:t>⚠  Not posted for:  </a:t>
            </a:r>
            <a:r>
              <a:rPr sz="900">
                <a:solidFill>
                  <a:srgbClr val="475569"/>
                </a:solidFill>
              </a:rPr>
              <a:t>OUT_OF_SCOPE  (engine short-circuits before score block)   ·   Exact USER_SEARCH name match  (engine returns before score block via early-return on exact_uid)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3047238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238" y="6748272"/>
            <a:ext cx="3047238" cy="10972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6748272"/>
            <a:ext cx="3047238" cy="109728"/>
          </a:xfrm>
          <a:prstGeom prst="rect">
            <a:avLst/>
          </a:prstGeom>
          <a:solidFill>
            <a:srgbClr val="B46400"/>
          </a:solidFill>
          <a:ln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1714" y="6748272"/>
            <a:ext cx="3047238" cy="109728"/>
          </a:xfrm>
          <a:prstGeom prst="rect">
            <a:avLst/>
          </a:prstGeom>
          <a:solidFill>
            <a:srgbClr val="BE185D"/>
          </a:solidFill>
          <a:ln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11430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</a:defRPr>
            </a:pPr>
            <a:r>
              <a:t>Kubeflow Workspace Intelligence  ·  LLMOps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"/>
            <a:ext cx="1170432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 i="0">
                <a:solidFill>
                  <a:srgbClr val="111827"/>
                </a:solidFill>
              </a:defRPr>
            </a:pPr>
            <a:r>
              <a:t>Evaluation  –  Layer 2: RAGAS Scores &amp; Score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566928"/>
            <a:ext cx="11612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</a:defRPr>
            </a:pPr>
            <a:r>
              <a:t>Run in a background daemon thread  ·  results appear in Langfuse 10–30 seconds after the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868680"/>
            <a:ext cx="2779776" cy="2816352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960120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996696"/>
            <a:ext cx="2450592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faithfulness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1426464"/>
            <a:ext cx="252374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111827"/>
                </a:solidFill>
              </a:defRPr>
            </a:pPr>
            <a:r>
              <a:t>Answer grounded in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1645920"/>
            <a:ext cx="2523744" cy="104241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RAGAS metric  ·  eval model: gpt-4o</a:t>
            </a:r>
            <a:br/>
            <a:r>
              <a:t>Measures: is every claim in the</a:t>
            </a:r>
            <a:br/>
            <a:r>
              <a:t>answer supported by the retrieved</a:t>
            </a:r>
            <a:br/>
            <a:r>
              <a:t>chunks / summaries?</a:t>
            </a:r>
            <a:br/>
            <a:br/>
            <a:r>
              <a:t>Low → LLM hallucinated from 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5264" y="868680"/>
            <a:ext cx="2779776" cy="2816352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4992" y="960120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996696"/>
            <a:ext cx="2450592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answer_relevancy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426464"/>
            <a:ext cx="252374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111827"/>
                </a:solidFill>
              </a:defRPr>
            </a:pPr>
            <a:r>
              <a:t>Answer addresses the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1645920"/>
            <a:ext cx="2523744" cy="104241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RAGAS metric  ·  uses embeddings</a:t>
            </a:r>
            <a:br/>
            <a:r>
              <a:t>Measures: does the answer actually</a:t>
            </a:r>
            <a:br/>
            <a:r>
              <a:t>respond to what was asked?</a:t>
            </a:r>
            <a:br/>
            <a:br/>
            <a:r>
              <a:t>Low → answer is off-topic or vague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868680"/>
            <a:ext cx="2779776" cy="2816352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64224" y="960120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996696"/>
            <a:ext cx="2450592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context_precision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26464"/>
            <a:ext cx="252374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111827"/>
                </a:solidFill>
              </a:defRPr>
            </a:pPr>
            <a:r>
              <a:t>Top context is most relevant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645920"/>
            <a:ext cx="2523744" cy="104241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RAGAS metric  ·  eval model: gpt-4o</a:t>
            </a:r>
            <a:br/>
            <a:r>
              <a:t>Measures: are the highest-ranked</a:t>
            </a:r>
            <a:br/>
            <a:r>
              <a:t>chunks more relevant than lower ones?</a:t>
            </a:r>
            <a:br/>
            <a:br/>
            <a:r>
              <a:t>Low → wrong chunks ranked first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868680"/>
            <a:ext cx="2779776" cy="2816352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63455" y="960120"/>
            <a:ext cx="2560320" cy="384048"/>
          </a:xfrm>
          <a:prstGeom prst="roundRect">
            <a:avLst>
              <a:gd name="adj" fmla="val 4000"/>
            </a:avLst>
          </a:prstGeom>
          <a:solidFill>
            <a:srgbClr val="BE185D"/>
          </a:solidFill>
          <a:ln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19" y="996696"/>
            <a:ext cx="2450592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profile_relevance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1426464"/>
            <a:ext cx="252374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111827"/>
                </a:solidFill>
              </a:defRPr>
            </a:pPr>
            <a:r>
              <a:t>Profile answers the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1645920"/>
            <a:ext cx="2523744" cy="1042415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LLM judge  ·  eval model: gpt-4o</a:t>
            </a:r>
            <a:br/>
            <a:r>
              <a:t>Scores: 1.0 / 0.7 / 0.3 / 0.0</a:t>
            </a:r>
            <a:br/>
            <a:r>
              <a:t>Only for exact USER_SEARCH match</a:t>
            </a:r>
            <a:br/>
            <a:r>
              <a:t>(profile fetched directly, no generate)</a:t>
            </a:r>
            <a:br/>
            <a:br/>
            <a:r>
              <a:t>Low → wrong user resolved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032" y="3785615"/>
            <a:ext cx="2779776" cy="1097280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524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3858768"/>
            <a:ext cx="2487168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100" b="1" i="0">
                <a:solidFill>
                  <a:srgbClr val="BE185D"/>
                </a:solidFill>
              </a:defRPr>
            </a:pPr>
            <a:r>
              <a:t>user_feedback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" y="4114800"/>
            <a:ext cx="2487168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User-initiated via frontend thumbs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" y="4315968"/>
            <a:ext cx="2487168" cy="475488"/>
          </a:xfrm>
          <a:prstGeom prst="rect">
            <a:avLst/>
          </a:prstGeom>
          <a:noFill/>
        </p:spPr>
        <p:txBody>
          <a:bodyPr wrap="square" rIns="54864" tIns="73152" bIns="54864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475569"/>
                </a:solidFill>
              </a:defRPr>
            </a:pPr>
            <a:r>
              <a:t>👍  Thumbs-up   →  1.0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475569"/>
                </a:solidFill>
              </a:defRPr>
            </a:pPr>
            <a:r>
              <a:t>👎  Thumbs-down →  0.0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4748B"/>
                </a:solidFill>
              </a:defRPr>
            </a:pPr>
            <a:r>
              <a:t>POST /observability/feedback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55264" y="3785615"/>
            <a:ext cx="8924544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100" b="1" i="0">
                <a:solidFill>
                  <a:srgbClr val="111827"/>
                </a:solidFill>
              </a:defRPr>
            </a:pPr>
            <a:r>
              <a:t>Score Availability Matrix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55264" y="4096512"/>
            <a:ext cx="1755648" cy="603504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0128" y="4133087"/>
            <a:ext cx="1664207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Intent Path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4096512"/>
            <a:ext cx="1463039" cy="603504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3" y="4133087"/>
            <a:ext cx="1371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Layer 1</a:t>
            </a:r>
            <a:br/>
            <a:r>
              <a:t>(4 scores)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93408" y="4096512"/>
            <a:ext cx="1353312" cy="603504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8272" y="4133087"/>
            <a:ext cx="1261872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faithfulness</a:t>
            </a:r>
            <a:br/>
            <a:r>
              <a:t>answer_rel.</a:t>
            </a:r>
            <a:br/>
            <a:r>
              <a:t>ctx_precision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56448" y="4096512"/>
            <a:ext cx="1353312" cy="603504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4133087"/>
            <a:ext cx="1261872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profile</a:t>
            </a:r>
            <a:br/>
            <a:r>
              <a:t>relevance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19488" y="4096512"/>
            <a:ext cx="1371600" cy="603504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74352" y="4133087"/>
            <a:ext cx="12801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user</a:t>
            </a:r>
            <a:br/>
            <a:r>
              <a:t>feedback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100816" y="4096512"/>
            <a:ext cx="932688" cy="603504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55680" y="4133087"/>
            <a:ext cx="841248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LLM</a:t>
            </a:r>
            <a:br/>
            <a:r>
              <a:t>calls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55264" y="4736592"/>
            <a:ext cx="1755648" cy="256032"/>
          </a:xfrm>
          <a:prstGeom prst="rect">
            <a:avLst/>
          </a:prstGeom>
          <a:solidFill>
            <a:srgbClr val="DBEAFE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10128" y="4764024"/>
            <a:ext cx="1664207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</a:defRPr>
            </a:pPr>
            <a:r>
              <a:t>DOC_QA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4736592"/>
            <a:ext cx="1463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3" y="4764024"/>
            <a:ext cx="13716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93408" y="4736592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48272" y="476402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56448" y="4736592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11312" y="476402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B91C1C"/>
                </a:solidFill>
              </a:defRPr>
            </a:pPr>
            <a:r>
              <a:t>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19488" y="4736592"/>
            <a:ext cx="137160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74352" y="4764024"/>
            <a:ext cx="12801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100816" y="4736592"/>
            <a:ext cx="932688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55680" y="4764024"/>
            <a:ext cx="84124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11827"/>
                </a:solidFill>
              </a:defRPr>
            </a:pPr>
            <a: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55264" y="5010912"/>
            <a:ext cx="1755648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10128" y="5038344"/>
            <a:ext cx="1664207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16A34A"/>
                </a:solidFill>
              </a:defRPr>
            </a:pPr>
            <a:r>
              <a:t>ARTIFACT_SEARCH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5010912"/>
            <a:ext cx="1463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75503" y="5038344"/>
            <a:ext cx="13716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93408" y="5010912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48272" y="503834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56448" y="5010912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11312" y="503834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B91C1C"/>
                </a:solidFill>
              </a:defRPr>
            </a:pPr>
            <a:r>
              <a:t>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19488" y="5010912"/>
            <a:ext cx="137160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74352" y="5038344"/>
            <a:ext cx="12801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100816" y="5010912"/>
            <a:ext cx="932688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55680" y="5038344"/>
            <a:ext cx="84124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11827"/>
                </a:solidFill>
              </a:defRPr>
            </a:pPr>
            <a: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55264" y="5285231"/>
            <a:ext cx="1755648" cy="256032"/>
          </a:xfrm>
          <a:prstGeom prst="rect">
            <a:avLst/>
          </a:prstGeom>
          <a:solidFill>
            <a:srgbClr val="FEF3C7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10128" y="5312664"/>
            <a:ext cx="1664207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B46400"/>
                </a:solidFill>
              </a:defRPr>
            </a:pPr>
            <a:r>
              <a:t>USER_SEARCH (semantic)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0" y="5285231"/>
            <a:ext cx="1463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75503" y="5312664"/>
            <a:ext cx="13716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93408" y="5285231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48272" y="531266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56448" y="5285231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11312" y="531266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B91C1C"/>
                </a:solidFill>
              </a:defRPr>
            </a:pPr>
            <a:r>
              <a:t>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19488" y="5285231"/>
            <a:ext cx="137160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74352" y="5312664"/>
            <a:ext cx="12801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100816" y="5285231"/>
            <a:ext cx="932688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155680" y="5312664"/>
            <a:ext cx="84124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11827"/>
                </a:solidFill>
              </a:defRPr>
            </a:pPr>
            <a:r>
              <a:t>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55264" y="5559552"/>
            <a:ext cx="1755648" cy="256032"/>
          </a:xfrm>
          <a:prstGeom prst="rect">
            <a:avLst/>
          </a:prstGeom>
          <a:solidFill>
            <a:srgbClr val="FCE7F3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10128" y="5586984"/>
            <a:ext cx="1664207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BE185D"/>
                </a:solidFill>
              </a:defRPr>
            </a:pPr>
            <a:r>
              <a:t>USER_SEARCH (exact)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0640" y="5559552"/>
            <a:ext cx="1463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75503" y="5586984"/>
            <a:ext cx="13716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B91C1C"/>
                </a:solidFill>
              </a:defRPr>
            </a:pPr>
            <a:r>
              <a:t>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93408" y="5559552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48272" y="558698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B91C1C"/>
                </a:solidFill>
              </a:defRPr>
            </a:pPr>
            <a:r>
              <a:t>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56448" y="5559552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11312" y="558698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619488" y="5559552"/>
            <a:ext cx="137160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74352" y="5586984"/>
            <a:ext cx="12801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100816" y="5559552"/>
            <a:ext cx="932688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155680" y="5586984"/>
            <a:ext cx="84124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11827"/>
                </a:solidFill>
              </a:defRPr>
            </a:pPr>
            <a: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55264" y="5833872"/>
            <a:ext cx="1755648" cy="256032"/>
          </a:xfrm>
          <a:prstGeom prst="rect">
            <a:avLst/>
          </a:prstGeom>
          <a:solidFill>
            <a:srgbClr val="EDE9FE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310128" y="5861304"/>
            <a:ext cx="1664207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6D28D9"/>
                </a:solidFill>
              </a:defRPr>
            </a:pPr>
            <a:r>
              <a:t>HYBRID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20640" y="5833872"/>
            <a:ext cx="1463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75503" y="5861304"/>
            <a:ext cx="13716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93408" y="5833872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48272" y="586130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156448" y="5833872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11312" y="586130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B91C1C"/>
                </a:solidFill>
              </a:defRPr>
            </a:pPr>
            <a:r>
              <a:t>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619488" y="5833872"/>
            <a:ext cx="137160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674352" y="5861304"/>
            <a:ext cx="12801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100816" y="5833872"/>
            <a:ext cx="932688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155680" y="5861304"/>
            <a:ext cx="84124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11827"/>
                </a:solidFill>
              </a:defRPr>
            </a:pPr>
            <a: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55264" y="6108192"/>
            <a:ext cx="1755648" cy="256032"/>
          </a:xfrm>
          <a:prstGeom prst="rect">
            <a:avLst/>
          </a:prstGeom>
          <a:solidFill>
            <a:srgbClr val="FEE2E2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310128" y="6135624"/>
            <a:ext cx="1664207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900" b="1" i="0">
                <a:solidFill>
                  <a:srgbClr val="B91C1C"/>
                </a:solidFill>
              </a:defRPr>
            </a:pPr>
            <a:r>
              <a:t>OUT_OF_SCOPE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120640" y="6108192"/>
            <a:ext cx="1463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175503" y="6135624"/>
            <a:ext cx="13716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B91C1C"/>
                </a:solidFill>
              </a:defRPr>
            </a:pPr>
            <a:r>
              <a:t>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693408" y="6108192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748272" y="613562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B91C1C"/>
                </a:solidFill>
              </a:defRPr>
            </a:pPr>
            <a:r>
              <a:t>–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156448" y="6108192"/>
            <a:ext cx="1353312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211312" y="6135624"/>
            <a:ext cx="12618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B91C1C"/>
                </a:solidFill>
              </a:defRPr>
            </a:pPr>
            <a:r>
              <a:t>–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19488" y="6108192"/>
            <a:ext cx="137160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74352" y="6135624"/>
            <a:ext cx="12801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B91C1C"/>
                </a:solidFill>
              </a:defRPr>
            </a:pPr>
            <a:r>
              <a:t>–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100816" y="6108192"/>
            <a:ext cx="932688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155680" y="6135624"/>
            <a:ext cx="84124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 i="0">
                <a:solidFill>
                  <a:srgbClr val="111827"/>
                </a:solidFill>
              </a:defRPr>
            </a:pPr>
            <a: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55264" y="6382512"/>
            <a:ext cx="8924544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328416" y="6419088"/>
            <a:ext cx="8778240" cy="219456"/>
          </a:xfrm>
          <a:prstGeom prst="rect">
            <a:avLst/>
          </a:prstGeom>
          <a:noFill/>
        </p:spPr>
        <p:txBody>
          <a:bodyPr wrap="none" lIns="36576" tIns="9144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</a:rPr>
              <a:t>Green: </a:t>
            </a:r>
            <a:r>
              <a:rPr sz="800" b="0">
                <a:solidFill>
                  <a:srgbClr val="475569"/>
                </a:solidFill>
              </a:rPr>
              <a:t>faithfulness &gt; 0.70  |  answer_relevancy &gt; 0.75  |  intent_confidence &gt; 0.80  |  has_content = 1.0   </a:t>
            </a:r>
            <a:r>
              <a:rPr sz="800" b="1">
                <a:solidFill>
                  <a:srgbClr val="B91C1C"/>
                </a:solidFill>
              </a:rPr>
              <a:t>Red: </a:t>
            </a:r>
            <a:r>
              <a:rPr sz="800" b="0">
                <a:solidFill>
                  <a:srgbClr val="475569"/>
                </a:solidFill>
              </a:rPr>
              <a:t>faithfulness &lt; 0.50  |  has_content = 0.0  |  source_count = 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