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mirrors the On-Prem LLM Serving diagram:</a:t>
            </a:r>
          </a:p>
          <a:p>
            <a:r>
              <a:t>LEFT = Observability Plane (Langfuse for traces/scores, Prometheus+Grafana for ops metrics, RAGAS for eval)</a:t>
            </a:r>
          </a:p>
          <a:p>
            <a:r>
              <a:t>RIGHT-TOP = Control Plane (Next.js BFF → FastAPI → ChatEngine intent router → LiteLLM AI Gateway)</a:t>
            </a:r>
          </a:p>
          <a:p>
            <a:r>
              <a:t>RIGHT-BOTTOM = Data Plane (4 Milvus collections in 2x2 + OpenAI API external)</a:t>
            </a:r>
          </a:p>
          <a:p>
            <a:r>
              <a:t>BOTTOM-LEFT = Supporting Infrastructure (Docker, Airflow ingestion DAG)</a:t>
            </a:r>
          </a:p>
          <a:p>
            <a:r>
              <a:t>Key data flow: User → Next.js → FastAPI → LiteLLM → OpenAI/Milvus → response</a:t>
            </a:r>
          </a:p>
          <a:p>
            <a:r>
              <a:t>Observability: LiteLLM sends callback to Langfuse; RAGAS runs async post-response.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54864"/>
            <a:ext cx="11887200" cy="4754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2600" b="1" i="0">
                <a:solidFill>
                  <a:srgbClr val="111827"/>
                </a:solidFill>
              </a:defRPr>
            </a:pPr>
            <a:r>
              <a:t>Kubeflow Workspace Intelligence —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576072"/>
            <a:ext cx="4069080" cy="5413248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74904" y="809244"/>
            <a:ext cx="73152" cy="73152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58952"/>
            <a:ext cx="3593592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900" b="0" i="0">
                <a:solidFill>
                  <a:srgbClr val="111827"/>
                </a:solidFill>
              </a:defRPr>
            </a:pPr>
            <a:r>
              <a:t>request / response traces</a:t>
            </a:r>
          </a:p>
        </p:txBody>
      </p:sp>
      <p:sp>
        <p:nvSpPr>
          <p:cNvPr id="6" name="Oval 5"/>
          <p:cNvSpPr/>
          <p:nvPr/>
        </p:nvSpPr>
        <p:spPr>
          <a:xfrm>
            <a:off x="374904" y="1019556"/>
            <a:ext cx="73152" cy="73152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69264"/>
            <a:ext cx="3593592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900" b="0" i="0">
                <a:solidFill>
                  <a:srgbClr val="111827"/>
                </a:solidFill>
              </a:defRPr>
            </a:pPr>
            <a:r>
              <a:t>scores (Layer 1 heuristics + RAGAS)</a:t>
            </a:r>
          </a:p>
        </p:txBody>
      </p:sp>
      <p:sp>
        <p:nvSpPr>
          <p:cNvPr id="8" name="Oval 7"/>
          <p:cNvSpPr/>
          <p:nvPr/>
        </p:nvSpPr>
        <p:spPr>
          <a:xfrm>
            <a:off x="374904" y="1229868"/>
            <a:ext cx="73152" cy="73152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79576"/>
            <a:ext cx="3593592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900" b="0" i="0">
                <a:solidFill>
                  <a:srgbClr val="111827"/>
                </a:solidFill>
              </a:defRPr>
            </a:pPr>
            <a:r>
              <a:t>token usage &amp; cost per call</a:t>
            </a:r>
          </a:p>
        </p:txBody>
      </p:sp>
      <p:sp>
        <p:nvSpPr>
          <p:cNvPr id="10" name="Oval 9"/>
          <p:cNvSpPr/>
          <p:nvPr/>
        </p:nvSpPr>
        <p:spPr>
          <a:xfrm>
            <a:off x="374904" y="1440180"/>
            <a:ext cx="73152" cy="73152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89888"/>
            <a:ext cx="3593592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900" b="0" i="0">
                <a:solidFill>
                  <a:srgbClr val="111827"/>
                </a:solidFill>
              </a:defRPr>
            </a:pPr>
            <a:r>
              <a:t>intent, confidence, source count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39" y="1700784"/>
            <a:ext cx="2331720" cy="566928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36576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Langfuse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874519"/>
            <a:ext cx="65836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</a:defRPr>
            </a:pPr>
            <a:r>
              <a:t>callback</a:t>
            </a:r>
          </a:p>
        </p:txBody>
      </p:sp>
      <p:sp>
        <p:nvSpPr>
          <p:cNvPr id="14" name="Oval 13"/>
          <p:cNvSpPr/>
          <p:nvPr/>
        </p:nvSpPr>
        <p:spPr>
          <a:xfrm>
            <a:off x="374904" y="2546604"/>
            <a:ext cx="73152" cy="73152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496312"/>
            <a:ext cx="3593592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900" b="0" i="0">
                <a:solidFill>
                  <a:srgbClr val="111827"/>
                </a:solidFill>
              </a:defRPr>
            </a:pPr>
            <a:r>
              <a:t>API latency (p50 / p95 / p99)</a:t>
            </a:r>
          </a:p>
        </p:txBody>
      </p:sp>
      <p:sp>
        <p:nvSpPr>
          <p:cNvPr id="16" name="Oval 15"/>
          <p:cNvSpPr/>
          <p:nvPr/>
        </p:nvSpPr>
        <p:spPr>
          <a:xfrm>
            <a:off x="374904" y="2756916"/>
            <a:ext cx="73152" cy="73152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706624"/>
            <a:ext cx="3593592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900" b="0" i="0">
                <a:solidFill>
                  <a:srgbClr val="111827"/>
                </a:solidFill>
              </a:defRPr>
            </a:pPr>
            <a:r>
              <a:t>request throughput &amp; error rate</a:t>
            </a:r>
          </a:p>
        </p:txBody>
      </p:sp>
      <p:sp>
        <p:nvSpPr>
          <p:cNvPr id="18" name="Oval 17"/>
          <p:cNvSpPr/>
          <p:nvPr/>
        </p:nvSpPr>
        <p:spPr>
          <a:xfrm>
            <a:off x="374904" y="2967228"/>
            <a:ext cx="73152" cy="73152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916936"/>
            <a:ext cx="3593592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900" b="0" i="0">
                <a:solidFill>
                  <a:srgbClr val="111827"/>
                </a:solidFill>
              </a:defRPr>
            </a:pPr>
            <a:r>
              <a:t>LiteLLM proxy queue depth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39" y="3227832"/>
            <a:ext cx="2331720" cy="566928"/>
          </a:xfrm>
          <a:prstGeom prst="rect">
            <a:avLst/>
          </a:prstGeom>
          <a:solidFill>
            <a:srgbClr val="DCFCE7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36576"/>
          <a:lstStyle/>
          <a:p>
            <a:pPr algn="ctr">
              <a:defRPr sz="1200" b="1">
                <a:solidFill>
                  <a:srgbClr val="16A34A"/>
                </a:solidFill>
              </a:defRPr>
            </a:pPr>
            <a:r>
              <a:t>Prometheus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167128" y="3794760"/>
            <a:ext cx="0" cy="210312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005839" y="4005072"/>
            <a:ext cx="2331720" cy="566928"/>
          </a:xfrm>
          <a:prstGeom prst="rect">
            <a:avLst/>
          </a:prstGeom>
          <a:solidFill>
            <a:srgbClr val="FEF3C7"/>
          </a:solidFill>
          <a:ln w="15240">
            <a:solidFill>
              <a:srgbClr val="B4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36576"/>
          <a:lstStyle/>
          <a:p>
            <a:pPr algn="ctr">
              <a:defRPr sz="1200" b="1">
                <a:solidFill>
                  <a:srgbClr val="B46400"/>
                </a:solidFill>
              </a:defRPr>
            </a:pPr>
            <a:r>
              <a:t>Grafana</a:t>
            </a:r>
          </a:p>
        </p:txBody>
      </p:sp>
      <p:sp>
        <p:nvSpPr>
          <p:cNvPr id="23" name="Oval 22"/>
          <p:cNvSpPr/>
          <p:nvPr/>
        </p:nvSpPr>
        <p:spPr>
          <a:xfrm>
            <a:off x="374904" y="4741164"/>
            <a:ext cx="73152" cy="73152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690872"/>
            <a:ext cx="3593592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900" b="0" i="0">
                <a:solidFill>
                  <a:srgbClr val="111827"/>
                </a:solidFill>
              </a:defRPr>
            </a:pPr>
            <a:r>
              <a:t>latency &amp; cost dashboards</a:t>
            </a:r>
          </a:p>
        </p:txBody>
      </p:sp>
      <p:sp>
        <p:nvSpPr>
          <p:cNvPr id="25" name="Oval 24"/>
          <p:cNvSpPr/>
          <p:nvPr/>
        </p:nvSpPr>
        <p:spPr>
          <a:xfrm>
            <a:off x="374904" y="4951476"/>
            <a:ext cx="73152" cy="73152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901184"/>
            <a:ext cx="3593592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900" b="0" i="0">
                <a:solidFill>
                  <a:srgbClr val="111827"/>
                </a:solidFill>
              </a:defRPr>
            </a:pPr>
            <a:r>
              <a:t>eval score trends (faithfulness,</a:t>
            </a:r>
          </a:p>
        </p:txBody>
      </p:sp>
      <p:sp>
        <p:nvSpPr>
          <p:cNvPr id="27" name="Oval 26"/>
          <p:cNvSpPr/>
          <p:nvPr/>
        </p:nvSpPr>
        <p:spPr>
          <a:xfrm>
            <a:off x="374904" y="5161788"/>
            <a:ext cx="73152" cy="73152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111496"/>
            <a:ext cx="3593592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900" b="0" i="0">
                <a:solidFill>
                  <a:srgbClr val="111827"/>
                </a:solidFill>
              </a:defRPr>
            </a:pPr>
            <a:r>
              <a:t>  answer relevancy, context prec.)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4560" y="5733288"/>
            <a:ext cx="192024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defRPr sz="1000" b="1" i="0">
                <a:solidFill>
                  <a:srgbClr val="B91C1C"/>
                </a:solidFill>
              </a:defRPr>
            </a:pPr>
            <a:r>
              <a:t>Observability Plane</a:t>
            </a:r>
          </a:p>
        </p:txBody>
      </p:sp>
      <p:sp>
        <p:nvSpPr>
          <p:cNvPr id="30" name="Oval 29"/>
          <p:cNvSpPr/>
          <p:nvPr/>
        </p:nvSpPr>
        <p:spPr>
          <a:xfrm>
            <a:off x="6812280" y="585216"/>
            <a:ext cx="256032" cy="256032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6940296" y="841248"/>
            <a:ext cx="0" cy="402336"/>
          </a:xfrm>
          <a:prstGeom prst="line">
            <a:avLst/>
          </a:prstGeom>
          <a:ln w="2286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647688" y="950976"/>
            <a:ext cx="585216" cy="0"/>
          </a:xfrm>
          <a:prstGeom prst="line">
            <a:avLst/>
          </a:prstGeom>
          <a:ln w="1778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6720840" y="1243584"/>
            <a:ext cx="219456" cy="256032"/>
          </a:xfrm>
          <a:prstGeom prst="line">
            <a:avLst/>
          </a:prstGeom>
          <a:ln w="1778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40296" y="1243584"/>
            <a:ext cx="219456" cy="256032"/>
          </a:xfrm>
          <a:prstGeom prst="line">
            <a:avLst/>
          </a:prstGeom>
          <a:ln w="1778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647688" y="1517904"/>
            <a:ext cx="56692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850" b="0" i="0">
                <a:solidFill>
                  <a:srgbClr val="111827"/>
                </a:solidFill>
              </a:defRPr>
            </a:pPr>
            <a:r>
              <a:t>Actor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940296" y="1700784"/>
            <a:ext cx="0" cy="301752"/>
          </a:xfrm>
          <a:prstGeom prst="line">
            <a:avLst/>
          </a:prstGeom>
          <a:ln w="190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646920" y="621792"/>
            <a:ext cx="2331720" cy="384048"/>
          </a:xfrm>
          <a:prstGeom prst="rect">
            <a:avLst/>
          </a:prstGeom>
          <a:noFill/>
          <a:ln w="1270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8360" y="649224"/>
            <a:ext cx="21488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900" b="0" i="0">
                <a:solidFill>
                  <a:srgbClr val="64748B"/>
                </a:solidFill>
              </a:defRPr>
            </a:pPr>
            <a:r>
              <a:t>Client  ( sdk, curl, Next.js BFF )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817352" y="1005840"/>
            <a:ext cx="0" cy="41148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4389120" y="1463040"/>
            <a:ext cx="7662672" cy="3063240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760720" y="1664208"/>
            <a:ext cx="2331720" cy="566928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36576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Next.js  BFF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06840" y="1664208"/>
            <a:ext cx="2633472" cy="384048"/>
          </a:xfrm>
          <a:prstGeom prst="rect">
            <a:avLst/>
          </a:prstGeom>
          <a:noFill/>
          <a:ln w="1143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52559" y="1700784"/>
            <a:ext cx="2542032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850" b="0" i="0">
                <a:solidFill>
                  <a:srgbClr val="64748B"/>
                </a:solidFill>
              </a:defRPr>
            </a:pPr>
            <a:r>
              <a:t>( TLS / Global Rate Limit )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931152" y="2231136"/>
            <a:ext cx="0" cy="274320"/>
          </a:xfrm>
          <a:prstGeom prst="line">
            <a:avLst/>
          </a:prstGeom>
          <a:ln w="190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5760720" y="2505456"/>
            <a:ext cx="2331720" cy="621792"/>
          </a:xfrm>
          <a:prstGeom prst="rect">
            <a:avLst/>
          </a:prstGeom>
          <a:solidFill>
            <a:srgbClr val="DCFCE7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36576"/>
          <a:lstStyle/>
          <a:p>
            <a:pPr algn="ctr">
              <a:defRPr sz="1050" b="1">
                <a:solidFill>
                  <a:srgbClr val="16A34A"/>
                </a:solidFill>
              </a:defRPr>
            </a:pPr>
            <a:r>
              <a:t>FastAPI</a:t>
            </a:r>
            <a:br/>
            <a:r>
              <a:t>Retrieval API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931152" y="3127248"/>
            <a:ext cx="0" cy="274320"/>
          </a:xfrm>
          <a:prstGeom prst="line">
            <a:avLst/>
          </a:prstGeom>
          <a:ln w="190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5760720" y="3401568"/>
            <a:ext cx="2331720" cy="621792"/>
          </a:xfrm>
          <a:prstGeom prst="rect">
            <a:avLst/>
          </a:prstGeom>
          <a:solidFill>
            <a:srgbClr val="EDE9FE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36576"/>
          <a:lstStyle/>
          <a:p>
            <a:pPr algn="ctr">
              <a:defRPr sz="1200" b="1">
                <a:solidFill>
                  <a:srgbClr val="6D28D9"/>
                </a:solidFill>
              </a:defRPr>
            </a:pPr>
            <a:r>
              <a:t>LiteLLM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21040" y="2834640"/>
            <a:ext cx="3429000" cy="1600200"/>
          </a:xfrm>
          <a:prstGeom prst="rect">
            <a:avLst/>
          </a:prstGeom>
          <a:noFill/>
          <a:ln w="1143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12480" y="2852928"/>
            <a:ext cx="32461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950" b="1" i="0">
                <a:solidFill>
                  <a:srgbClr val="6D28D9"/>
                </a:solidFill>
              </a:defRPr>
            </a:pPr>
            <a:r>
              <a:t>AI Gateway</a:t>
            </a:r>
          </a:p>
        </p:txBody>
      </p:sp>
      <p:sp>
        <p:nvSpPr>
          <p:cNvPr id="50" name="Oval 49"/>
          <p:cNvSpPr/>
          <p:nvPr/>
        </p:nvSpPr>
        <p:spPr>
          <a:xfrm>
            <a:off x="8430767" y="3131820"/>
            <a:ext cx="73152" cy="73152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58784" y="3081528"/>
            <a:ext cx="3044951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880" b="0" i="0">
                <a:solidFill>
                  <a:srgbClr val="111827"/>
                </a:solidFill>
              </a:defRPr>
            </a:pPr>
            <a:r>
              <a:t>Auth &amp; API key management</a:t>
            </a:r>
          </a:p>
        </p:txBody>
      </p:sp>
      <p:sp>
        <p:nvSpPr>
          <p:cNvPr id="52" name="Oval 51"/>
          <p:cNvSpPr/>
          <p:nvPr/>
        </p:nvSpPr>
        <p:spPr>
          <a:xfrm>
            <a:off x="8430767" y="3342132"/>
            <a:ext cx="73152" cy="73152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58784" y="3291840"/>
            <a:ext cx="3044951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880" b="0" i="0">
                <a:solidFill>
                  <a:srgbClr val="111827"/>
                </a:solidFill>
              </a:defRPr>
            </a:pPr>
            <a:r>
              <a:t>Model routing &amp; fallbacks</a:t>
            </a:r>
          </a:p>
        </p:txBody>
      </p:sp>
      <p:sp>
        <p:nvSpPr>
          <p:cNvPr id="54" name="Oval 53"/>
          <p:cNvSpPr/>
          <p:nvPr/>
        </p:nvSpPr>
        <p:spPr>
          <a:xfrm>
            <a:off x="8430767" y="3552444"/>
            <a:ext cx="73152" cy="73152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58784" y="3502152"/>
            <a:ext cx="3044951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880" b="0" i="0">
                <a:solidFill>
                  <a:srgbClr val="111827"/>
                </a:solidFill>
              </a:defRPr>
            </a:pPr>
            <a:r>
              <a:t>Observability callbacks</a:t>
            </a:r>
          </a:p>
        </p:txBody>
      </p:sp>
      <p:sp>
        <p:nvSpPr>
          <p:cNvPr id="56" name="Oval 55"/>
          <p:cNvSpPr/>
          <p:nvPr/>
        </p:nvSpPr>
        <p:spPr>
          <a:xfrm>
            <a:off x="8430767" y="3762756"/>
            <a:ext cx="73152" cy="73152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58784" y="3712464"/>
            <a:ext cx="3044951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880" b="0" i="0">
                <a:solidFill>
                  <a:srgbClr val="111827"/>
                </a:solidFill>
              </a:defRPr>
            </a:pPr>
            <a:r>
              <a:t>Model-aware rate limiting</a:t>
            </a:r>
          </a:p>
        </p:txBody>
      </p:sp>
      <p:sp>
        <p:nvSpPr>
          <p:cNvPr id="58" name="Oval 57"/>
          <p:cNvSpPr/>
          <p:nvPr/>
        </p:nvSpPr>
        <p:spPr>
          <a:xfrm>
            <a:off x="8430767" y="3973068"/>
            <a:ext cx="73152" cy="73152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58784" y="3922776"/>
            <a:ext cx="3044951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880" b="0" i="0">
                <a:solidFill>
                  <a:srgbClr val="111827"/>
                </a:solidFill>
              </a:defRPr>
            </a:pPr>
            <a:r>
              <a:t>Request / response logging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8092440" y="3712464"/>
            <a:ext cx="228600" cy="0"/>
          </a:xfrm>
          <a:prstGeom prst="line">
            <a:avLst/>
          </a:prstGeom>
          <a:ln w="1524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8321040" y="1645920"/>
            <a:ext cx="3401568" cy="1051560"/>
          </a:xfrm>
          <a:prstGeom prst="rect">
            <a:avLst/>
          </a:prstGeom>
          <a:noFill/>
          <a:ln w="1143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412480" y="1664208"/>
            <a:ext cx="321868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950" b="1" i="0">
                <a:solidFill>
                  <a:srgbClr val="16A34A"/>
                </a:solidFill>
              </a:defRPr>
            </a:pPr>
            <a:r>
              <a:t>ChatEngine Orchestrator</a:t>
            </a:r>
          </a:p>
        </p:txBody>
      </p:sp>
      <p:sp>
        <p:nvSpPr>
          <p:cNvPr id="63" name="Oval 62"/>
          <p:cNvSpPr/>
          <p:nvPr/>
        </p:nvSpPr>
        <p:spPr>
          <a:xfrm>
            <a:off x="8430767" y="1943100"/>
            <a:ext cx="73152" cy="7315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558784" y="1892808"/>
            <a:ext cx="2999232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880" b="0" i="0">
                <a:solidFill>
                  <a:srgbClr val="111827"/>
                </a:solidFill>
              </a:defRPr>
            </a:pPr>
            <a:r>
              <a:t>Intent classifier (DOC_QA / ARTIFACT /</a:t>
            </a:r>
          </a:p>
        </p:txBody>
      </p:sp>
      <p:sp>
        <p:nvSpPr>
          <p:cNvPr id="65" name="Oval 64"/>
          <p:cNvSpPr/>
          <p:nvPr/>
        </p:nvSpPr>
        <p:spPr>
          <a:xfrm>
            <a:off x="8430767" y="2153412"/>
            <a:ext cx="73152" cy="7315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558784" y="2103120"/>
            <a:ext cx="2999232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880" b="0" i="0">
                <a:solidFill>
                  <a:srgbClr val="111827"/>
                </a:solidFill>
              </a:defRPr>
            </a:pPr>
            <a:r>
              <a:t>  USER_SEARCH / HYBRID / OUT_OF_SCOPE)</a:t>
            </a:r>
          </a:p>
        </p:txBody>
      </p:sp>
      <p:sp>
        <p:nvSpPr>
          <p:cNvPr id="67" name="Oval 66"/>
          <p:cNvSpPr/>
          <p:nvPr/>
        </p:nvSpPr>
        <p:spPr>
          <a:xfrm>
            <a:off x="8430767" y="2363724"/>
            <a:ext cx="73152" cy="7315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58784" y="2313432"/>
            <a:ext cx="2999232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880" b="0" i="0">
                <a:solidFill>
                  <a:srgbClr val="111827"/>
                </a:solidFill>
              </a:defRPr>
            </a:pPr>
            <a:r>
              <a:t>Query rewriter + retriever router</a:t>
            </a:r>
          </a:p>
        </p:txBody>
      </p:sp>
      <p:sp>
        <p:nvSpPr>
          <p:cNvPr id="69" name="Oval 68"/>
          <p:cNvSpPr/>
          <p:nvPr/>
        </p:nvSpPr>
        <p:spPr>
          <a:xfrm>
            <a:off x="8430767" y="2574036"/>
            <a:ext cx="73152" cy="7315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558784" y="2523744"/>
            <a:ext cx="2999232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880" b="0" i="0">
                <a:solidFill>
                  <a:srgbClr val="111827"/>
                </a:solidFill>
              </a:defRPr>
            </a:pPr>
            <a:r>
              <a:t>Prompt builder + answer formatter</a:t>
            </a:r>
          </a:p>
        </p:txBody>
      </p:sp>
      <p:cxnSp>
        <p:nvCxnSpPr>
          <p:cNvPr id="71" name="Connector 70"/>
          <p:cNvCxnSpPr/>
          <p:nvPr/>
        </p:nvCxnSpPr>
        <p:spPr>
          <a:xfrm flipV="1">
            <a:off x="8092440" y="2286000"/>
            <a:ext cx="228600" cy="530352"/>
          </a:xfrm>
          <a:prstGeom prst="line">
            <a:avLst/>
          </a:prstGeom>
          <a:ln w="1524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10040112" y="4270248"/>
            <a:ext cx="192024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defRPr sz="1000" b="1" i="0">
                <a:solidFill>
                  <a:srgbClr val="B91C1C"/>
                </a:solidFill>
              </a:defRPr>
            </a:pPr>
            <a:r>
              <a:t>Control Plane</a:t>
            </a:r>
          </a:p>
        </p:txBody>
      </p:sp>
      <p:cxnSp>
        <p:nvCxnSpPr>
          <p:cNvPr id="73" name="Connector 72"/>
          <p:cNvCxnSpPr/>
          <p:nvPr/>
        </p:nvCxnSpPr>
        <p:spPr>
          <a:xfrm flipH="1" flipV="1">
            <a:off x="4206240" y="1984248"/>
            <a:ext cx="1554480" cy="1728216"/>
          </a:xfrm>
          <a:prstGeom prst="line">
            <a:avLst/>
          </a:prstGeom>
          <a:ln w="1651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4389120" y="4663440"/>
            <a:ext cx="7662672" cy="2011680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6931152" y="4526280"/>
            <a:ext cx="0" cy="320040"/>
          </a:xfrm>
          <a:prstGeom prst="line">
            <a:avLst/>
          </a:prstGeom>
          <a:ln w="1905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4590288" y="4919472"/>
            <a:ext cx="2331720" cy="685800"/>
          </a:xfrm>
          <a:prstGeom prst="rect">
            <a:avLst/>
          </a:prstGeom>
          <a:solidFill>
            <a:srgbClr val="FEF3C7"/>
          </a:solidFill>
          <a:ln w="15240">
            <a:solidFill>
              <a:srgbClr val="B4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663440" y="4974336"/>
            <a:ext cx="2185415" cy="594360"/>
          </a:xfrm>
          <a:prstGeom prst="rect">
            <a:avLst/>
          </a:prstGeom>
          <a:noFill/>
        </p:spPr>
        <p:txBody>
          <a:bodyPr wrap="square" lIns="73152" rIns="45720" tIns="54864" bIns="36576" anchor="t">
            <a:spAutoFit/>
          </a:bodyPr>
          <a:lstStyle/>
          <a:p>
            <a:pPr algn="l">
              <a:spcAft>
                <a:spcPts val="100"/>
              </a:spcAft>
              <a:defRPr sz="950" b="1">
                <a:solidFill>
                  <a:srgbClr val="B46400"/>
                </a:solidFill>
              </a:defRPr>
            </a:pPr>
            <a:r>
              <a:t>kubeflow_artifacts</a:t>
            </a:r>
          </a:p>
          <a:p>
            <a:pPr algn="l">
              <a:spcAft>
                <a:spcPts val="100"/>
              </a:spcAft>
              <a:defRPr sz="850" b="0">
                <a:solidFill>
                  <a:srgbClr val="64748B"/>
                </a:solidFill>
              </a:defRPr>
            </a:pPr>
            <a:r>
              <a:t>Artifact semantic search</a:t>
            </a:r>
            <a:br/>
            <a:r>
              <a:t>(raw chunks, HNSW index)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123175" y="4919472"/>
            <a:ext cx="2331720" cy="685800"/>
          </a:xfrm>
          <a:prstGeom prst="rect">
            <a:avLst/>
          </a:prstGeom>
          <a:solidFill>
            <a:srgbClr val="FEF3C7"/>
          </a:solidFill>
          <a:ln w="15240">
            <a:solidFill>
              <a:srgbClr val="B4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196327" y="4974336"/>
            <a:ext cx="2185415" cy="594360"/>
          </a:xfrm>
          <a:prstGeom prst="rect">
            <a:avLst/>
          </a:prstGeom>
          <a:noFill/>
        </p:spPr>
        <p:txBody>
          <a:bodyPr wrap="square" lIns="73152" rIns="45720" tIns="54864" bIns="36576" anchor="t">
            <a:spAutoFit/>
          </a:bodyPr>
          <a:lstStyle/>
          <a:p>
            <a:pPr algn="l">
              <a:spcAft>
                <a:spcPts val="100"/>
              </a:spcAft>
              <a:defRPr sz="950" b="1">
                <a:solidFill>
                  <a:srgbClr val="B46400"/>
                </a:solidFill>
              </a:defRPr>
            </a:pPr>
            <a:r>
              <a:t>artifact_summaries</a:t>
            </a:r>
          </a:p>
          <a:p>
            <a:pPr algn="l">
              <a:spcAft>
                <a:spcPts val="100"/>
              </a:spcAft>
              <a:defRPr sz="850" b="0">
                <a:solidFill>
                  <a:srgbClr val="64748B"/>
                </a:solidFill>
              </a:defRPr>
            </a:pPr>
            <a:r>
              <a:t>LLM-summarised notebooks</a:t>
            </a:r>
            <a:br/>
            <a:r>
              <a:t>&amp; scripts (gpt-4o-mini)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90288" y="5769864"/>
            <a:ext cx="2331720" cy="685800"/>
          </a:xfrm>
          <a:prstGeom prst="rect">
            <a:avLst/>
          </a:prstGeom>
          <a:solidFill>
            <a:srgbClr val="FEF3C7"/>
          </a:solidFill>
          <a:ln w="15240">
            <a:solidFill>
              <a:srgbClr val="B4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663440" y="5824727"/>
            <a:ext cx="2185415" cy="594360"/>
          </a:xfrm>
          <a:prstGeom prst="rect">
            <a:avLst/>
          </a:prstGeom>
          <a:noFill/>
        </p:spPr>
        <p:txBody>
          <a:bodyPr wrap="square" lIns="73152" rIns="45720" tIns="54864" bIns="36576" anchor="t">
            <a:spAutoFit/>
          </a:bodyPr>
          <a:lstStyle/>
          <a:p>
            <a:pPr algn="l">
              <a:spcAft>
                <a:spcPts val="100"/>
              </a:spcAft>
              <a:defRPr sz="950" b="1">
                <a:solidFill>
                  <a:srgbClr val="B46400"/>
                </a:solidFill>
              </a:defRPr>
            </a:pPr>
            <a:r>
              <a:t>user_profiles</a:t>
            </a:r>
          </a:p>
          <a:p>
            <a:pPr algn="l">
              <a:spcAft>
                <a:spcPts val="100"/>
              </a:spcAft>
              <a:defRPr sz="850" b="0">
                <a:solidFill>
                  <a:srgbClr val="64748B"/>
                </a:solidFill>
              </a:defRPr>
            </a:pPr>
            <a:r>
              <a:t>Workspace owner expertise</a:t>
            </a:r>
            <a:br/>
            <a:r>
              <a:t>profiles (gpt-4o-mini)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123175" y="5769864"/>
            <a:ext cx="2331720" cy="685800"/>
          </a:xfrm>
          <a:prstGeom prst="rect">
            <a:avLst/>
          </a:prstGeom>
          <a:solidFill>
            <a:srgbClr val="FEF3C7"/>
          </a:solidFill>
          <a:ln w="15240">
            <a:solidFill>
              <a:srgbClr val="B4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196327" y="5824727"/>
            <a:ext cx="2185415" cy="594360"/>
          </a:xfrm>
          <a:prstGeom prst="rect">
            <a:avLst/>
          </a:prstGeom>
          <a:noFill/>
        </p:spPr>
        <p:txBody>
          <a:bodyPr wrap="square" lIns="73152" rIns="45720" tIns="54864" bIns="36576" anchor="t">
            <a:spAutoFit/>
          </a:bodyPr>
          <a:lstStyle/>
          <a:p>
            <a:pPr algn="l">
              <a:spcAft>
                <a:spcPts val="100"/>
              </a:spcAft>
              <a:defRPr sz="950" b="1">
                <a:solidFill>
                  <a:srgbClr val="B46400"/>
                </a:solidFill>
              </a:defRPr>
            </a:pPr>
            <a:r>
              <a:t>platform_docs</a:t>
            </a:r>
          </a:p>
          <a:p>
            <a:pPr algn="l">
              <a:spcAft>
                <a:spcPts val="100"/>
              </a:spcAft>
              <a:defRPr sz="850" b="0">
                <a:solidFill>
                  <a:srgbClr val="64748B"/>
                </a:solidFill>
              </a:defRPr>
            </a:pPr>
            <a:r>
              <a:t>Kubeflow onboarding &amp;</a:t>
            </a:r>
            <a:br/>
            <a:r>
              <a:t>how-to doc chunks (.docx)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73952" y="6419088"/>
            <a:ext cx="10972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950" b="1" i="0">
                <a:solidFill>
                  <a:srgbClr val="B46400"/>
                </a:solidFill>
              </a:defRPr>
            </a:pPr>
            <a:r>
              <a:t>Milvus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601200" y="4919472"/>
            <a:ext cx="2212848" cy="1536192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710928" y="4974336"/>
            <a:ext cx="1993392" cy="1444752"/>
          </a:xfrm>
          <a:prstGeom prst="rect">
            <a:avLst/>
          </a:prstGeom>
          <a:noFill/>
        </p:spPr>
        <p:txBody>
          <a:bodyPr wrap="square" lIns="73152" rIns="45720" tIns="54864" bIns="36576" anchor="t">
            <a:spAutoFit/>
          </a:bodyPr>
          <a:lstStyle/>
          <a:p>
            <a:pPr algn="l">
              <a:spcAft>
                <a:spcPts val="100"/>
              </a:spcAft>
              <a:defRPr sz="1100" b="1">
                <a:solidFill>
                  <a:srgbClr val="6D28D9"/>
                </a:solidFill>
              </a:defRPr>
            </a:pPr>
            <a:r>
              <a:t>OpenAI API</a:t>
            </a:r>
          </a:p>
          <a:p>
            <a:pPr algn="l">
              <a:spcAft>
                <a:spcPts val="100"/>
              </a:spcAft>
              <a:defRPr sz="900" b="1">
                <a:solidFill>
                  <a:srgbClr val="111827"/>
                </a:solidFill>
              </a:defRPr>
            </a:pPr>
            <a:r>
              <a:t>gpt-4o-mini</a:t>
            </a:r>
          </a:p>
          <a:p>
            <a:pPr algn="l">
              <a:spcAft>
                <a:spcPts val="100"/>
              </a:spcAft>
              <a:defRPr sz="850" b="0">
                <a:solidFill>
                  <a:srgbClr val="64748B"/>
                </a:solidFill>
              </a:defRPr>
            </a:pPr>
            <a:r>
              <a:t>  chat, summaries, profiles</a:t>
            </a:r>
          </a:p>
          <a:p>
            <a:pPr algn="l">
              <a:spcAft>
                <a:spcPts val="100"/>
              </a:spcAft>
              <a:defRPr sz="900" b="1">
                <a:solidFill>
                  <a:srgbClr val="111827"/>
                </a:solidFill>
              </a:defRPr>
            </a:pPr>
            <a:r>
              <a:t>text-embedding-3-small</a:t>
            </a:r>
          </a:p>
          <a:p>
            <a:pPr algn="l">
              <a:spcAft>
                <a:spcPts val="100"/>
              </a:spcAft>
              <a:defRPr sz="850" b="0">
                <a:solidFill>
                  <a:srgbClr val="64748B"/>
                </a:solidFill>
              </a:defRPr>
            </a:pPr>
            <a:r>
              <a:t>  all vector embeddings</a:t>
            </a:r>
          </a:p>
          <a:p>
            <a:pPr algn="l">
              <a:spcAft>
                <a:spcPts val="100"/>
              </a:spcAft>
              <a:defRPr sz="900" b="1">
                <a:solidFill>
                  <a:srgbClr val="111827"/>
                </a:solidFill>
              </a:defRPr>
            </a:pPr>
            <a:r>
              <a:t>gpt-4o  (RAGAS eval judge)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8001000" y="3712464"/>
            <a:ext cx="2706624" cy="1207008"/>
          </a:xfrm>
          <a:prstGeom prst="line">
            <a:avLst/>
          </a:prstGeom>
          <a:ln w="1524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10040112" y="6419088"/>
            <a:ext cx="192024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defRPr sz="1000" b="1" i="0">
                <a:solidFill>
                  <a:srgbClr val="B91C1C"/>
                </a:solidFill>
              </a:defRPr>
            </a:pPr>
            <a:r>
              <a:t>LLM Serving :  Data Plane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82880" y="6126480"/>
            <a:ext cx="39776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850" b="0" i="0">
                <a:solidFill>
                  <a:srgbClr val="111827"/>
                </a:solidFill>
              </a:defRPr>
            </a:pPr>
            <a:r>
              <a:t>Supporting Infrastructure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82880" y="6327648"/>
            <a:ext cx="39776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850" b="0" i="0">
                <a:solidFill>
                  <a:srgbClr val="64748B"/>
                </a:solidFill>
              </a:defRPr>
            </a:pPr>
            <a:r>
              <a:t>- Docker Compose (Milvus, LiteLLM + Postgres, Langfuse stack)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82880" y="6528816"/>
            <a:ext cx="39776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850" b="0" i="0">
                <a:solidFill>
                  <a:srgbClr val="64748B"/>
                </a:solidFill>
              </a:defRPr>
            </a:pPr>
            <a:r>
              <a:t>- Python 3.11 / uvicorn / FastAPI — port 8000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82880" y="6729983"/>
            <a:ext cx="39776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850" b="0" i="0">
                <a:solidFill>
                  <a:srgbClr val="64748B"/>
                </a:solidFill>
              </a:defRPr>
            </a:pPr>
            <a:r>
              <a:t>- Node.js 18+ / Next.js 15 — port 3002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82880" y="6931151"/>
            <a:ext cx="39776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defRPr sz="850" b="0" i="0">
                <a:solidFill>
                  <a:srgbClr val="64748B"/>
                </a:solidFill>
              </a:defRPr>
            </a:pPr>
            <a:r>
              <a:t>- Airflow DAG: Ingest → Embed → Summarise → Profile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11479" y="5330952"/>
            <a:ext cx="3108960" cy="512064"/>
          </a:xfrm>
          <a:prstGeom prst="roundRect">
            <a:avLst>
              <a:gd name="adj" fmla="val 4000"/>
            </a:avLst>
          </a:prstGeom>
          <a:solidFill>
            <a:srgbClr val="FCE7F3"/>
          </a:solidFill>
          <a:ln w="12700">
            <a:solidFill>
              <a:srgbClr val="BE1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84632" y="5349240"/>
            <a:ext cx="2944368" cy="457200"/>
          </a:xfrm>
          <a:prstGeom prst="rect">
            <a:avLst/>
          </a:prstGeom>
          <a:noFill/>
        </p:spPr>
        <p:txBody>
          <a:bodyPr wrap="square" lIns="73152" rIns="45720" tIns="54864" bIns="36576" anchor="t">
            <a:spAutoFit/>
          </a:bodyPr>
          <a:lstStyle/>
          <a:p>
            <a:pPr algn="l">
              <a:spcAft>
                <a:spcPts val="100"/>
              </a:spcAft>
              <a:defRPr sz="850" b="1">
                <a:solidFill>
                  <a:srgbClr val="BE185D"/>
                </a:solidFill>
              </a:defRPr>
            </a:pPr>
            <a:r>
              <a:t>Layer 2 — RAGAS + LLM-as-Judge (async background)</a:t>
            </a:r>
          </a:p>
          <a:p>
            <a:pPr algn="l">
              <a:spcAft>
                <a:spcPts val="100"/>
              </a:spcAft>
              <a:defRPr sz="750" b="0">
                <a:solidFill>
                  <a:srgbClr val="64748B"/>
                </a:solidFill>
              </a:defRPr>
            </a:pPr>
            <a:r>
              <a:t>faithfulness  ·  answer_relevancy  ·  context_precision  ·  profile_relevance</a:t>
            </a:r>
          </a:p>
        </p:txBody>
      </p:sp>
      <p:cxnSp>
        <p:nvCxnSpPr>
          <p:cNvPr id="96" name="Connector 95"/>
          <p:cNvCxnSpPr/>
          <p:nvPr/>
        </p:nvCxnSpPr>
        <p:spPr>
          <a:xfrm flipV="1">
            <a:off x="1965960" y="4572000"/>
            <a:ext cx="201168" cy="758952"/>
          </a:xfrm>
          <a:prstGeom prst="line">
            <a:avLst/>
          </a:prstGeom>
          <a:ln w="15240">
            <a:solidFill>
              <a:srgbClr val="BE18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