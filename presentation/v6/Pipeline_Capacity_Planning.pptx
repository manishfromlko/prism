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numbers derived from observed run (2026-05-03): 211 artifacts embedded in ~11s (6 batches), 211 summaries in ~9.6 min (22/min sequential). Extrapolated to 100K artifacts. Stage 3 is the bottleneck: 100K LLM calls / 22 per min = 75 hrs sequential; with 20 parallel workers ~3.75 hrs. Stage 4 is fast because only 500 profile calls (one per workspace). Full load: breadth-first maximises batching and worker utilisation. Incremental: depth-first gives per-workspace atomicity and skips unchanged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"/>
          </a:xfrm>
          <a:prstGeom prst="rect">
            <a:avLst/>
          </a:prstGeom>
          <a:solidFill>
            <a:srgbClr val="11182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"/>
            <a:ext cx="3047238" cy="64008"/>
          </a:xfrm>
          <a:prstGeom prst="rect">
            <a:avLst/>
          </a:prstGeom>
          <a:solidFill>
            <a:srgbClr val="2563EB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238" y="292608"/>
            <a:ext cx="3047238" cy="64008"/>
          </a:xfrm>
          <a:prstGeom prst="rect">
            <a:avLst/>
          </a:prstGeom>
          <a:solidFill>
            <a:srgbClr val="16A34A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4476" y="292608"/>
            <a:ext cx="3047238" cy="64008"/>
          </a:xfrm>
          <a:prstGeom prst="rect">
            <a:avLst/>
          </a:prstGeom>
          <a:solidFill>
            <a:srgbClr val="D97706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1714" y="292608"/>
            <a:ext cx="3047238" cy="64008"/>
          </a:xfrm>
          <a:prstGeom prst="rect">
            <a:avLst/>
          </a:prstGeom>
          <a:solidFill>
            <a:srgbClr val="DB2777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43000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>
              <a:defRPr sz="800" b="0" i="0">
                <a:solidFill>
                  <a:srgbClr val="4B5563"/>
                </a:solidFill>
              </a:defRPr>
            </a:pPr>
            <a:r>
              <a:t>Kubeflow Workspace Intelligence LLMOps — Capacity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02336"/>
            <a:ext cx="8046720" cy="4754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2300" b="1" i="0">
                <a:solidFill>
                  <a:srgbClr val="111827"/>
                </a:solidFill>
              </a:defRPr>
            </a:pPr>
            <a:r>
              <a:t>Ingestion Pipeline — Capacity Planning at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402336"/>
            <a:ext cx="1170432" cy="420624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ctr">
              <a:spcAft>
                <a:spcPts val="100"/>
              </a:spcAft>
              <a:defRPr sz="1600" b="1">
                <a:solidFill>
                  <a:srgbClr val="2563EB"/>
                </a:solidFill>
              </a:defRPr>
            </a:pPr>
            <a:r>
              <a:t>500</a:t>
            </a:r>
          </a:p>
          <a:p>
            <a:pPr algn="ctr">
              <a:spcAft>
                <a:spcPts val="100"/>
              </a:spcAft>
              <a:defRPr sz="850" b="0">
                <a:solidFill>
                  <a:srgbClr val="111827"/>
                </a:solidFill>
              </a:defRPr>
            </a:pPr>
            <a:r>
              <a:t>Workspaces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502920"/>
            <a:ext cx="201168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1500" b="1" i="0">
                <a:solidFill>
                  <a:srgbClr val="4B5563"/>
                </a:solidFill>
              </a:defRPr>
            </a:pPr>
            <a: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0656" y="402336"/>
            <a:ext cx="1170432" cy="420624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ctr">
              <a:spcAft>
                <a:spcPts val="100"/>
              </a:spcAft>
              <a:defRPr sz="1600" b="1">
                <a:solidFill>
                  <a:srgbClr val="D97706"/>
                </a:solidFill>
              </a:defRPr>
            </a:pPr>
            <a:r>
              <a:t>~200</a:t>
            </a:r>
          </a:p>
          <a:p>
            <a:pPr algn="ctr">
              <a:spcAft>
                <a:spcPts val="100"/>
              </a:spcAft>
              <a:defRPr sz="850" b="0">
                <a:solidFill>
                  <a:srgbClr val="111827"/>
                </a:solidFill>
              </a:defRPr>
            </a:pPr>
            <a:r>
              <a:t>Artifacts avg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9376" y="502920"/>
            <a:ext cx="201168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1500" b="1" i="0">
                <a:solidFill>
                  <a:srgbClr val="4B5563"/>
                </a:solidFill>
              </a:defRPr>
            </a:pPr>
            <a:r>
              <a:t>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228832" y="402336"/>
            <a:ext cx="777240" cy="420624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rIns="73152" tIns="54864" bIns="36576"/>
          <a:lstStyle/>
          <a:p>
            <a:pPr algn="ctr">
              <a:spcAft>
                <a:spcPts val="100"/>
              </a:spcAft>
              <a:defRPr sz="1400" b="1">
                <a:solidFill>
                  <a:srgbClr val="16A34A"/>
                </a:solidFill>
              </a:defRPr>
            </a:pPr>
            <a:r>
              <a:t>100K</a:t>
            </a:r>
          </a:p>
          <a:p>
            <a:pPr algn="ctr">
              <a:spcAft>
                <a:spcPts val="100"/>
              </a:spcAft>
              <a:defRPr sz="850" b="0">
                <a:solidFill>
                  <a:srgbClr val="111827"/>
                </a:solidFill>
              </a:defRPr>
            </a:pPr>
            <a:r>
              <a:t>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978408"/>
            <a:ext cx="11384280" cy="2377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987552"/>
            <a:ext cx="3657600" cy="21945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850" b="1" i="0">
                <a:solidFill>
                  <a:srgbClr val="4B5563"/>
                </a:solidFill>
              </a:defRPr>
            </a:pPr>
            <a:r>
              <a:t>STAGE-BY-STAGE TIME ESTIMATES  (Full Load: 100K artifacts)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1280160"/>
            <a:ext cx="2670048" cy="21214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1362456"/>
            <a:ext cx="274320" cy="246888"/>
          </a:xfrm>
          <a:prstGeom prst="roundRect">
            <a:avLst>
              <a:gd name="adj" fmla="val 5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362456"/>
            <a:ext cx="274320" cy="2468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1362456"/>
            <a:ext cx="215798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1200" b="1" i="0">
                <a:solidFill>
                  <a:srgbClr val="4B5563"/>
                </a:solidFill>
              </a:defRPr>
            </a:pPr>
            <a:r>
              <a:t>Data Ingestion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1682495"/>
            <a:ext cx="2468879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950" b="0" i="0">
                <a:solidFill>
                  <a:srgbClr val="4B5563"/>
                </a:solidFill>
              </a:defRPr>
            </a:pPr>
            <a:r>
              <a:t>Scan files, extract text,</a:t>
            </a:r>
            <a:br/>
            <a:r>
              <a:t>build catalog JSON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" y="2231136"/>
            <a:ext cx="2450591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2286000"/>
            <a:ext cx="11887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850" b="0" i="0">
                <a:solidFill>
                  <a:srgbClr val="4B5563"/>
                </a:solidFill>
              </a:defRPr>
            </a:pPr>
            <a:r>
              <a:t>Sequential: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2286000"/>
            <a:ext cx="1389888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1050" b="1" i="0">
                <a:solidFill>
                  <a:srgbClr val="4B5563"/>
                </a:solidFill>
              </a:defRPr>
            </a:pPr>
            <a:r>
              <a:t>~8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596896"/>
            <a:ext cx="2487168" cy="329184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" y="2633472"/>
            <a:ext cx="14173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850" b="0" i="0">
                <a:solidFill>
                  <a:srgbClr val="4B5563"/>
                </a:solidFill>
              </a:defRPr>
            </a:pPr>
            <a:r>
              <a:t>20 workers: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2633472"/>
            <a:ext cx="1161288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1100" b="1" i="0">
                <a:solidFill>
                  <a:srgbClr val="16A34A"/>
                </a:solidFill>
              </a:defRPr>
            </a:pPr>
            <a:r>
              <a:t>~1–2 min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1280160"/>
            <a:ext cx="2670048" cy="212140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29000" y="1362456"/>
            <a:ext cx="274320" cy="246888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1362456"/>
            <a:ext cx="274320" cy="2468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58184" y="1362456"/>
            <a:ext cx="215798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1200" b="1" i="0">
                <a:solidFill>
                  <a:srgbClr val="2563EB"/>
                </a:solidFill>
              </a:defRPr>
            </a:pPr>
            <a:r>
              <a:t>Artifact Embedding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47288" y="1682495"/>
            <a:ext cx="2468879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950" b="0" i="0">
                <a:solidFill>
                  <a:srgbClr val="4B5563"/>
                </a:solidFill>
              </a:defRPr>
            </a:pPr>
            <a:r>
              <a:t>OpenAI embed (batch 32)</a:t>
            </a:r>
            <a:br/>
            <a:r>
              <a:t>+ Milvus vector insert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47288" y="2231136"/>
            <a:ext cx="2450591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47288" y="2286000"/>
            <a:ext cx="11887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850" b="0" i="0">
                <a:solidFill>
                  <a:srgbClr val="4B5563"/>
                </a:solidFill>
              </a:defRPr>
            </a:pPr>
            <a:r>
              <a:t>Sequential: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2286000"/>
            <a:ext cx="1389888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1050" b="1" i="0">
                <a:solidFill>
                  <a:srgbClr val="4B5563"/>
                </a:solidFill>
              </a:defRPr>
            </a:pPr>
            <a:r>
              <a:t>~1.8 hrs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29000" y="2596896"/>
            <a:ext cx="2487168" cy="329184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47288" y="2633472"/>
            <a:ext cx="14173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850" b="0" i="0">
                <a:solidFill>
                  <a:srgbClr val="4B5563"/>
                </a:solidFill>
              </a:defRPr>
            </a:pPr>
            <a:r>
              <a:t>20 workers: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2633472"/>
            <a:ext cx="1161288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1100" b="1" i="0">
                <a:solidFill>
                  <a:srgbClr val="16A34A"/>
                </a:solidFill>
              </a:defRPr>
            </a:pPr>
            <a:r>
              <a:t>~8–10 min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1280160"/>
            <a:ext cx="2670048" cy="2121408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55079" y="1362456"/>
            <a:ext cx="274320" cy="246888"/>
          </a:xfrm>
          <a:prstGeom prst="roundRect">
            <a:avLst>
              <a:gd name="adj" fmla="val 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79" y="1362456"/>
            <a:ext cx="274320" cy="2468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84264" y="1362456"/>
            <a:ext cx="215798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1200" b="1" i="0">
                <a:solidFill>
                  <a:srgbClr val="DC2626"/>
                </a:solidFill>
              </a:defRPr>
            </a:pPr>
            <a:r>
              <a:t>Artifact Summaries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1682495"/>
            <a:ext cx="2468879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950" b="0" i="0">
                <a:solidFill>
                  <a:srgbClr val="4B5563"/>
                </a:solidFill>
              </a:defRPr>
            </a:pPr>
            <a:r>
              <a:t>1 LLM call / artifact</a:t>
            </a:r>
            <a:br/>
            <a:r>
              <a:t>gpt-4o-mini, 220 tok max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73368" y="2231136"/>
            <a:ext cx="2450591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3368" y="2286000"/>
            <a:ext cx="11887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850" b="0" i="0">
                <a:solidFill>
                  <a:srgbClr val="4B5563"/>
                </a:solidFill>
              </a:defRPr>
            </a:pPr>
            <a:r>
              <a:t>Sequential: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2286000"/>
            <a:ext cx="1389888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1050" b="1" i="0">
                <a:solidFill>
                  <a:srgbClr val="DC2626"/>
                </a:solidFill>
              </a:defRPr>
            </a:pPr>
            <a:r>
              <a:t>~75 hrs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55079" y="2596896"/>
            <a:ext cx="2487168" cy="329184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73368" y="2633472"/>
            <a:ext cx="14173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850" b="0" i="0">
                <a:solidFill>
                  <a:srgbClr val="4B5563"/>
                </a:solidFill>
              </a:defRPr>
            </a:pPr>
            <a:r>
              <a:t>20 workers: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2633472"/>
            <a:ext cx="1161288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1100" b="1" i="0">
                <a:solidFill>
                  <a:srgbClr val="16A34A"/>
                </a:solidFill>
              </a:defRPr>
            </a:pPr>
            <a:r>
              <a:t>~3.5–4 hrs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5079" y="2999232"/>
            <a:ext cx="2487168" cy="2743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73368" y="3017520"/>
            <a:ext cx="2468879" cy="23774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900" b="1" i="0">
                <a:solidFill>
                  <a:srgbClr val="DC2626"/>
                </a:solidFill>
              </a:defRPr>
            </a:pPr>
            <a:r>
              <a:t>⚠  CRITICAL PATH — drives total runtime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89720" y="1280160"/>
            <a:ext cx="2670048" cy="2121408"/>
          </a:xfrm>
          <a:prstGeom prst="roundRect">
            <a:avLst>
              <a:gd name="adj" fmla="val 5000"/>
            </a:avLst>
          </a:prstGeom>
          <a:solidFill>
            <a:srgbClr val="FCE7F3"/>
          </a:solidFill>
          <a:ln w="1524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281160" y="1362456"/>
            <a:ext cx="274320" cy="246888"/>
          </a:xfrm>
          <a:prstGeom prst="roundRect">
            <a:avLst>
              <a:gd name="adj" fmla="val 5000"/>
            </a:avLst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81160" y="1362456"/>
            <a:ext cx="274320" cy="24688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10344" y="1362456"/>
            <a:ext cx="2157984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1200" b="1" i="0">
                <a:solidFill>
                  <a:srgbClr val="DB2777"/>
                </a:solidFill>
              </a:defRPr>
            </a:pPr>
            <a:r>
              <a:t>User Profiles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99448" y="1682495"/>
            <a:ext cx="2468879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950" b="0" i="0">
                <a:solidFill>
                  <a:srgbClr val="4B5563"/>
                </a:solidFill>
              </a:defRPr>
            </a:pPr>
            <a:r>
              <a:t>1 LLM call / workspace</a:t>
            </a:r>
            <a:br/>
            <a:r>
              <a:t>from artifact summaries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99448" y="2231136"/>
            <a:ext cx="2450591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99448" y="2286000"/>
            <a:ext cx="11887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850" b="0" i="0">
                <a:solidFill>
                  <a:srgbClr val="4B5563"/>
                </a:solidFill>
              </a:defRPr>
            </a:pPr>
            <a:r>
              <a:t>Sequential: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78440" y="2286000"/>
            <a:ext cx="1389888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1050" b="1" i="0">
                <a:solidFill>
                  <a:srgbClr val="4B5563"/>
                </a:solidFill>
              </a:defRPr>
            </a:pPr>
            <a:r>
              <a:t>~35 min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281160" y="2596896"/>
            <a:ext cx="2487168" cy="329184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99448" y="2633472"/>
            <a:ext cx="14173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850" b="0" i="0">
                <a:solidFill>
                  <a:srgbClr val="4B5563"/>
                </a:solidFill>
              </a:defRPr>
            </a:pPr>
            <a:r>
              <a:t>20 workers: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07040" y="2633472"/>
            <a:ext cx="1161288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1100" b="1" i="0">
                <a:solidFill>
                  <a:srgbClr val="16A34A"/>
                </a:solidFill>
              </a:defRPr>
            </a:pPr>
            <a:r>
              <a:t>~5 min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081528" y="2340863"/>
            <a:ext cx="256032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Isosceles Triangle 62"/>
          <p:cNvSpPr/>
          <p:nvPr/>
        </p:nvSpPr>
        <p:spPr>
          <a:xfrm rot="5400000">
            <a:off x="3264408" y="2272283"/>
            <a:ext cx="128016" cy="137160"/>
          </a:xfrm>
          <a:prstGeom prst="triangl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6007608" y="2340863"/>
            <a:ext cx="256032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Isosceles Triangle 64"/>
          <p:cNvSpPr/>
          <p:nvPr/>
        </p:nvSpPr>
        <p:spPr>
          <a:xfrm rot="5400000">
            <a:off x="6190488" y="2272283"/>
            <a:ext cx="128016" cy="137160"/>
          </a:xfrm>
          <a:prstGeom prst="triangl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8933688" y="2340863"/>
            <a:ext cx="256031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Isosceles Triangle 66"/>
          <p:cNvSpPr/>
          <p:nvPr/>
        </p:nvSpPr>
        <p:spPr>
          <a:xfrm rot="5400000">
            <a:off x="9116567" y="2272283"/>
            <a:ext cx="128016" cy="137160"/>
          </a:xfrm>
          <a:prstGeom prst="triangl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11480" y="3602736"/>
            <a:ext cx="11384280" cy="23774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611879"/>
            <a:ext cx="7315200" cy="21945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850" b="1" i="0">
                <a:solidFill>
                  <a:srgbClr val="4B5563"/>
                </a:solidFill>
              </a:defRPr>
            </a:pPr>
            <a:r>
              <a:t>EXECUTION STRATEGY  — Full Load vs Incremental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11480" y="3895344"/>
            <a:ext cx="5376672" cy="1298448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0352" y="3959352"/>
            <a:ext cx="310896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1250" b="1" i="0">
                <a:solidFill>
                  <a:srgbClr val="2563EB"/>
                </a:solidFill>
              </a:defRPr>
            </a:pPr>
            <a:r>
              <a:t>Full Load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364992" y="3959352"/>
            <a:ext cx="2304288" cy="256032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64992" y="3959352"/>
            <a:ext cx="2304288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✓  BREADTH-FIRST (stage-by-stage)</a:t>
            </a:r>
          </a:p>
        </p:txBody>
      </p:sp>
      <p:sp>
        <p:nvSpPr>
          <p:cNvPr id="74" name="Oval 73"/>
          <p:cNvSpPr/>
          <p:nvPr/>
        </p:nvSpPr>
        <p:spPr>
          <a:xfrm>
            <a:off x="548640" y="4315968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4944" y="4261104"/>
            <a:ext cx="5010912" cy="26517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900" b="0" i="0">
                <a:solidFill>
                  <a:srgbClr val="111827"/>
                </a:solidFill>
              </a:defRPr>
            </a:pPr>
            <a:r>
              <a:t>Run all 500 workspaces through Stage 1, then Stage 2, then Stage 3, then Stage 4</a:t>
            </a:r>
          </a:p>
        </p:txBody>
      </p:sp>
      <p:sp>
        <p:nvSpPr>
          <p:cNvPr id="76" name="Oval 75"/>
          <p:cNvSpPr/>
          <p:nvPr/>
        </p:nvSpPr>
        <p:spPr>
          <a:xfrm>
            <a:off x="548640" y="4599431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94944" y="4544568"/>
            <a:ext cx="5010912" cy="26517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900" b="0" i="0">
                <a:solidFill>
                  <a:srgbClr val="111827"/>
                </a:solidFill>
              </a:defRPr>
            </a:pPr>
            <a:r>
              <a:t>Maximises API batching &amp; Airflow worker utilisation at each stage</a:t>
            </a:r>
          </a:p>
        </p:txBody>
      </p:sp>
      <p:sp>
        <p:nvSpPr>
          <p:cNvPr id="78" name="Oval 77"/>
          <p:cNvSpPr/>
          <p:nvPr/>
        </p:nvSpPr>
        <p:spPr>
          <a:xfrm>
            <a:off x="548640" y="4882895"/>
            <a:ext cx="82296" cy="8229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94944" y="4828031"/>
            <a:ext cx="5010912" cy="26517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900" b="0" i="0">
                <a:solidFill>
                  <a:srgbClr val="111827"/>
                </a:solidFill>
              </a:defRPr>
            </a:pPr>
            <a:r>
              <a:t>Stage-level checkpointing: resume from failed stage without restarting earlier stages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980176" y="3895344"/>
            <a:ext cx="5376672" cy="1298448"/>
          </a:xfrm>
          <a:prstGeom prst="roundRect">
            <a:avLst>
              <a:gd name="adj" fmla="val 5000"/>
            </a:avLst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08192" y="3959352"/>
            <a:ext cx="310896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1250" b="1" i="0">
                <a:solidFill>
                  <a:srgbClr val="DB2777"/>
                </a:solidFill>
              </a:defRPr>
            </a:pPr>
            <a:r>
              <a:t>Incremental Load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942832" y="3959352"/>
            <a:ext cx="2304288" cy="256032"/>
          </a:xfrm>
          <a:prstGeom prst="roundRect">
            <a:avLst>
              <a:gd name="adj" fmla="val 5000"/>
            </a:avLst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942832" y="3959352"/>
            <a:ext cx="2304288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850" b="1" i="0">
                <a:solidFill>
                  <a:srgbClr val="FFFFFF"/>
                </a:solidFill>
              </a:defRPr>
            </a:pPr>
            <a:r>
              <a:t>✓  DEPTH-FIRST (per-workspace)</a:t>
            </a:r>
          </a:p>
        </p:txBody>
      </p:sp>
      <p:sp>
        <p:nvSpPr>
          <p:cNvPr id="84" name="Oval 83"/>
          <p:cNvSpPr/>
          <p:nvPr/>
        </p:nvSpPr>
        <p:spPr>
          <a:xfrm>
            <a:off x="6126480" y="4315968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72784" y="4261104"/>
            <a:ext cx="4956048" cy="26517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900" b="0" i="0">
                <a:solidFill>
                  <a:srgbClr val="111827"/>
                </a:solidFill>
              </a:defRPr>
            </a:pPr>
            <a:r>
              <a:t>Each changed workspace flows through all 4 stages before the next workspace starts</a:t>
            </a:r>
          </a:p>
        </p:txBody>
      </p:sp>
      <p:sp>
        <p:nvSpPr>
          <p:cNvPr id="86" name="Oval 85"/>
          <p:cNvSpPr/>
          <p:nvPr/>
        </p:nvSpPr>
        <p:spPr>
          <a:xfrm>
            <a:off x="6126480" y="4599431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72784" y="4544568"/>
            <a:ext cx="4956048" cy="26517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900" b="0" i="0">
                <a:solidFill>
                  <a:srgbClr val="111827"/>
                </a:solidFill>
              </a:defRPr>
            </a:pPr>
            <a:r>
              <a:t>Per-workspace atomicity: consistent state, easier rollback on failure</a:t>
            </a:r>
          </a:p>
        </p:txBody>
      </p:sp>
      <p:sp>
        <p:nvSpPr>
          <p:cNvPr id="88" name="Oval 87"/>
          <p:cNvSpPr/>
          <p:nvPr/>
        </p:nvSpPr>
        <p:spPr>
          <a:xfrm>
            <a:off x="6126480" y="4882895"/>
            <a:ext cx="82296" cy="82296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272784" y="4828031"/>
            <a:ext cx="4956048" cy="26517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900" b="0" i="0">
                <a:solidFill>
                  <a:srgbClr val="111827"/>
                </a:solidFill>
              </a:defRPr>
            </a:pPr>
            <a:r>
              <a:t>Content-hash guards skip unchanged artifacts — only deltas are re-embedded or re-summarised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632704" y="4352544"/>
            <a:ext cx="347472" cy="329184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32704" y="4352544"/>
            <a:ext cx="347472" cy="329184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900" b="1" i="0">
                <a:solidFill>
                  <a:srgbClr val="4B5563"/>
                </a:solidFill>
              </a:defRPr>
            </a:pPr>
            <a:r>
              <a:t>vs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11480" y="5266944"/>
            <a:ext cx="11384280" cy="4023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48640" y="5321807"/>
            <a:ext cx="13716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950" b="1" i="0">
                <a:solidFill>
                  <a:srgbClr val="4B5563"/>
                </a:solidFill>
              </a:defRPr>
            </a:pPr>
            <a:r>
              <a:t>Total runtime: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993392" y="5321807"/>
            <a:ext cx="1828800" cy="2743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993392" y="5321807"/>
            <a:ext cx="18288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900" b="1" i="0">
                <a:solidFill>
                  <a:srgbClr val="DC2626"/>
                </a:solidFill>
              </a:defRPr>
            </a:pPr>
            <a:r>
              <a:t>Sequential: ~75–80 hrs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931920" y="5321807"/>
            <a:ext cx="4572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1100" b="1" i="0">
                <a:solidFill>
                  <a:srgbClr val="4B5563"/>
                </a:solidFill>
              </a:defRPr>
            </a:pPr>
            <a:r>
              <a:t>→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434840" y="5321807"/>
            <a:ext cx="2331720" cy="27432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434840" y="5321807"/>
            <a:ext cx="233172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950" b="1" i="0">
                <a:solidFill>
                  <a:srgbClr val="16A34A"/>
                </a:solidFill>
              </a:defRPr>
            </a:pPr>
            <a:r>
              <a:t>20 workers:  ~4–4.5 hrs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903720" y="5321807"/>
            <a:ext cx="6858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900" b="0" i="0">
                <a:solidFill>
                  <a:srgbClr val="4B5563"/>
                </a:solidFill>
              </a:defRPr>
            </a:pPr>
            <a:r>
              <a:t>| Bottleneck: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680960" y="5321807"/>
            <a:ext cx="1920240" cy="27432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680960" y="5321807"/>
            <a:ext cx="192024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>
              <a:defRPr sz="900" b="1" i="0">
                <a:solidFill>
                  <a:srgbClr val="DC2626"/>
                </a:solidFill>
              </a:defRPr>
            </a:pPr>
            <a:r>
              <a:t>Stage 3 — Summaries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92640" y="5321807"/>
            <a:ext cx="201168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>
              <a:defRPr sz="900" b="0" i="0">
                <a:solidFill>
                  <a:srgbClr val="4B5563"/>
                </a:solidFill>
              </a:defRPr>
            </a:pPr>
            <a:r>
              <a:t>↑ parallelise this stage first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" y="5742431"/>
            <a:ext cx="11430000" cy="21945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>
              <a:defRPr sz="750" b="0" i="1">
                <a:solidFill>
                  <a:srgbClr val="4B5563"/>
                </a:solidFill>
              </a:defRPr>
            </a:pPr>
            <a:r>
              <a:t>Assumptions:  OpenAI Tier 4 (gpt-4o-mini 10K RPM · text-embedding-3-small 5K RPM)  ·  20 Airflow workers  ·  batch_size = 32  ·  avg 200 artifacts/workspace  ·  LLM call latency ~2.5 s (Stage 3), ~2 s batch (Stage 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