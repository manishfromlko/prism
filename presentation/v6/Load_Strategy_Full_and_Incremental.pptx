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64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9359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FULL LOAD — Breadth-First. All 500 workspaces complete each stage before the next starts.</a:t>
            </a:r>
          </a:p>
          <a:p>
            <a:r>
              <a:t>Stage 1: 1.5 min  Stage 2: 9 min  Stage 3: 4h 2min (BOTTLENECK)  Stage 4: 4 min</a:t>
            </a:r>
          </a:p>
          <a:p>
            <a:r>
              <a:t>Total: ~4 hrs 16 min with 20 Airflow workers.</a:t>
            </a:r>
          </a:p>
          <a:p>
            <a:r>
              <a:t>Numbers derived from actual run on 2026-05-03 then extrapolated to 100K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INCREMENTAL LOAD — Depth-First. Each changed workspace flows through all stages before the next.</a:t>
            </a:r>
          </a:p>
          <a:p>
            <a:r>
              <a:t>Scenario: daily run, 5% workspaces changed = 25 WS, 10% artifacts per WS changed = 500 artifacts.</a:t>
            </a:r>
          </a:p>
          <a:p>
            <a:r>
              <a:t>Hash guard skips 90% of artifacts (unchanged).</a:t>
            </a:r>
          </a:p>
          <a:p>
            <a:r>
              <a:t>Total: ~7 min with 5 workers — vs ~4h 16m for full load = 36× faster.</a:t>
            </a:r>
          </a:p>
          <a:p>
            <a:r>
              <a:t>Key advantage: per-workspace atomicity. If workspace 15 fails, workspaces 1-14 are already committed.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11827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3047238" cy="54864"/>
          </a:xfrm>
          <a:prstGeom prst="rect">
            <a:avLst/>
          </a:prstGeom>
          <a:solidFill>
            <a:srgbClr val="2563EB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047238" y="274320"/>
            <a:ext cx="3047238" cy="54864"/>
          </a:xfrm>
          <a:prstGeom prst="rect">
            <a:avLst/>
          </a:prstGeom>
          <a:solidFill>
            <a:srgbClr val="16A34A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4476" y="274320"/>
            <a:ext cx="3047238" cy="54864"/>
          </a:xfrm>
          <a:prstGeom prst="rect">
            <a:avLst/>
          </a:prstGeom>
          <a:solidFill>
            <a:srgbClr val="B46400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1714" y="274320"/>
            <a:ext cx="3047238" cy="54864"/>
          </a:xfrm>
          <a:prstGeom prst="rect">
            <a:avLst/>
          </a:prstGeom>
          <a:solidFill>
            <a:srgbClr val="BE185D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1143000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</a:defRPr>
            </a:pPr>
            <a:r>
              <a:t>Kubeflow Workspace Intelligence LLMOps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347472"/>
            <a:ext cx="11887200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200" b="1" i="0">
                <a:solidFill>
                  <a:srgbClr val="111827"/>
                </a:solidFill>
              </a:defRPr>
            </a:pPr>
            <a:r>
              <a:t>Full Load  —  Breadth-First Airflow DAG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777240"/>
            <a:ext cx="1234440" cy="27432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795528"/>
            <a:ext cx="11430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00" b="1" i="0">
                <a:solidFill>
                  <a:srgbClr val="111827"/>
                </a:solidFill>
              </a:defRPr>
            </a:pPr>
            <a:r>
              <a:t>500 Workspaces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72768" y="777240"/>
            <a:ext cx="1234440" cy="27432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795528"/>
            <a:ext cx="11430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00" b="1" i="0">
                <a:solidFill>
                  <a:srgbClr val="111827"/>
                </a:solidFill>
              </a:defRPr>
            </a:pPr>
            <a:r>
              <a:t>×  200 Artifacts avg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16936" y="777240"/>
            <a:ext cx="1234440" cy="27432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62656" y="795528"/>
            <a:ext cx="11430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00" b="1" i="0">
                <a:solidFill>
                  <a:srgbClr val="111827"/>
                </a:solidFill>
              </a:defRPr>
            </a:pPr>
            <a:r>
              <a:t>=  100K Total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1104" y="777240"/>
            <a:ext cx="1234440" cy="27432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06824" y="795528"/>
            <a:ext cx="11430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00" b="1" i="0">
                <a:solidFill>
                  <a:srgbClr val="111827"/>
                </a:solidFill>
              </a:defRPr>
            </a:pPr>
            <a:r>
              <a:t>20 Airflow Workers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05272" y="777240"/>
            <a:ext cx="3108960" cy="2743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50992" y="795528"/>
            <a:ext cx="301752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00" b="1" i="0">
                <a:solidFill>
                  <a:srgbClr val="111827"/>
                </a:solidFill>
              </a:defRPr>
            </a:pPr>
            <a:r>
              <a:t>Breadth-First: all WS → Stage N before Stage N+1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" y="1115568"/>
            <a:ext cx="2788920" cy="3858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82880" y="1115568"/>
            <a:ext cx="2788920" cy="4389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1197864"/>
            <a:ext cx="292608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1197864"/>
            <a:ext cx="29260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 i="0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1216152"/>
            <a:ext cx="225856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1" i="0">
                <a:solidFill>
                  <a:srgbClr val="FFFFFF"/>
                </a:solidFill>
              </a:defRPr>
            </a:pPr>
            <a:r>
              <a:t>Data Ingestion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609344"/>
            <a:ext cx="2606039" cy="411480"/>
          </a:xfrm>
          <a:prstGeom prst="rect">
            <a:avLst/>
          </a:prstGeom>
          <a:solidFill>
            <a:srgbClr val="F1F5F9"/>
          </a:solidFill>
          <a:ln w="762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0896" y="1627632"/>
            <a:ext cx="2532887" cy="384048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l">
              <a:spcAft>
                <a:spcPts val="100"/>
              </a:spcAft>
              <a:defRPr sz="750" b="1">
                <a:solidFill>
                  <a:srgbClr val="475569"/>
                </a:solidFill>
              </a:defRPr>
            </a:pPr>
            <a:r>
              <a:t>✦ Airflow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111827"/>
                </a:solidFill>
              </a:defRPr>
            </a:pPr>
            <a:r>
              <a:t>500 workspace tasks  ·  20 concurrent  →  25 rounds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" y="2084832"/>
            <a:ext cx="2587751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00" b="1" i="0">
                <a:solidFill>
                  <a:srgbClr val="64748B"/>
                </a:solidFill>
              </a:defRPr>
            </a:pPr>
            <a:r>
              <a:t>What happens:</a:t>
            </a:r>
          </a:p>
        </p:txBody>
      </p:sp>
      <p:sp>
        <p:nvSpPr>
          <p:cNvPr id="27" name="Oval 26"/>
          <p:cNvSpPr/>
          <p:nvPr/>
        </p:nvSpPr>
        <p:spPr>
          <a:xfrm>
            <a:off x="310896" y="2336292"/>
            <a:ext cx="64008" cy="640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8" y="2295144"/>
            <a:ext cx="2441448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0" i="0">
                <a:solidFill>
                  <a:srgbClr val="111827"/>
                </a:solidFill>
              </a:defRPr>
            </a:pPr>
            <a:r>
              <a:t>Scan workspace dirs for .ipynb / .py / .sql / .md</a:t>
            </a:r>
          </a:p>
        </p:txBody>
      </p:sp>
      <p:sp>
        <p:nvSpPr>
          <p:cNvPr id="29" name="Oval 28"/>
          <p:cNvSpPr/>
          <p:nvPr/>
        </p:nvSpPr>
        <p:spPr>
          <a:xfrm>
            <a:off x="310896" y="2564892"/>
            <a:ext cx="64008" cy="640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9768" y="2523744"/>
            <a:ext cx="2441448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0" i="0">
                <a:solidFill>
                  <a:srgbClr val="111827"/>
                </a:solidFill>
              </a:defRPr>
            </a:pPr>
            <a:r>
              <a:t>Extract text + notebook cell content</a:t>
            </a:r>
          </a:p>
        </p:txBody>
      </p:sp>
      <p:sp>
        <p:nvSpPr>
          <p:cNvPr id="31" name="Oval 30"/>
          <p:cNvSpPr/>
          <p:nvPr/>
        </p:nvSpPr>
        <p:spPr>
          <a:xfrm>
            <a:off x="310896" y="2793492"/>
            <a:ext cx="64008" cy="640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9768" y="2752344"/>
            <a:ext cx="2441448" cy="16773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0" i="0">
                <a:solidFill>
                  <a:srgbClr val="111827"/>
                </a:solidFill>
              </a:defRPr>
            </a:pPr>
            <a:r>
              <a:rPr lang="en-US" dirty="0"/>
              <a:t>SHA 256</a:t>
            </a:r>
            <a:r>
              <a:rPr dirty="0"/>
              <a:t> content-hash fingerprinting</a:t>
            </a:r>
          </a:p>
        </p:txBody>
      </p:sp>
      <p:sp>
        <p:nvSpPr>
          <p:cNvPr id="33" name="Oval 32"/>
          <p:cNvSpPr/>
          <p:nvPr/>
        </p:nvSpPr>
        <p:spPr>
          <a:xfrm>
            <a:off x="310896" y="3022092"/>
            <a:ext cx="64008" cy="640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9768" y="2980944"/>
            <a:ext cx="2441448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0" i="0">
                <a:solidFill>
                  <a:srgbClr val="111827"/>
                </a:solidFill>
              </a:defRPr>
            </a:pPr>
            <a:r>
              <a:t>Write ingestion_catalog.json (100K records)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291840"/>
            <a:ext cx="2606039" cy="438912"/>
          </a:xfrm>
          <a:prstGeom prst="rect">
            <a:avLst/>
          </a:prstGeom>
          <a:solidFill>
            <a:srgbClr val="F1F5F9"/>
          </a:solidFill>
          <a:ln w="889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0896" y="3319272"/>
            <a:ext cx="2532887" cy="393192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64748B"/>
                </a:solidFill>
              </a:defRPr>
            </a:pPr>
            <a:r>
              <a:t>IN: 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111827"/>
                </a:solidFill>
              </a:defRPr>
            </a:pPr>
            <a:r>
              <a:t>Workspace files</a:t>
            </a:r>
            <a:br/>
            <a:r>
              <a:t>(dataset/  —  500 WS)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577339" y="3730752"/>
            <a:ext cx="0" cy="128016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74320" y="3858768"/>
            <a:ext cx="2606039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10896" y="3877056"/>
            <a:ext cx="2532887" cy="340606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2563EB"/>
                </a:solidFill>
              </a:defRPr>
            </a:pPr>
            <a:r>
              <a:rPr dirty="0"/>
              <a:t>OUT → </a:t>
            </a:r>
            <a:r>
              <a:rPr lang="en-US" dirty="0"/>
              <a:t>Postgres</a:t>
            </a:r>
            <a:r>
              <a:rPr dirty="0"/>
              <a:t>: </a:t>
            </a:r>
          </a:p>
          <a:p>
            <a:pPr algn="l">
              <a:spcAft>
                <a:spcPts val="100"/>
              </a:spcAft>
              <a:defRPr sz="850" b="1">
                <a:solidFill>
                  <a:srgbClr val="111827"/>
                </a:solidFill>
              </a:defRPr>
            </a:pPr>
            <a:r>
              <a:rPr lang="en-US" dirty="0"/>
              <a:t>Workspace    Artifact</a:t>
            </a:r>
            <a:endParaRPr dirty="0"/>
          </a:p>
        </p:txBody>
      </p:sp>
      <p:sp>
        <p:nvSpPr>
          <p:cNvPr id="40" name="TextBox 39"/>
          <p:cNvSpPr txBox="1"/>
          <p:nvPr/>
        </p:nvSpPr>
        <p:spPr>
          <a:xfrm>
            <a:off x="292608" y="4370832"/>
            <a:ext cx="2587751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</a:defRPr>
            </a:pPr>
            <a:r>
              <a:t>~16 min  (sequential)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4626864"/>
            <a:ext cx="2606039" cy="402336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10896" y="4572001"/>
            <a:ext cx="2532887" cy="365760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l">
              <a:spcAft>
                <a:spcPts val="100"/>
              </a:spcAft>
              <a:defRPr sz="850" b="1">
                <a:solidFill>
                  <a:srgbClr val="64748B"/>
                </a:solidFill>
              </a:defRPr>
            </a:pPr>
            <a:r>
              <a:t>⚡  20 workers:</a:t>
            </a:r>
          </a:p>
          <a:p>
            <a:pPr algn="l">
              <a:spcAft>
                <a:spcPts val="100"/>
              </a:spcAft>
              <a:defRPr sz="1150" b="1">
                <a:solidFill>
                  <a:srgbClr val="16A34A"/>
                </a:solidFill>
              </a:defRPr>
            </a:pPr>
            <a:r>
              <a:t>~1.5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" y="5637275"/>
            <a:ext cx="2587751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</a:defRPr>
            </a:pPr>
            <a:r>
              <a:t>No API calls  —  pure I/O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971800" y="3044952"/>
            <a:ext cx="164592" cy="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/>
          <p:cNvSpPr/>
          <p:nvPr/>
        </p:nvSpPr>
        <p:spPr>
          <a:xfrm rot="5400000">
            <a:off x="3044952" y="2980944"/>
            <a:ext cx="109728" cy="128016"/>
          </a:xfrm>
          <a:prstGeom prst="triangl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136392" y="1115568"/>
            <a:ext cx="2788920" cy="3858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136392" y="1115568"/>
            <a:ext cx="2788920" cy="43891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227832" y="1197864"/>
            <a:ext cx="292608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27832" y="1197864"/>
            <a:ext cx="29260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 i="0">
                <a:solidFill>
                  <a:srgbClr val="6D28D9"/>
                </a:solidFill>
              </a:defRPr>
            </a:pPr>
            <a:r>
              <a:t>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75304" y="1216152"/>
            <a:ext cx="225856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1" i="0">
                <a:solidFill>
                  <a:srgbClr val="FFFFFF"/>
                </a:solidFill>
              </a:defRPr>
            </a:pPr>
            <a:r>
              <a:t>Artifact Embedding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27832" y="1609344"/>
            <a:ext cx="2606039" cy="411480"/>
          </a:xfrm>
          <a:prstGeom prst="rect">
            <a:avLst/>
          </a:prstGeom>
          <a:solidFill>
            <a:srgbClr val="F1F5F9"/>
          </a:solidFill>
          <a:ln w="762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264408" y="1627632"/>
            <a:ext cx="2532887" cy="384048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l">
              <a:spcAft>
                <a:spcPts val="100"/>
              </a:spcAft>
              <a:defRPr sz="750" b="1">
                <a:solidFill>
                  <a:srgbClr val="475569"/>
                </a:solidFill>
              </a:defRPr>
            </a:pPr>
            <a:r>
              <a:t>✦ Airflow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111827"/>
                </a:solidFill>
              </a:defRPr>
            </a:pPr>
            <a:r>
              <a:t>500 workspace tasks  ·  20 concurrent  →  25 rounds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46120" y="2084832"/>
            <a:ext cx="2587751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00" b="1" i="0">
                <a:solidFill>
                  <a:srgbClr val="64748B"/>
                </a:solidFill>
              </a:defRPr>
            </a:pPr>
            <a:r>
              <a:t>What happens:</a:t>
            </a:r>
          </a:p>
        </p:txBody>
      </p:sp>
      <p:sp>
        <p:nvSpPr>
          <p:cNvPr id="54" name="Oval 53"/>
          <p:cNvSpPr/>
          <p:nvPr/>
        </p:nvSpPr>
        <p:spPr>
          <a:xfrm>
            <a:off x="3264408" y="2336292"/>
            <a:ext cx="64008" cy="6400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383280" y="2295144"/>
            <a:ext cx="2441448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0" i="0">
                <a:solidFill>
                  <a:srgbClr val="111827"/>
                </a:solidFill>
              </a:defRPr>
            </a:pPr>
            <a:r>
              <a:t>Load catalog  →  191 docs / workspace avg</a:t>
            </a:r>
          </a:p>
        </p:txBody>
      </p:sp>
      <p:sp>
        <p:nvSpPr>
          <p:cNvPr id="56" name="Oval 55"/>
          <p:cNvSpPr/>
          <p:nvPr/>
        </p:nvSpPr>
        <p:spPr>
          <a:xfrm>
            <a:off x="3264408" y="2564892"/>
            <a:ext cx="64008" cy="6400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383280" y="2523744"/>
            <a:ext cx="2441448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0" i="0">
                <a:solidFill>
                  <a:srgbClr val="111827"/>
                </a:solidFill>
              </a:defRPr>
            </a:pPr>
            <a:r>
              <a:t>Chunk + guardrail filter (1 rejected / WS avg)</a:t>
            </a:r>
          </a:p>
        </p:txBody>
      </p:sp>
      <p:sp>
        <p:nvSpPr>
          <p:cNvPr id="58" name="Oval 57"/>
          <p:cNvSpPr/>
          <p:nvPr/>
        </p:nvSpPr>
        <p:spPr>
          <a:xfrm>
            <a:off x="3264408" y="2793492"/>
            <a:ext cx="64008" cy="6400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383280" y="2752344"/>
            <a:ext cx="2441448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0" i="0">
                <a:solidFill>
                  <a:srgbClr val="111827"/>
                </a:solidFill>
              </a:defRPr>
            </a:pPr>
            <a:r>
              <a:t>OpenAI embed: batch_size=32  →  3,125 batches</a:t>
            </a:r>
          </a:p>
        </p:txBody>
      </p:sp>
      <p:sp>
        <p:nvSpPr>
          <p:cNvPr id="60" name="Oval 59"/>
          <p:cNvSpPr/>
          <p:nvPr/>
        </p:nvSpPr>
        <p:spPr>
          <a:xfrm>
            <a:off x="3264408" y="3022092"/>
            <a:ext cx="64008" cy="6400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383280" y="2980944"/>
            <a:ext cx="2441448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0" i="0">
                <a:solidFill>
                  <a:srgbClr val="111827"/>
                </a:solidFill>
              </a:defRPr>
            </a:pPr>
            <a:r>
              <a:t>Upsert 100K vectors into Milvus (1536-dim)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27832" y="3291840"/>
            <a:ext cx="2606039" cy="438912"/>
          </a:xfrm>
          <a:prstGeom prst="rect">
            <a:avLst/>
          </a:prstGeom>
          <a:solidFill>
            <a:srgbClr val="F1F5F9"/>
          </a:solidFill>
          <a:ln w="889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264408" y="3319272"/>
            <a:ext cx="2532887" cy="393192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64748B"/>
                </a:solidFill>
              </a:defRPr>
            </a:pPr>
            <a:r>
              <a:t>IN: 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111827"/>
                </a:solidFill>
              </a:defRPr>
            </a:pPr>
            <a:r>
              <a:t>ingestion_catalog.json</a:t>
            </a:r>
            <a:br/>
            <a:r>
              <a:t>(100K artifact records)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530852" y="3730752"/>
            <a:ext cx="0" cy="128016"/>
          </a:xfrm>
          <a:prstGeom prst="line">
            <a:avLst/>
          </a:prstGeom>
          <a:ln w="1524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3227832" y="3858768"/>
            <a:ext cx="2606039" cy="438912"/>
          </a:xfrm>
          <a:prstGeom prst="rect">
            <a:avLst/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264408" y="3877056"/>
            <a:ext cx="2532887" cy="393192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6D28D9"/>
                </a:solidFill>
              </a:defRPr>
            </a:pPr>
            <a:r>
              <a:t>OUT → Milvus: </a:t>
            </a:r>
          </a:p>
          <a:p>
            <a:pPr algn="l">
              <a:spcAft>
                <a:spcPts val="100"/>
              </a:spcAft>
              <a:defRPr sz="850" b="1">
                <a:solidFill>
                  <a:srgbClr val="111827"/>
                </a:solidFill>
              </a:defRPr>
            </a:pPr>
            <a:r>
              <a:t>(Milvus — 100K vectors)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46120" y="4370832"/>
            <a:ext cx="2587751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</a:defRPr>
            </a:pPr>
            <a:r>
              <a:t>~1 hr 35 min  (sequential)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227832" y="4626864"/>
            <a:ext cx="2606039" cy="402336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264408" y="4654296"/>
            <a:ext cx="2532887" cy="365760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l">
              <a:spcAft>
                <a:spcPts val="100"/>
              </a:spcAft>
              <a:defRPr sz="850" b="1">
                <a:solidFill>
                  <a:srgbClr val="64748B"/>
                </a:solidFill>
              </a:defRPr>
            </a:pPr>
            <a:r>
              <a:t>⚡  20 workers:</a:t>
            </a:r>
          </a:p>
          <a:p>
            <a:pPr algn="l">
              <a:spcAft>
                <a:spcPts val="100"/>
              </a:spcAft>
              <a:defRPr sz="1150" b="1">
                <a:solidFill>
                  <a:srgbClr val="16A34A"/>
                </a:solidFill>
              </a:defRPr>
            </a:pPr>
            <a:r>
              <a:t>~9 min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82696" y="5637275"/>
            <a:ext cx="2587751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</a:defRPr>
            </a:pPr>
            <a:r>
              <a:t>3,125 OpenAI embed calls  ·  ~1.83 s/batch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925312" y="3044952"/>
            <a:ext cx="164592" cy="0"/>
          </a:xfrm>
          <a:prstGeom prst="line">
            <a:avLst/>
          </a:prstGeom>
          <a:ln w="2794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/>
          <p:cNvSpPr/>
          <p:nvPr/>
        </p:nvSpPr>
        <p:spPr>
          <a:xfrm rot="5400000">
            <a:off x="5998464" y="2980944"/>
            <a:ext cx="109728" cy="128016"/>
          </a:xfrm>
          <a:prstGeom prst="triangle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6089904" y="1115568"/>
            <a:ext cx="2788920" cy="3858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089904" y="1115568"/>
            <a:ext cx="2788920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81344" y="1197864"/>
            <a:ext cx="292608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181344" y="1197864"/>
            <a:ext cx="29260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 i="0">
                <a:solidFill>
                  <a:srgbClr val="DC2626"/>
                </a:solidFill>
              </a:defRPr>
            </a:pPr>
            <a:r>
              <a:t>03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28816" y="1216152"/>
            <a:ext cx="225856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1" i="0">
                <a:solidFill>
                  <a:srgbClr val="FFFFFF"/>
                </a:solidFill>
              </a:defRPr>
            </a:pPr>
            <a:r>
              <a:t>Artifact Summaries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81344" y="1609344"/>
            <a:ext cx="2606039" cy="411480"/>
          </a:xfrm>
          <a:prstGeom prst="rect">
            <a:avLst/>
          </a:prstGeom>
          <a:solidFill>
            <a:srgbClr val="F1F5F9"/>
          </a:solidFill>
          <a:ln w="762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217920" y="1627632"/>
            <a:ext cx="2532887" cy="384048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l">
              <a:spcAft>
                <a:spcPts val="100"/>
              </a:spcAft>
              <a:defRPr sz="750" b="1">
                <a:solidFill>
                  <a:srgbClr val="475569"/>
                </a:solidFill>
              </a:defRPr>
            </a:pPr>
            <a:r>
              <a:t>✦ Airflow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111827"/>
                </a:solidFill>
              </a:defRPr>
            </a:pPr>
            <a:r>
              <a:t>500 workspace tasks  ·  20 concurrent  →  25 rounds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99632" y="2084832"/>
            <a:ext cx="2587751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00" b="1" i="0">
                <a:solidFill>
                  <a:srgbClr val="64748B"/>
                </a:solidFill>
              </a:defRPr>
            </a:pPr>
            <a:r>
              <a:t>What happens:</a:t>
            </a:r>
          </a:p>
        </p:txBody>
      </p:sp>
      <p:sp>
        <p:nvSpPr>
          <p:cNvPr id="81" name="Oval 80"/>
          <p:cNvSpPr/>
          <p:nvPr/>
        </p:nvSpPr>
        <p:spPr>
          <a:xfrm>
            <a:off x="6217920" y="2336292"/>
            <a:ext cx="64008" cy="640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336792" y="2295144"/>
            <a:ext cx="2441448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0" i="0">
                <a:solidFill>
                  <a:srgbClr val="111827"/>
                </a:solidFill>
              </a:defRPr>
            </a:pPr>
            <a:r>
              <a:t>1 LLM call per artifact  (gpt-4o-mini)</a:t>
            </a:r>
          </a:p>
        </p:txBody>
      </p:sp>
      <p:sp>
        <p:nvSpPr>
          <p:cNvPr id="83" name="Oval 82"/>
          <p:cNvSpPr/>
          <p:nvPr/>
        </p:nvSpPr>
        <p:spPr>
          <a:xfrm>
            <a:off x="6217920" y="2564892"/>
            <a:ext cx="64008" cy="640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336792" y="2523744"/>
            <a:ext cx="2441448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0" i="0">
                <a:solidFill>
                  <a:srgbClr val="111827"/>
                </a:solidFill>
              </a:defRPr>
            </a:pPr>
            <a:r>
              <a:t>Max 220 output tokens  ·  JSON response</a:t>
            </a:r>
          </a:p>
        </p:txBody>
      </p:sp>
      <p:sp>
        <p:nvSpPr>
          <p:cNvPr id="85" name="Oval 84"/>
          <p:cNvSpPr/>
          <p:nvPr/>
        </p:nvSpPr>
        <p:spPr>
          <a:xfrm>
            <a:off x="6217920" y="2793492"/>
            <a:ext cx="64008" cy="640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336792" y="2752344"/>
            <a:ext cx="2441448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0" i="0">
                <a:solidFill>
                  <a:srgbClr val="111827"/>
                </a:solidFill>
              </a:defRPr>
            </a:pPr>
            <a:r>
              <a:t>Rate: 22 artifacts/min per worker</a:t>
            </a:r>
          </a:p>
        </p:txBody>
      </p:sp>
      <p:sp>
        <p:nvSpPr>
          <p:cNvPr id="87" name="Oval 86"/>
          <p:cNvSpPr/>
          <p:nvPr/>
        </p:nvSpPr>
        <p:spPr>
          <a:xfrm>
            <a:off x="6217920" y="3022092"/>
            <a:ext cx="64008" cy="640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336792" y="2980944"/>
            <a:ext cx="2441448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0" i="0">
                <a:solidFill>
                  <a:srgbClr val="111827"/>
                </a:solidFill>
              </a:defRPr>
            </a:pPr>
            <a:r>
              <a:t>Embed summaries  →  upsert to Milvus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81344" y="3291840"/>
            <a:ext cx="2606039" cy="438912"/>
          </a:xfrm>
          <a:prstGeom prst="rect">
            <a:avLst/>
          </a:prstGeom>
          <a:solidFill>
            <a:srgbClr val="F1F5F9"/>
          </a:solidFill>
          <a:ln w="889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217920" y="3319272"/>
            <a:ext cx="2532887" cy="393192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64748B"/>
                </a:solidFill>
              </a:defRPr>
            </a:pPr>
            <a:r>
              <a:t>IN: 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111827"/>
                </a:solidFill>
              </a:defRPr>
            </a:pPr>
            <a:r>
              <a:t>ingestion_catalog.json</a:t>
            </a:r>
            <a:br/>
            <a:r>
              <a:t>(100K artifacts)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484364" y="3730752"/>
            <a:ext cx="0" cy="128016"/>
          </a:xfrm>
          <a:prstGeom prst="line">
            <a:avLst/>
          </a:prstGeom>
          <a:ln w="152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6181344" y="3858768"/>
            <a:ext cx="2606039" cy="43891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217920" y="3877056"/>
            <a:ext cx="2532887" cy="393192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DC2626"/>
                </a:solidFill>
              </a:defRPr>
            </a:pPr>
            <a:r>
              <a:t>OUT → Milvus: </a:t>
            </a:r>
          </a:p>
          <a:p>
            <a:pPr algn="l">
              <a:spcAft>
                <a:spcPts val="100"/>
              </a:spcAft>
              <a:defRPr sz="850" b="1">
                <a:solidFill>
                  <a:srgbClr val="111827"/>
                </a:solidFill>
              </a:defRPr>
            </a:pPr>
            <a:r>
              <a:t>(Milvus — 100K entries)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99632" y="4370832"/>
            <a:ext cx="2587751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</a:defRPr>
            </a:pPr>
            <a:r>
              <a:t>~75 hrs 50 min  (sequential)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181344" y="4626864"/>
            <a:ext cx="2606039" cy="402336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217920" y="4654296"/>
            <a:ext cx="2532887" cy="365760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l">
              <a:spcAft>
                <a:spcPts val="100"/>
              </a:spcAft>
              <a:defRPr sz="850" b="1">
                <a:solidFill>
                  <a:srgbClr val="64748B"/>
                </a:solidFill>
              </a:defRPr>
            </a:pPr>
            <a:r>
              <a:t>⚡  20 workers:</a:t>
            </a:r>
          </a:p>
          <a:p>
            <a:pPr algn="l">
              <a:spcAft>
                <a:spcPts val="100"/>
              </a:spcAft>
              <a:defRPr sz="1150" b="1">
                <a:solidFill>
                  <a:srgbClr val="DC2626"/>
                </a:solidFill>
              </a:defRPr>
            </a:pPr>
            <a:r>
              <a:t>~4 hrs 2 min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36208" y="5637275"/>
            <a:ext cx="2587751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</a:defRPr>
            </a:pPr>
            <a:r>
              <a:t>100,000 LLM calls  ·  2.5 s avg latency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199632" y="5112322"/>
            <a:ext cx="2606039" cy="237744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199632" y="5149871"/>
            <a:ext cx="2532887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1" i="0">
                <a:solidFill>
                  <a:srgbClr val="DC2626"/>
                </a:solidFill>
              </a:defRPr>
            </a:pPr>
            <a:r>
              <a:rPr dirty="0"/>
              <a:t>⚠  CRITICAL PATH — drives total runtime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8878824" y="3044952"/>
            <a:ext cx="164592" cy="0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Isosceles Triangle 100"/>
          <p:cNvSpPr/>
          <p:nvPr/>
        </p:nvSpPr>
        <p:spPr>
          <a:xfrm rot="5400000">
            <a:off x="8951976" y="2980944"/>
            <a:ext cx="109728" cy="128016"/>
          </a:xfrm>
          <a:prstGeom prst="triangl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9043415" y="1115568"/>
            <a:ext cx="2788920" cy="3858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651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9043415" y="1115568"/>
            <a:ext cx="2788920" cy="43891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9134855" y="1197864"/>
            <a:ext cx="292608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134855" y="1197864"/>
            <a:ext cx="29260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 i="0">
                <a:solidFill>
                  <a:srgbClr val="BE185D"/>
                </a:solidFill>
              </a:defRPr>
            </a:pPr>
            <a:r>
              <a:t>04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482328" y="1216152"/>
            <a:ext cx="2258568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1250" b="1" i="0">
                <a:solidFill>
                  <a:srgbClr val="FFFFFF"/>
                </a:solidFill>
              </a:defRPr>
            </a:pPr>
            <a:r>
              <a:t>User Profiles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134855" y="1609344"/>
            <a:ext cx="2606039" cy="411480"/>
          </a:xfrm>
          <a:prstGeom prst="rect">
            <a:avLst/>
          </a:prstGeom>
          <a:solidFill>
            <a:srgbClr val="F1F5F9"/>
          </a:solidFill>
          <a:ln w="762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9171432" y="1627632"/>
            <a:ext cx="2532887" cy="384048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l">
              <a:spcAft>
                <a:spcPts val="100"/>
              </a:spcAft>
              <a:defRPr sz="750" b="1">
                <a:solidFill>
                  <a:srgbClr val="475569"/>
                </a:solidFill>
              </a:defRPr>
            </a:pPr>
            <a:r>
              <a:t>✦ Airflow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111827"/>
                </a:solidFill>
              </a:defRPr>
            </a:pPr>
            <a:r>
              <a:t>500 workspace tasks  ·  20 concurrent  →  25 rounds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53143" y="2084832"/>
            <a:ext cx="2587751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00" b="1" i="0">
                <a:solidFill>
                  <a:srgbClr val="64748B"/>
                </a:solidFill>
              </a:defRPr>
            </a:pPr>
            <a:r>
              <a:t>What happens:</a:t>
            </a:r>
          </a:p>
        </p:txBody>
      </p:sp>
      <p:sp>
        <p:nvSpPr>
          <p:cNvPr id="110" name="Oval 109"/>
          <p:cNvSpPr/>
          <p:nvPr/>
        </p:nvSpPr>
        <p:spPr>
          <a:xfrm>
            <a:off x="9171432" y="2336292"/>
            <a:ext cx="64008" cy="64008"/>
          </a:xfrm>
          <a:prstGeom prst="ellipse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290303" y="2295144"/>
            <a:ext cx="2441448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0" i="0">
                <a:solidFill>
                  <a:srgbClr val="111827"/>
                </a:solidFill>
              </a:defRPr>
            </a:pPr>
            <a:r>
              <a:t>Fetch artifact summaries per workspace</a:t>
            </a:r>
          </a:p>
        </p:txBody>
      </p:sp>
      <p:sp>
        <p:nvSpPr>
          <p:cNvPr id="112" name="Oval 111"/>
          <p:cNvSpPr/>
          <p:nvPr/>
        </p:nvSpPr>
        <p:spPr>
          <a:xfrm>
            <a:off x="9171432" y="2564892"/>
            <a:ext cx="64008" cy="64008"/>
          </a:xfrm>
          <a:prstGeom prst="ellipse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290303" y="2523744"/>
            <a:ext cx="2441448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0" i="0">
                <a:solidFill>
                  <a:srgbClr val="111827"/>
                </a:solidFill>
              </a:defRPr>
            </a:pPr>
            <a:r>
              <a:t>1 LLM call per workspace  (gpt-4o-mini)</a:t>
            </a:r>
          </a:p>
        </p:txBody>
      </p:sp>
      <p:sp>
        <p:nvSpPr>
          <p:cNvPr id="114" name="Oval 113"/>
          <p:cNvSpPr/>
          <p:nvPr/>
        </p:nvSpPr>
        <p:spPr>
          <a:xfrm>
            <a:off x="9171432" y="2793492"/>
            <a:ext cx="64008" cy="64008"/>
          </a:xfrm>
          <a:prstGeom prst="ellipse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9290303" y="2752344"/>
            <a:ext cx="2441448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0" i="0">
                <a:solidFill>
                  <a:srgbClr val="111827"/>
                </a:solidFill>
              </a:defRPr>
            </a:pPr>
            <a:r>
              <a:t>Profile text + skill tags generated</a:t>
            </a:r>
          </a:p>
        </p:txBody>
      </p:sp>
      <p:sp>
        <p:nvSpPr>
          <p:cNvPr id="116" name="Oval 115"/>
          <p:cNvSpPr/>
          <p:nvPr/>
        </p:nvSpPr>
        <p:spPr>
          <a:xfrm>
            <a:off x="9171432" y="3022092"/>
            <a:ext cx="64008" cy="64008"/>
          </a:xfrm>
          <a:prstGeom prst="ellipse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9290303" y="2980944"/>
            <a:ext cx="2441448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0" i="0">
                <a:solidFill>
                  <a:srgbClr val="111827"/>
                </a:solidFill>
              </a:defRPr>
            </a:pPr>
            <a:r>
              <a:t>Embed + upsert into user_profiles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134855" y="3291840"/>
            <a:ext cx="2606039" cy="438912"/>
          </a:xfrm>
          <a:prstGeom prst="rect">
            <a:avLst/>
          </a:prstGeom>
          <a:solidFill>
            <a:srgbClr val="F1F5F9"/>
          </a:solidFill>
          <a:ln w="889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171432" y="3319272"/>
            <a:ext cx="2532887" cy="393192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64748B"/>
                </a:solidFill>
              </a:defRPr>
            </a:pPr>
            <a:r>
              <a:t>IN: 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111827"/>
                </a:solidFill>
              </a:defRPr>
            </a:pPr>
            <a:r>
              <a:t>artifact_summaries</a:t>
            </a:r>
            <a:br/>
            <a:r>
              <a:t>(Milvus — per workspace)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10437876" y="3730752"/>
            <a:ext cx="0" cy="128016"/>
          </a:xfrm>
          <a:prstGeom prst="line">
            <a:avLst/>
          </a:prstGeom>
          <a:ln w="15240">
            <a:solidFill>
              <a:srgbClr val="BE18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9134855" y="3858768"/>
            <a:ext cx="2606039" cy="438912"/>
          </a:xfrm>
          <a:prstGeom prst="rect">
            <a:avLst/>
          </a:prstGeom>
          <a:solidFill>
            <a:srgbClr val="FCE7F3"/>
          </a:solidFill>
          <a:ln w="1270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9171432" y="3877056"/>
            <a:ext cx="2532887" cy="393192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BE185D"/>
                </a:solidFill>
              </a:defRPr>
            </a:pPr>
            <a:r>
              <a:t>OUT → Milvus: </a:t>
            </a:r>
          </a:p>
          <a:p>
            <a:pPr algn="l">
              <a:spcAft>
                <a:spcPts val="100"/>
              </a:spcAft>
              <a:defRPr sz="850" b="1">
                <a:solidFill>
                  <a:srgbClr val="111827"/>
                </a:solidFill>
              </a:defRPr>
            </a:pPr>
            <a:r>
              <a:t>(Milvus — 500 profiles)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53143" y="4370832"/>
            <a:ext cx="2587751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</a:defRPr>
            </a:pPr>
            <a:r>
              <a:t>~33 min  (sequential)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9134855" y="4626864"/>
            <a:ext cx="2606039" cy="402336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171432" y="4654296"/>
            <a:ext cx="2532887" cy="365760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l">
              <a:spcAft>
                <a:spcPts val="100"/>
              </a:spcAft>
              <a:defRPr sz="850" b="1">
                <a:solidFill>
                  <a:srgbClr val="64748B"/>
                </a:solidFill>
              </a:defRPr>
            </a:pPr>
            <a:r>
              <a:t>⚡  20 workers:</a:t>
            </a:r>
          </a:p>
          <a:p>
            <a:pPr algn="l">
              <a:spcAft>
                <a:spcPts val="100"/>
              </a:spcAft>
              <a:defRPr sz="1150" b="1">
                <a:solidFill>
                  <a:srgbClr val="16A34A"/>
                </a:solidFill>
              </a:defRPr>
            </a:pPr>
            <a:r>
              <a:t>~4 min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189719" y="5637275"/>
            <a:ext cx="2587751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</a:defRPr>
            </a:pPr>
            <a:r>
              <a:t>500 LLM calls  ·  4 s avg latency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56032" y="5673850"/>
            <a:ext cx="274320" cy="329184"/>
          </a:xfrm>
          <a:prstGeom prst="rect">
            <a:avLst/>
          </a:prstGeom>
          <a:solidFill>
            <a:srgbClr val="2563EB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219456" y="5486399"/>
            <a:ext cx="36576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750" b="1" i="0">
                <a:solidFill>
                  <a:srgbClr val="2563EB"/>
                </a:solidFill>
              </a:defRPr>
            </a:pPr>
            <a:r>
              <a:t>~1.5 m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30352" y="5673850"/>
            <a:ext cx="502920" cy="329184"/>
          </a:xfrm>
          <a:prstGeom prst="rect">
            <a:avLst/>
          </a:prstGeom>
          <a:solidFill>
            <a:srgbClr val="6D28D9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493776" y="5486399"/>
            <a:ext cx="59436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750" b="1" i="0">
                <a:solidFill>
                  <a:srgbClr val="6D28D9"/>
                </a:solidFill>
              </a:defRPr>
            </a:pPr>
            <a:r>
              <a:t>~9 m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33272" y="5673850"/>
            <a:ext cx="10607040" cy="329184"/>
          </a:xfrm>
          <a:prstGeom prst="rect">
            <a:avLst/>
          </a:prstGeom>
          <a:solidFill>
            <a:srgbClr val="DC2626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1106424" y="5737859"/>
            <a:ext cx="10497312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50" b="1" i="0">
                <a:solidFill>
                  <a:srgbClr val="FFFFFF"/>
                </a:solidFill>
              </a:defRPr>
            </a:pPr>
            <a:r>
              <a:t>~4 hrs 2 min  (bottleneck)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1640312" y="5673850"/>
            <a:ext cx="365760" cy="329184"/>
          </a:xfrm>
          <a:prstGeom prst="rect">
            <a:avLst/>
          </a:prstGeom>
          <a:solidFill>
            <a:srgbClr val="BE185D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1603736" y="5486399"/>
            <a:ext cx="45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750" b="1" i="0">
                <a:solidFill>
                  <a:srgbClr val="BE185D"/>
                </a:solidFill>
              </a:defRPr>
            </a:pPr>
            <a:r>
              <a:t>~4 m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92608" y="4864608"/>
            <a:ext cx="548640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00" b="0" i="0">
                <a:solidFill>
                  <a:srgbClr val="64748B"/>
                </a:solidFill>
              </a:defRPr>
            </a:pPr>
            <a:r>
              <a:t>Proportional runtime  (20 Airflow workers):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86800" y="4937759"/>
            <a:ext cx="33832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800" b="1" i="0">
                <a:solidFill>
                  <a:srgbClr val="DC2626"/>
                </a:solidFill>
              </a:defRPr>
            </a:pPr>
            <a:r>
              <a:t>← Stage 3 = 94.5% of total runtime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74320" y="6373366"/>
            <a:ext cx="1828800" cy="310896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320040" y="6391654"/>
            <a:ext cx="17373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50" b="1" i="0">
                <a:solidFill>
                  <a:srgbClr val="111827"/>
                </a:solidFill>
              </a:defRPr>
            </a:pPr>
            <a:r>
              <a:t>Total: ~4 hrs 16 min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2231136" y="6373366"/>
            <a:ext cx="1920240" cy="310896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2276855" y="639165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111827"/>
                </a:solidFill>
              </a:defRPr>
            </a:pPr>
            <a:r>
              <a:t>100,000 LLM calls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4242816" y="6373366"/>
            <a:ext cx="1920240" cy="310896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4288536" y="639165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111827"/>
                </a:solidFill>
              </a:defRPr>
            </a:pPr>
            <a:r>
              <a:t>3,125 embed batches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6254496" y="6373366"/>
            <a:ext cx="1920240" cy="310896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300216" y="6391654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111827"/>
                </a:solidFill>
              </a:defRPr>
            </a:pPr>
            <a:r>
              <a:t>4 Milvus collections updated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266176" y="6373366"/>
            <a:ext cx="2148840" cy="310896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8311896" y="6391654"/>
            <a:ext cx="2057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111827"/>
                </a:solidFill>
              </a:defRPr>
            </a:pPr>
            <a:r>
              <a:t>Bottleneck: Stage 3 — Summaries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19456" y="6108191"/>
            <a:ext cx="118872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750" b="0" i="1">
                <a:solidFill>
                  <a:srgbClr val="64748B"/>
                </a:solidFill>
              </a:defRPr>
            </a:pPr>
            <a:r>
              <a:t>Basis: observed 2026-05-03 run — 211 artifacts/2 s (ingest), 190 artifacts/11 s (embed, 6×32-batch), 211 summaries/9m 36s (22/min).  Extrapolated to 100K.  OpenAI Tier 4: gpt-4o-mini 10K RPM · embeddings 5K RPM · 20 Airflow workers · batch_size=32.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11827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3047238" cy="54864"/>
          </a:xfrm>
          <a:prstGeom prst="rect">
            <a:avLst/>
          </a:prstGeom>
          <a:solidFill>
            <a:srgbClr val="2563EB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047238" y="274320"/>
            <a:ext cx="3047238" cy="54864"/>
          </a:xfrm>
          <a:prstGeom prst="rect">
            <a:avLst/>
          </a:prstGeom>
          <a:solidFill>
            <a:srgbClr val="16A34A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4476" y="274320"/>
            <a:ext cx="3047238" cy="54864"/>
          </a:xfrm>
          <a:prstGeom prst="rect">
            <a:avLst/>
          </a:prstGeom>
          <a:solidFill>
            <a:srgbClr val="B46400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1714" y="274320"/>
            <a:ext cx="3047238" cy="54864"/>
          </a:xfrm>
          <a:prstGeom prst="rect">
            <a:avLst/>
          </a:prstGeom>
          <a:solidFill>
            <a:srgbClr val="BE185D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1143000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defRPr sz="800" b="0" i="0">
                <a:solidFill>
                  <a:srgbClr val="64748B"/>
                </a:solidFill>
              </a:defRPr>
            </a:pPr>
            <a:r>
              <a:t>Kubeflow Workspace Intelligence LLMOps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347472"/>
            <a:ext cx="8686800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2200" b="1" i="0">
                <a:solidFill>
                  <a:srgbClr val="111827"/>
                </a:solidFill>
              </a:defRPr>
            </a:pPr>
            <a:r>
              <a:t>Incremental Load  —  Depth-First Per-Workspace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777240"/>
            <a:ext cx="1005840" cy="2743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795528"/>
            <a:ext cx="914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00" b="1" i="0">
                <a:solidFill>
                  <a:srgbClr val="111827"/>
                </a:solidFill>
              </a:defRPr>
            </a:pPr>
            <a:r>
              <a:t>Daily trigger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777240"/>
            <a:ext cx="2240280" cy="27432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795528"/>
            <a:ext cx="21488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00" b="1" i="0">
                <a:solidFill>
                  <a:srgbClr val="111827"/>
                </a:solidFill>
              </a:defRPr>
            </a:pPr>
            <a:r>
              <a:t>5% WS changed → 25 workspaces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777240"/>
            <a:ext cx="2240280" cy="27432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B4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795528"/>
            <a:ext cx="21488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00" b="1" i="0">
                <a:solidFill>
                  <a:srgbClr val="111827"/>
                </a:solidFill>
              </a:defRPr>
            </a:pPr>
            <a:r>
              <a:t>10% artifacts/WS → 500 artifacts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777240"/>
            <a:ext cx="1005840" cy="27432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270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795528"/>
            <a:ext cx="914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00" b="1" i="0">
                <a:solidFill>
                  <a:srgbClr val="111827"/>
                </a:solidFill>
              </a:defRPr>
            </a:pPr>
            <a:r>
              <a:t>5 Airflow workers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1115568"/>
            <a:ext cx="2926080" cy="493776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33472" y="1152144"/>
            <a:ext cx="2779776" cy="438912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ctr">
              <a:spcAft>
                <a:spcPts val="100"/>
              </a:spcAft>
              <a:defRPr sz="1050" b="1">
                <a:solidFill>
                  <a:srgbClr val="16A34A"/>
                </a:solidFill>
              </a:defRPr>
            </a:pPr>
            <a:r>
              <a:t>Airflow Sensor  —  Daily Schedule</a:t>
            </a:r>
          </a:p>
          <a:p>
            <a:pPr algn="ctr">
              <a:spcAft>
                <a:spcPts val="100"/>
              </a:spcAft>
              <a:defRPr sz="850" b="0">
                <a:solidFill>
                  <a:srgbClr val="64748B"/>
                </a:solidFill>
              </a:defRPr>
            </a:pPr>
            <a:r>
              <a:t>or  file-system change event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23360" y="1609344"/>
            <a:ext cx="0" cy="219456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0" y="1627632"/>
            <a:ext cx="137160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</a:defRPr>
            </a:pPr>
            <a:r>
              <a:t>triggers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1828800"/>
            <a:ext cx="6675120" cy="658368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651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" y="1883664"/>
            <a:ext cx="6492240" cy="379078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l">
              <a:spcAft>
                <a:spcPts val="100"/>
              </a:spcAft>
              <a:defRPr sz="1050" b="1">
                <a:solidFill>
                  <a:srgbClr val="2563EB"/>
                </a:solidFill>
              </a:defRPr>
            </a:pPr>
            <a:r>
              <a:rPr dirty="0"/>
              <a:t>Stage 0 — Change Detection  (~40 sec)</a:t>
            </a:r>
          </a:p>
          <a:p>
            <a:pPr algn="l">
              <a:spcAft>
                <a:spcPts val="100"/>
              </a:spcAft>
              <a:defRPr sz="850" b="0">
                <a:solidFill>
                  <a:srgbClr val="111827"/>
                </a:solidFill>
              </a:defRPr>
            </a:pPr>
            <a:r>
              <a:rPr dirty="0"/>
              <a:t>Scan 25 changed workspaces  ·  Compare </a:t>
            </a:r>
            <a:r>
              <a:rPr lang="en-US" dirty="0"/>
              <a:t>SHA 256</a:t>
            </a:r>
            <a:r>
              <a:rPr dirty="0"/>
              <a:t> content hashes  ·  Identify 500 changed artifacts  ·  180 unchanged per WS → SKIP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23360" y="2487168"/>
            <a:ext cx="0" cy="237744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65760" y="2724912"/>
            <a:ext cx="7589520" cy="3493008"/>
          </a:xfrm>
          <a:prstGeom prst="roundRect">
            <a:avLst>
              <a:gd name="adj" fmla="val 4000"/>
            </a:avLst>
          </a:prstGeom>
          <a:noFill/>
          <a:ln w="17780">
            <a:solidFill>
              <a:srgbClr val="47556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2779776"/>
            <a:ext cx="411480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00" b="1" i="0">
                <a:solidFill>
                  <a:srgbClr val="475569"/>
                </a:solidFill>
              </a:defRPr>
            </a:pPr>
            <a:r>
              <a:t>Per-Workspace Loop  —  25 workspaces  ·  5 concurrent  →  5 rounds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072384"/>
            <a:ext cx="2240280" cy="58521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3127248"/>
            <a:ext cx="2103120" cy="493776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ctr">
              <a:spcAft>
                <a:spcPts val="100"/>
              </a:spcAft>
              <a:defRPr sz="950" b="1">
                <a:solidFill>
                  <a:srgbClr val="475569"/>
                </a:solidFill>
              </a:defRPr>
            </a:pPr>
            <a:r>
              <a:t>Hash Guard</a:t>
            </a:r>
          </a:p>
          <a:p>
            <a:pPr algn="ctr">
              <a:spcAft>
                <a:spcPts val="100"/>
              </a:spcAft>
              <a:defRPr sz="800" b="0">
                <a:solidFill>
                  <a:srgbClr val="64748B"/>
                </a:solidFill>
              </a:defRPr>
            </a:pPr>
            <a:r>
              <a:t>Per artifact: compare MD5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767328"/>
            <a:ext cx="2240280" cy="4572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143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" y="3803904"/>
            <a:ext cx="2103120" cy="384048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ctr">
              <a:spcAft>
                <a:spcPts val="100"/>
              </a:spcAft>
              <a:defRPr sz="900" b="1">
                <a:solidFill>
                  <a:srgbClr val="16A34A"/>
                </a:solidFill>
              </a:defRPr>
            </a:pPr>
            <a:r>
              <a:t>SKIP  ✓  (unchanged)</a:t>
            </a:r>
          </a:p>
          <a:p>
            <a:pPr algn="ctr">
              <a:spcAft>
                <a:spcPts val="100"/>
              </a:spcAft>
              <a:defRPr sz="800" b="0">
                <a:solidFill>
                  <a:srgbClr val="64748B"/>
                </a:solidFill>
              </a:defRPr>
            </a:pPr>
            <a:r>
              <a:t>~180 artifacts / WS = 90%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673352" y="3657600"/>
            <a:ext cx="0" cy="109728"/>
          </a:xfrm>
          <a:prstGeom prst="line">
            <a:avLst/>
          </a:prstGeom>
          <a:ln w="1524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788920" y="3364991"/>
            <a:ext cx="320040" cy="0"/>
          </a:xfrm>
          <a:prstGeom prst="line">
            <a:avLst/>
          </a:prstGeom>
          <a:ln w="1651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807208" y="3145536"/>
            <a:ext cx="34747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750" b="0" i="1">
                <a:solidFill>
                  <a:srgbClr val="DC2626"/>
                </a:solidFill>
              </a:defRPr>
            </a:pPr>
            <a:r>
              <a:t>changed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36392" y="3072384"/>
            <a:ext cx="4480560" cy="749808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46120" y="3118103"/>
            <a:ext cx="4297680" cy="676656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l">
              <a:spcAft>
                <a:spcPts val="100"/>
              </a:spcAft>
              <a:defRPr sz="1000" b="1">
                <a:solidFill>
                  <a:srgbClr val="6D28D9"/>
                </a:solidFill>
              </a:defRPr>
            </a:pPr>
            <a:r>
              <a:t>Stage 2 — Re-Embed</a:t>
            </a:r>
          </a:p>
          <a:p>
            <a:pPr algn="l">
              <a:spcAft>
                <a:spcPts val="100"/>
              </a:spcAft>
              <a:defRPr sz="819" b="0">
                <a:solidFill>
                  <a:srgbClr val="111827"/>
                </a:solidFill>
              </a:defRPr>
            </a:pPr>
            <a:r>
              <a:t>500 artifacts  →  16 API batches (batch_size=32)  →  Milvus upsert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64748B"/>
                </a:solidFill>
              </a:defRPr>
            </a:pPr>
            <a:r>
              <a:t>↳  kubeflow_artifacts  (partial upsert)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01384" y="3557015"/>
            <a:ext cx="1078992" cy="237744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47104" y="3575303"/>
            <a:ext cx="987551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 i="0">
                <a:solidFill>
                  <a:srgbClr val="111827"/>
                </a:solidFill>
              </a:defRPr>
            </a:pPr>
            <a:r>
              <a:t>~1 min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76672" y="3822191"/>
            <a:ext cx="0" cy="274320"/>
          </a:xfrm>
          <a:prstGeom prst="line">
            <a:avLst/>
          </a:prstGeom>
          <a:ln w="1651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136392" y="4078224"/>
            <a:ext cx="4480560" cy="749808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397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46120" y="4123944"/>
            <a:ext cx="4297680" cy="676656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l">
              <a:spcAft>
                <a:spcPts val="100"/>
              </a:spcAft>
              <a:defRPr sz="1000" b="1">
                <a:solidFill>
                  <a:srgbClr val="DC2626"/>
                </a:solidFill>
              </a:defRPr>
            </a:pPr>
            <a:r>
              <a:t>Stage 3 — Re-Summarise</a:t>
            </a:r>
          </a:p>
          <a:p>
            <a:pPr algn="l">
              <a:spcAft>
                <a:spcPts val="100"/>
              </a:spcAft>
              <a:defRPr sz="819" b="0">
                <a:solidFill>
                  <a:srgbClr val="111827"/>
                </a:solidFill>
              </a:defRPr>
            </a:pPr>
            <a:r>
              <a:t>500 LLM calls (gpt-4o-mini)  ·  5 workers × 100 artifacts  ·  ~50 s/round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64748B"/>
                </a:solidFill>
              </a:defRPr>
            </a:pPr>
            <a:r>
              <a:t>↳  artifact_summaries  (partial upsert)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01384" y="4562856"/>
            <a:ext cx="1078992" cy="237744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47104" y="4581144"/>
            <a:ext cx="987551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 i="0">
                <a:solidFill>
                  <a:srgbClr val="111827"/>
                </a:solidFill>
              </a:defRPr>
            </a:pPr>
            <a:r>
              <a:t>~5 min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376672" y="4828031"/>
            <a:ext cx="0" cy="274320"/>
          </a:xfrm>
          <a:prstGeom prst="line">
            <a:avLst/>
          </a:prstGeom>
          <a:ln w="1651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136392" y="5084064"/>
            <a:ext cx="4480560" cy="749808"/>
          </a:xfrm>
          <a:prstGeom prst="roundRect">
            <a:avLst>
              <a:gd name="adj" fmla="val 4000"/>
            </a:avLst>
          </a:prstGeom>
          <a:solidFill>
            <a:srgbClr val="FCE7F3"/>
          </a:solidFill>
          <a:ln w="1397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46120" y="5129784"/>
            <a:ext cx="4297680" cy="676656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l">
              <a:spcAft>
                <a:spcPts val="100"/>
              </a:spcAft>
              <a:defRPr sz="1000" b="1">
                <a:solidFill>
                  <a:srgbClr val="BE185D"/>
                </a:solidFill>
              </a:defRPr>
            </a:pPr>
            <a:r>
              <a:t>Stage 4 — Re-Profile</a:t>
            </a:r>
          </a:p>
          <a:p>
            <a:pPr algn="l">
              <a:spcAft>
                <a:spcPts val="100"/>
              </a:spcAft>
              <a:defRPr sz="819" b="0">
                <a:solidFill>
                  <a:srgbClr val="111827"/>
                </a:solidFill>
              </a:defRPr>
            </a:pPr>
            <a:r>
              <a:t>25 workspace profiles regenerated from updated summaries</a:t>
            </a:r>
          </a:p>
          <a:p>
            <a:pPr algn="l">
              <a:spcAft>
                <a:spcPts val="100"/>
              </a:spcAft>
              <a:defRPr sz="800" b="0">
                <a:solidFill>
                  <a:srgbClr val="64748B"/>
                </a:solidFill>
              </a:defRPr>
            </a:pPr>
            <a:r>
              <a:t>↳  user_profiles  (25 upserted)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01384" y="5568696"/>
            <a:ext cx="1078992" cy="237744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47104" y="5586984"/>
            <a:ext cx="987551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 i="0">
                <a:solidFill>
                  <a:srgbClr val="111827"/>
                </a:solidFill>
              </a:defRPr>
            </a:pPr>
            <a:r>
              <a:t>~20 sec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797296"/>
            <a:ext cx="2377440" cy="329184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8640" y="5815583"/>
            <a:ext cx="22860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50" b="1" i="0">
                <a:solidFill>
                  <a:srgbClr val="111827"/>
                </a:solidFill>
              </a:defRPr>
            </a:pPr>
            <a:r>
              <a:t>Loop total (per 25 WS):  ~7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63240" y="5852159"/>
            <a:ext cx="46634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950" b="1" i="0">
                <a:solidFill>
                  <a:srgbClr val="16A34A"/>
                </a:solidFill>
              </a:defRPr>
            </a:pPr>
            <a:r>
              <a:t>vs Full Load Stage 2–4: ~4 hrs 15 min  →  36× faster for 5% delta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023360" y="6217920"/>
            <a:ext cx="0" cy="128016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560320" y="6345936"/>
            <a:ext cx="2926080" cy="402336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633472" y="6419088"/>
            <a:ext cx="2779776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1" i="0">
                <a:solidFill>
                  <a:srgbClr val="16A34A"/>
                </a:solidFill>
              </a:defRPr>
            </a:pPr>
            <a:r>
              <a:t>Done  —  Notify / log metadata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73568" y="1115568"/>
            <a:ext cx="4041648" cy="365760"/>
          </a:xfrm>
          <a:prstGeom prst="rect">
            <a:avLst/>
          </a:prstGeom>
          <a:solidFill>
            <a:srgbClr val="111827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65008" y="1179576"/>
            <a:ext cx="385876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Full Load  vs  Incremental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73568" y="1481328"/>
            <a:ext cx="404164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973568" y="1481328"/>
            <a:ext cx="4041648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046720" y="1536192"/>
            <a:ext cx="11887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00" b="1" i="0">
                <a:solidFill>
                  <a:srgbClr val="64748B"/>
                </a:solidFill>
              </a:defRPr>
            </a:pP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326880" y="1536192"/>
            <a:ext cx="13258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1" i="0">
                <a:solidFill>
                  <a:srgbClr val="475569"/>
                </a:solidFill>
              </a:defRPr>
            </a:pPr>
            <a:r>
              <a:t>Full Load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98480" y="1536192"/>
            <a:ext cx="128016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1" i="0">
                <a:solidFill>
                  <a:srgbClr val="475569"/>
                </a:solidFill>
              </a:defRPr>
            </a:pPr>
            <a:r>
              <a:t>Incremental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73568" y="1792224"/>
            <a:ext cx="4041648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046720" y="1856232"/>
            <a:ext cx="123444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Trigger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80" y="1856232"/>
            <a:ext cx="13258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</a:defRPr>
            </a:pPr>
            <a:r>
              <a:t>Weekly / Monthly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98480" y="1856232"/>
            <a:ext cx="128016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</a:defRPr>
            </a:pPr>
            <a:r>
              <a:t>Daily / On-change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299448" y="1792224"/>
            <a:ext cx="0" cy="310896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671048" y="1792224"/>
            <a:ext cx="0" cy="310896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7973568" y="2103120"/>
            <a:ext cx="404164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46720" y="2167128"/>
            <a:ext cx="123444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Scope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0" y="2167128"/>
            <a:ext cx="13258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111827"/>
                </a:solidFill>
              </a:defRPr>
            </a:pPr>
            <a:r>
              <a:t>100K artifacts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98480" y="2167128"/>
            <a:ext cx="128016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111827"/>
                </a:solidFill>
              </a:defRPr>
            </a:pPr>
            <a:r>
              <a:t>~500 artifacts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299448" y="2103120"/>
            <a:ext cx="0" cy="310896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671048" y="2103120"/>
            <a:ext cx="0" cy="310896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7973568" y="2414016"/>
            <a:ext cx="4041648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046720" y="2478024"/>
            <a:ext cx="123444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Workspaces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0" y="2478024"/>
            <a:ext cx="13258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</a:defRPr>
            </a:pPr>
            <a:r>
              <a:t>500 (all)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98480" y="2478024"/>
            <a:ext cx="128016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</a:defRPr>
            </a:pPr>
            <a:r>
              <a:t>~25  (5% delta)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9299448" y="2414016"/>
            <a:ext cx="0" cy="310896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671048" y="2414016"/>
            <a:ext cx="0" cy="310896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7973568" y="2724912"/>
            <a:ext cx="404164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046720" y="2788920"/>
            <a:ext cx="123444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Artifacts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26880" y="2788920"/>
            <a:ext cx="13258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111827"/>
                </a:solidFill>
              </a:defRPr>
            </a:pPr>
            <a:r>
              <a:t>100,000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98480" y="2788920"/>
            <a:ext cx="128016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111827"/>
                </a:solidFill>
              </a:defRPr>
            </a:pPr>
            <a:r>
              <a:t>~500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9299448" y="2724912"/>
            <a:ext cx="0" cy="310896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671048" y="2724912"/>
            <a:ext cx="0" cy="310896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7973568" y="3035808"/>
            <a:ext cx="4041648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046720" y="3099815"/>
            <a:ext cx="123444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Hash guard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326880" y="3099815"/>
            <a:ext cx="13258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</a:defRPr>
            </a:pPr>
            <a:r>
              <a:t>No  (full rebuild)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698480" y="3099815"/>
            <a:ext cx="128016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16A34A"/>
                </a:solidFill>
              </a:defRPr>
            </a:pPr>
            <a:r>
              <a:t>Yes  (skip 90%)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9299448" y="3035808"/>
            <a:ext cx="0" cy="310895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671048" y="3035808"/>
            <a:ext cx="0" cy="310895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7973568" y="3346703"/>
            <a:ext cx="404164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046720" y="3410711"/>
            <a:ext cx="123444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Workers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326880" y="3410711"/>
            <a:ext cx="13258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111827"/>
                </a:solidFill>
              </a:defRPr>
            </a:pPr>
            <a:r>
              <a:t>20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698480" y="3410711"/>
            <a:ext cx="128016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111827"/>
                </a:solidFill>
              </a:defRPr>
            </a:pPr>
            <a:r>
              <a:t>5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9299448" y="3346703"/>
            <a:ext cx="0" cy="310896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671048" y="3346703"/>
            <a:ext cx="0" cy="310896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7973568" y="3657599"/>
            <a:ext cx="4041648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046720" y="3721607"/>
            <a:ext cx="123444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Stage 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326880" y="3721607"/>
            <a:ext cx="13258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</a:defRPr>
            </a:pPr>
            <a:r>
              <a:t>~1.5 min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698480" y="3721607"/>
            <a:ext cx="128016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16A34A"/>
                </a:solidFill>
              </a:defRPr>
            </a:pPr>
            <a:r>
              <a:t>N/A  (unchanged)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9299448" y="3657599"/>
            <a:ext cx="0" cy="310897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0671048" y="3657599"/>
            <a:ext cx="0" cy="310897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7973568" y="3968496"/>
            <a:ext cx="404164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046720" y="4032504"/>
            <a:ext cx="123444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Stage 2 Embed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26880" y="4032504"/>
            <a:ext cx="13258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2563EB"/>
                </a:solidFill>
              </a:defRPr>
            </a:pPr>
            <a:r>
              <a:t>~9 min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698480" y="4032504"/>
            <a:ext cx="128016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16A34A"/>
                </a:solidFill>
              </a:defRPr>
            </a:pPr>
            <a:r>
              <a:t>~1 min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9299448" y="3968496"/>
            <a:ext cx="0" cy="310896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671048" y="3968496"/>
            <a:ext cx="0" cy="310896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7973568" y="4279392"/>
            <a:ext cx="4041648" cy="310896"/>
          </a:xfrm>
          <a:prstGeom prst="rect">
            <a:avLst/>
          </a:prstGeom>
          <a:solidFill>
            <a:srgbClr val="F1F5F9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8046720" y="4343400"/>
            <a:ext cx="123444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Stage 3 Summ.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326880" y="4343400"/>
            <a:ext cx="13258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DC2626"/>
                </a:solidFill>
              </a:defRPr>
            </a:pPr>
            <a:r>
              <a:t>~4 hrs 2 min ⚠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698480" y="4343400"/>
            <a:ext cx="128016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16A34A"/>
                </a:solidFill>
              </a:defRPr>
            </a:pPr>
            <a:r>
              <a:t>~5 min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9299448" y="4279392"/>
            <a:ext cx="0" cy="310896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0671048" y="4279392"/>
            <a:ext cx="0" cy="310896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7973568" y="4590288"/>
            <a:ext cx="404164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046720" y="4654296"/>
            <a:ext cx="123444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Stage 4 Prof.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326880" y="4654296"/>
            <a:ext cx="13258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BE185D"/>
                </a:solidFill>
              </a:defRPr>
            </a:pPr>
            <a:r>
              <a:t>~4 min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698480" y="4654296"/>
            <a:ext cx="128016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0" i="0">
                <a:solidFill>
                  <a:srgbClr val="16A34A"/>
                </a:solidFill>
              </a:defRPr>
            </a:pPr>
            <a:r>
              <a:t>~20 sec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9299448" y="4590288"/>
            <a:ext cx="0" cy="310895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671048" y="4590288"/>
            <a:ext cx="0" cy="310895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7973568" y="4901183"/>
            <a:ext cx="4041648" cy="310896"/>
          </a:xfrm>
          <a:prstGeom prst="rect">
            <a:avLst/>
          </a:prstGeom>
          <a:solidFill>
            <a:srgbClr val="DCFCE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046720" y="4965192"/>
            <a:ext cx="123444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defRPr sz="850" b="1" i="0">
                <a:solidFill>
                  <a:srgbClr val="475569"/>
                </a:solidFill>
              </a:defRPr>
            </a:pPr>
            <a:r>
              <a:t>TOTAL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326880" y="4965192"/>
            <a:ext cx="13258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1" i="0">
                <a:solidFill>
                  <a:srgbClr val="DC2626"/>
                </a:solidFill>
              </a:defRPr>
            </a:pPr>
            <a:r>
              <a:t>~4 hrs 16 min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698480" y="4965192"/>
            <a:ext cx="128016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850" b="1" i="0">
                <a:solidFill>
                  <a:srgbClr val="16A34A"/>
                </a:solidFill>
              </a:defRPr>
            </a:pPr>
            <a:r>
              <a:t>~7 min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9299448" y="4901183"/>
            <a:ext cx="0" cy="310896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10671048" y="4901183"/>
            <a:ext cx="0" cy="310896"/>
          </a:xfrm>
          <a:prstGeom prst="line">
            <a:avLst/>
          </a:prstGeom>
          <a:ln w="63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7973568" y="1481328"/>
            <a:ext cx="4041648" cy="0"/>
          </a:xfrm>
          <a:prstGeom prst="line">
            <a:avLst/>
          </a:prstGeom>
          <a:ln w="101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126"/>
          <p:cNvSpPr/>
          <p:nvPr/>
        </p:nvSpPr>
        <p:spPr>
          <a:xfrm>
            <a:off x="7973568" y="5321807"/>
            <a:ext cx="4041648" cy="475488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651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083296" y="5376671"/>
            <a:ext cx="3858768" cy="384048"/>
          </a:xfrm>
          <a:prstGeom prst="rect">
            <a:avLst/>
          </a:prstGeom>
          <a:noFill/>
        </p:spPr>
        <p:txBody>
          <a:bodyPr wrap="square" lIns="73152" rIns="54864" bIns="27432" anchor="t">
            <a:spAutoFit/>
          </a:bodyPr>
          <a:lstStyle/>
          <a:p>
            <a:pPr algn="ctr">
              <a:spcAft>
                <a:spcPts val="100"/>
              </a:spcAft>
              <a:defRPr sz="1200" b="1">
                <a:solidFill>
                  <a:srgbClr val="16A34A"/>
                </a:solidFill>
              </a:defRPr>
            </a:pPr>
            <a:r>
              <a:t>~36× faster for 5% daily delta</a:t>
            </a:r>
          </a:p>
          <a:p>
            <a:pPr algn="ctr">
              <a:spcAft>
                <a:spcPts val="100"/>
              </a:spcAft>
              <a:defRPr sz="850" b="0">
                <a:solidFill>
                  <a:srgbClr val="475569"/>
                </a:solidFill>
              </a:defRPr>
            </a:pPr>
            <a:r>
              <a:t>DFS atomicity: per-WS consistent state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1022</Words>
  <Application>Microsoft Macintosh PowerPoint</Application>
  <PresentationFormat>Custom</PresentationFormat>
  <Paragraphs>167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manishfromlko@outlook.com</cp:lastModifiedBy>
  <cp:revision>2</cp:revision>
  <dcterms:created xsi:type="dcterms:W3CDTF">2013-01-27T09:14:16Z</dcterms:created>
  <dcterms:modified xsi:type="dcterms:W3CDTF">2026-05-03T11:09:44Z</dcterms:modified>
  <cp:category/>
</cp:coreProperties>
</file>