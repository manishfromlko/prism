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274320"/>
          </a:xfrm>
          <a:prstGeom prst="rect">
            <a:avLst/>
          </a:prstGeom>
          <a:solidFill>
            <a:srgbClr val="111827"/>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3047238" cy="54864"/>
          </a:xfrm>
          <a:prstGeom prst="rect">
            <a:avLst/>
          </a:prstGeom>
          <a:solidFill>
            <a:srgbClr val="2563EB"/>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238" y="274320"/>
            <a:ext cx="3047238" cy="54864"/>
          </a:xfrm>
          <a:prstGeom prst="rect">
            <a:avLst/>
          </a:prstGeom>
          <a:solidFill>
            <a:srgbClr val="16A34A"/>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4476" y="274320"/>
            <a:ext cx="3047238" cy="54864"/>
          </a:xfrm>
          <a:prstGeom prst="rect">
            <a:avLst/>
          </a:prstGeom>
          <a:solidFill>
            <a:srgbClr val="B46400"/>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1714" y="274320"/>
            <a:ext cx="3047238" cy="54864"/>
          </a:xfrm>
          <a:prstGeom prst="rect">
            <a:avLst/>
          </a:prstGeom>
          <a:solidFill>
            <a:srgbClr val="BE185D"/>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28816"/>
            <a:ext cx="11430000" cy="219456"/>
          </a:xfrm>
          <a:prstGeom prst="rect">
            <a:avLst/>
          </a:prstGeom>
          <a:noFill/>
        </p:spPr>
        <p:txBody>
          <a:bodyPr wrap="square" lIns="36576" rIns="36576" tIns="18288" bIns="18288" anchor="t">
            <a:spAutoFit/>
          </a:bodyPr>
          <a:lstStyle/>
          <a:p>
            <a:pPr algn="r">
              <a:defRPr sz="800" b="0" i="0">
                <a:solidFill>
                  <a:srgbClr val="64748B"/>
                </a:solidFill>
              </a:defRPr>
            </a:pPr>
            <a:r>
              <a:t>Kubeflow Workspace Intelligence LLMOps</a:t>
            </a:r>
          </a:p>
        </p:txBody>
      </p:sp>
      <p:sp>
        <p:nvSpPr>
          <p:cNvPr id="8" name="Rectangle 7"/>
          <p:cNvSpPr/>
          <p:nvPr/>
        </p:nvSpPr>
        <p:spPr>
          <a:xfrm>
            <a:off x="347472" y="384048"/>
            <a:ext cx="11494008" cy="420624"/>
          </a:xfrm>
          <a:prstGeom prst="rect">
            <a:avLst/>
          </a:prstGeom>
          <a:solidFill>
            <a:srgbClr val="DBEAFE"/>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11480"/>
            <a:ext cx="11247120" cy="365760"/>
          </a:xfrm>
          <a:prstGeom prst="rect">
            <a:avLst/>
          </a:prstGeom>
          <a:noFill/>
        </p:spPr>
        <p:txBody>
          <a:bodyPr wrap="square" lIns="36576" rIns="36576" tIns="18288" bIns="18288" anchor="t">
            <a:spAutoFit/>
          </a:bodyPr>
          <a:lstStyle/>
          <a:p>
            <a:pPr algn="l">
              <a:defRPr sz="1250" b="1" i="0">
                <a:solidFill>
                  <a:srgbClr val="111827"/>
                </a:solidFill>
              </a:defRPr>
            </a:pPr>
            <a:r>
              <a:t>Retrieval Process — Intent Classification → Query Rewrite → Vector Search</a:t>
            </a:r>
          </a:p>
        </p:txBody>
      </p:sp>
      <p:sp>
        <p:nvSpPr>
          <p:cNvPr id="10" name="Rounded Rectangle 9"/>
          <p:cNvSpPr/>
          <p:nvPr/>
        </p:nvSpPr>
        <p:spPr>
          <a:xfrm>
            <a:off x="347472" y="868680"/>
            <a:ext cx="2176272" cy="256032"/>
          </a:xfrm>
          <a:prstGeom prst="roundRect">
            <a:avLst>
              <a:gd name="adj" fmla="val 4000"/>
            </a:avLst>
          </a:prstGeom>
          <a:solidFill>
            <a:srgbClr val="DBEAFE"/>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 y="886968"/>
            <a:ext cx="2029968" cy="219456"/>
          </a:xfrm>
          <a:prstGeom prst="rect">
            <a:avLst/>
          </a:prstGeom>
          <a:noFill/>
        </p:spPr>
        <p:txBody>
          <a:bodyPr wrap="square" lIns="36576" rIns="36576" tIns="18288" bIns="18288" anchor="t">
            <a:spAutoFit/>
          </a:bodyPr>
          <a:lstStyle/>
          <a:p>
            <a:pPr algn="ctr">
              <a:defRPr sz="900" b="1" i="0">
                <a:solidFill>
                  <a:srgbClr val="2563EB"/>
                </a:solidFill>
              </a:defRPr>
            </a:pPr>
            <a:r>
              <a:t>① User Query</a:t>
            </a:r>
          </a:p>
        </p:txBody>
      </p:sp>
      <p:sp>
        <p:nvSpPr>
          <p:cNvPr id="12" name="Rounded Rectangle 11"/>
          <p:cNvSpPr/>
          <p:nvPr/>
        </p:nvSpPr>
        <p:spPr>
          <a:xfrm>
            <a:off x="2651760" y="868680"/>
            <a:ext cx="2176272" cy="256032"/>
          </a:xfrm>
          <a:prstGeom prst="roundRect">
            <a:avLst>
              <a:gd name="adj" fmla="val 4000"/>
            </a:avLst>
          </a:prstGeom>
          <a:solidFill>
            <a:srgbClr val="EDE9FE"/>
          </a:solidFill>
          <a:ln w="1016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24912" y="886968"/>
            <a:ext cx="2029968" cy="219456"/>
          </a:xfrm>
          <a:prstGeom prst="rect">
            <a:avLst/>
          </a:prstGeom>
          <a:noFill/>
        </p:spPr>
        <p:txBody>
          <a:bodyPr wrap="square" lIns="36576" rIns="36576" tIns="18288" bIns="18288" anchor="t">
            <a:spAutoFit/>
          </a:bodyPr>
          <a:lstStyle/>
          <a:p>
            <a:pPr algn="ctr">
              <a:defRPr sz="900" b="1" i="0">
                <a:solidFill>
                  <a:srgbClr val="6D28D9"/>
                </a:solidFill>
              </a:defRPr>
            </a:pPr>
            <a:r>
              <a:t>② Classify</a:t>
            </a:r>
          </a:p>
        </p:txBody>
      </p:sp>
      <p:sp>
        <p:nvSpPr>
          <p:cNvPr id="14" name="Rounded Rectangle 13"/>
          <p:cNvSpPr/>
          <p:nvPr/>
        </p:nvSpPr>
        <p:spPr>
          <a:xfrm>
            <a:off x="4956048" y="868680"/>
            <a:ext cx="2176272" cy="256032"/>
          </a:xfrm>
          <a:prstGeom prst="roundRect">
            <a:avLst>
              <a:gd name="adj" fmla="val 4000"/>
            </a:avLst>
          </a:prstGeom>
          <a:solidFill>
            <a:srgbClr val="CCFBF1"/>
          </a:solidFill>
          <a:ln w="101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886968"/>
            <a:ext cx="2029968" cy="219456"/>
          </a:xfrm>
          <a:prstGeom prst="rect">
            <a:avLst/>
          </a:prstGeom>
          <a:noFill/>
        </p:spPr>
        <p:txBody>
          <a:bodyPr wrap="square" lIns="36576" rIns="36576" tIns="18288" bIns="18288" anchor="t">
            <a:spAutoFit/>
          </a:bodyPr>
          <a:lstStyle/>
          <a:p>
            <a:pPr algn="ctr">
              <a:defRPr sz="900" b="1" i="0">
                <a:solidFill>
                  <a:srgbClr val="0D9488"/>
                </a:solidFill>
              </a:defRPr>
            </a:pPr>
            <a:r>
              <a:t>③ Rewrite</a:t>
            </a:r>
          </a:p>
        </p:txBody>
      </p:sp>
      <p:sp>
        <p:nvSpPr>
          <p:cNvPr id="16" name="Rounded Rectangle 15"/>
          <p:cNvSpPr/>
          <p:nvPr/>
        </p:nvSpPr>
        <p:spPr>
          <a:xfrm>
            <a:off x="7260336" y="868680"/>
            <a:ext cx="2176272" cy="256032"/>
          </a:xfrm>
          <a:prstGeom prst="roundRect">
            <a:avLst>
              <a:gd name="adj" fmla="val 4000"/>
            </a:avLst>
          </a:prstGeom>
          <a:solidFill>
            <a:srgbClr val="DCFCE7"/>
          </a:solidFill>
          <a:ln w="101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886968"/>
            <a:ext cx="2029968" cy="219456"/>
          </a:xfrm>
          <a:prstGeom prst="rect">
            <a:avLst/>
          </a:prstGeom>
          <a:noFill/>
        </p:spPr>
        <p:txBody>
          <a:bodyPr wrap="square" lIns="36576" rIns="36576" tIns="18288" bIns="18288" anchor="t">
            <a:spAutoFit/>
          </a:bodyPr>
          <a:lstStyle/>
          <a:p>
            <a:pPr algn="ctr">
              <a:defRPr sz="900" b="1" i="0">
                <a:solidFill>
                  <a:srgbClr val="16A34A"/>
                </a:solidFill>
              </a:defRPr>
            </a:pPr>
            <a:r>
              <a:t>④ Retrieve</a:t>
            </a:r>
          </a:p>
        </p:txBody>
      </p:sp>
      <p:sp>
        <p:nvSpPr>
          <p:cNvPr id="18" name="Rounded Rectangle 17"/>
          <p:cNvSpPr/>
          <p:nvPr/>
        </p:nvSpPr>
        <p:spPr>
          <a:xfrm>
            <a:off x="9564624" y="868680"/>
            <a:ext cx="2176272" cy="256032"/>
          </a:xfrm>
          <a:prstGeom prst="roundRect">
            <a:avLst>
              <a:gd name="adj" fmla="val 4000"/>
            </a:avLst>
          </a:prstGeom>
          <a:solidFill>
            <a:srgbClr val="FCE7F3"/>
          </a:solidFill>
          <a:ln w="1016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37776" y="886968"/>
            <a:ext cx="2029968" cy="219456"/>
          </a:xfrm>
          <a:prstGeom prst="rect">
            <a:avLst/>
          </a:prstGeom>
          <a:noFill/>
        </p:spPr>
        <p:txBody>
          <a:bodyPr wrap="square" lIns="36576" rIns="36576" tIns="18288" bIns="18288" anchor="t">
            <a:spAutoFit/>
          </a:bodyPr>
          <a:lstStyle/>
          <a:p>
            <a:pPr algn="ctr">
              <a:defRPr sz="900" b="1" i="0">
                <a:solidFill>
                  <a:srgbClr val="BE185D"/>
                </a:solidFill>
              </a:defRPr>
            </a:pPr>
            <a:r>
              <a:t>⑤ Route</a:t>
            </a:r>
          </a:p>
        </p:txBody>
      </p:sp>
      <p:sp>
        <p:nvSpPr>
          <p:cNvPr id="20" name="Rounded Rectangle 19"/>
          <p:cNvSpPr/>
          <p:nvPr/>
        </p:nvSpPr>
        <p:spPr>
          <a:xfrm>
            <a:off x="347472" y="1207008"/>
            <a:ext cx="2176272" cy="530352"/>
          </a:xfrm>
          <a:prstGeom prst="roundRect">
            <a:avLst>
              <a:gd name="adj" fmla="val 4000"/>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1243584"/>
            <a:ext cx="2103120" cy="475488"/>
          </a:xfrm>
          <a:prstGeom prst="rect">
            <a:avLst/>
          </a:prstGeom>
          <a:noFill/>
        </p:spPr>
        <p:txBody>
          <a:bodyPr wrap="square" lIns="73152" rIns="54864" bIns="27432" anchor="t">
            <a:spAutoFit/>
          </a:bodyPr>
          <a:lstStyle/>
          <a:p>
            <a:pPr algn="l">
              <a:spcAft>
                <a:spcPts val="100"/>
              </a:spcAft>
              <a:defRPr sz="750" b="0">
                <a:solidFill>
                  <a:srgbClr val="111827"/>
                </a:solidFill>
              </a:defRPr>
            </a:pPr>
            <a:r>
              <a:t>Natural language question from the chat UI</a:t>
            </a:r>
          </a:p>
          <a:p>
            <a:pPr algn="l">
              <a:spcAft>
                <a:spcPts val="100"/>
              </a:spcAft>
              <a:defRPr sz="700" b="0">
                <a:solidFill>
                  <a:srgbClr val="64748B"/>
                </a:solidFill>
              </a:defRPr>
            </a:pPr>
            <a:r>
              <a:t>session_id groups multi-turn history</a:t>
            </a:r>
          </a:p>
          <a:p>
            <a:pPr algn="l">
              <a:spcAft>
                <a:spcPts val="100"/>
              </a:spcAft>
              <a:defRPr sz="700" b="0">
                <a:solidFill>
                  <a:srgbClr val="64748B"/>
                </a:solidFill>
              </a:defRPr>
            </a:pPr>
            <a:r>
              <a:t>trace_id generated at request start</a:t>
            </a:r>
          </a:p>
        </p:txBody>
      </p:sp>
      <p:sp>
        <p:nvSpPr>
          <p:cNvPr id="22" name="Rounded Rectangle 21"/>
          <p:cNvSpPr/>
          <p:nvPr/>
        </p:nvSpPr>
        <p:spPr>
          <a:xfrm>
            <a:off x="347472" y="1801368"/>
            <a:ext cx="2176272" cy="274320"/>
          </a:xfrm>
          <a:prstGeom prst="roundRect">
            <a:avLst>
              <a:gd name="adj" fmla="val 4000"/>
            </a:avLst>
          </a:prstGeom>
          <a:solidFill>
            <a:srgbClr val="DBEAFE"/>
          </a:solidFill>
          <a:ln w="76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 y="1819656"/>
            <a:ext cx="2029968" cy="256032"/>
          </a:xfrm>
          <a:prstGeom prst="rect">
            <a:avLst/>
          </a:prstGeom>
          <a:noFill/>
        </p:spPr>
        <p:txBody>
          <a:bodyPr wrap="square" lIns="36576" rIns="36576" tIns="18288" bIns="18288" anchor="t">
            <a:spAutoFit/>
          </a:bodyPr>
          <a:lstStyle/>
          <a:p>
            <a:pPr algn="ctr">
              <a:defRPr sz="750" b="1" i="0">
                <a:solidFill>
                  <a:srgbClr val="2563EB"/>
                </a:solidFill>
              </a:defRPr>
            </a:pPr>
            <a:r>
              <a:t>"How do I submit a Spark job?"</a:t>
            </a:r>
          </a:p>
        </p:txBody>
      </p:sp>
      <p:sp>
        <p:nvSpPr>
          <p:cNvPr id="24" name="Rounded Rectangle 23"/>
          <p:cNvSpPr/>
          <p:nvPr/>
        </p:nvSpPr>
        <p:spPr>
          <a:xfrm>
            <a:off x="2651760" y="1207008"/>
            <a:ext cx="2176272" cy="868680"/>
          </a:xfrm>
          <a:prstGeom prst="roundRect">
            <a:avLst>
              <a:gd name="adj" fmla="val 4000"/>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88336" y="1243584"/>
            <a:ext cx="2103120" cy="402336"/>
          </a:xfrm>
          <a:prstGeom prst="rect">
            <a:avLst/>
          </a:prstGeom>
          <a:noFill/>
        </p:spPr>
        <p:txBody>
          <a:bodyPr wrap="square" lIns="73152" rIns="54864" bIns="27432" anchor="t">
            <a:spAutoFit/>
          </a:bodyPr>
          <a:lstStyle/>
          <a:p>
            <a:pPr algn="l">
              <a:spcAft>
                <a:spcPts val="100"/>
              </a:spcAft>
              <a:defRPr sz="750" b="0">
                <a:solidFill>
                  <a:srgbClr val="111827"/>
                </a:solidFill>
              </a:defRPr>
            </a:pPr>
            <a:r>
              <a:t>LLM call — gpt-4o-mini, T=0.0</a:t>
            </a:r>
          </a:p>
          <a:p>
            <a:pPr algn="l">
              <a:spcAft>
                <a:spcPts val="100"/>
              </a:spcAft>
              <a:defRPr sz="700" b="0">
                <a:solidFill>
                  <a:srgbClr val="64748B"/>
                </a:solidFill>
              </a:defRPr>
            </a:pPr>
            <a:r>
              <a:t>Returns: intent + confidence + reasoning</a:t>
            </a:r>
          </a:p>
        </p:txBody>
      </p:sp>
      <p:sp>
        <p:nvSpPr>
          <p:cNvPr id="26" name="Rounded Rectangle 25"/>
          <p:cNvSpPr/>
          <p:nvPr/>
        </p:nvSpPr>
        <p:spPr>
          <a:xfrm>
            <a:off x="2679192" y="1664208"/>
            <a:ext cx="2121408" cy="201168"/>
          </a:xfrm>
          <a:prstGeom prst="roundRect">
            <a:avLst>
              <a:gd name="adj" fmla="val 4000"/>
            </a:avLst>
          </a:prstGeom>
          <a:solidFill>
            <a:srgbClr val="DBEAFE"/>
          </a:solidFill>
          <a:ln w="76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15768" y="1682496"/>
            <a:ext cx="2048256" cy="182880"/>
          </a:xfrm>
          <a:prstGeom prst="rect">
            <a:avLst/>
          </a:prstGeom>
          <a:noFill/>
        </p:spPr>
        <p:txBody>
          <a:bodyPr wrap="square" lIns="36576" rIns="36576" tIns="18288" bIns="18288" anchor="t">
            <a:spAutoFit/>
          </a:bodyPr>
          <a:lstStyle/>
          <a:p>
            <a:pPr algn="ctr">
              <a:defRPr sz="750" b="1" i="0">
                <a:solidFill>
                  <a:srgbClr val="2563EB"/>
                </a:solidFill>
              </a:defRPr>
            </a:pPr>
            <a:r>
              <a:t>DOC_QA</a:t>
            </a:r>
          </a:p>
        </p:txBody>
      </p:sp>
      <p:sp>
        <p:nvSpPr>
          <p:cNvPr id="28" name="Rounded Rectangle 27"/>
          <p:cNvSpPr/>
          <p:nvPr/>
        </p:nvSpPr>
        <p:spPr>
          <a:xfrm>
            <a:off x="2679192" y="1901952"/>
            <a:ext cx="2121408" cy="201168"/>
          </a:xfrm>
          <a:prstGeom prst="roundRect">
            <a:avLst>
              <a:gd name="adj" fmla="val 4000"/>
            </a:avLst>
          </a:prstGeom>
          <a:solidFill>
            <a:srgbClr val="DCFCE7"/>
          </a:solidFill>
          <a:ln w="76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15768" y="1920240"/>
            <a:ext cx="2048256" cy="182880"/>
          </a:xfrm>
          <a:prstGeom prst="rect">
            <a:avLst/>
          </a:prstGeom>
          <a:noFill/>
        </p:spPr>
        <p:txBody>
          <a:bodyPr wrap="square" lIns="36576" rIns="36576" tIns="18288" bIns="18288" anchor="t">
            <a:spAutoFit/>
          </a:bodyPr>
          <a:lstStyle/>
          <a:p>
            <a:pPr algn="ctr">
              <a:defRPr sz="750" b="1" i="0">
                <a:solidFill>
                  <a:srgbClr val="16A34A"/>
                </a:solidFill>
              </a:defRPr>
            </a:pPr>
            <a:r>
              <a:t>ARTIFACT_SEARCH</a:t>
            </a:r>
          </a:p>
        </p:txBody>
      </p:sp>
      <p:sp>
        <p:nvSpPr>
          <p:cNvPr id="30" name="Rounded Rectangle 29"/>
          <p:cNvSpPr/>
          <p:nvPr/>
        </p:nvSpPr>
        <p:spPr>
          <a:xfrm>
            <a:off x="2679192" y="2139696"/>
            <a:ext cx="2121408" cy="201168"/>
          </a:xfrm>
          <a:prstGeom prst="roundRect">
            <a:avLst>
              <a:gd name="adj" fmla="val 4000"/>
            </a:avLst>
          </a:prstGeom>
          <a:solidFill>
            <a:srgbClr val="FEF3C7"/>
          </a:solidFill>
          <a:ln w="7620">
            <a:solidFill>
              <a:srgbClr val="B46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15768" y="2157984"/>
            <a:ext cx="2048256" cy="182880"/>
          </a:xfrm>
          <a:prstGeom prst="rect">
            <a:avLst/>
          </a:prstGeom>
          <a:noFill/>
        </p:spPr>
        <p:txBody>
          <a:bodyPr wrap="square" lIns="36576" rIns="36576" tIns="18288" bIns="18288" anchor="t">
            <a:spAutoFit/>
          </a:bodyPr>
          <a:lstStyle/>
          <a:p>
            <a:pPr algn="ctr">
              <a:defRPr sz="750" b="1" i="0">
                <a:solidFill>
                  <a:srgbClr val="B46400"/>
                </a:solidFill>
              </a:defRPr>
            </a:pPr>
            <a:r>
              <a:t>USER_SEARCH</a:t>
            </a:r>
          </a:p>
        </p:txBody>
      </p:sp>
      <p:sp>
        <p:nvSpPr>
          <p:cNvPr id="32" name="Rounded Rectangle 31"/>
          <p:cNvSpPr/>
          <p:nvPr/>
        </p:nvSpPr>
        <p:spPr>
          <a:xfrm>
            <a:off x="2679192" y="2377440"/>
            <a:ext cx="2121408" cy="201168"/>
          </a:xfrm>
          <a:prstGeom prst="roundRect">
            <a:avLst>
              <a:gd name="adj" fmla="val 4000"/>
            </a:avLst>
          </a:prstGeom>
          <a:solidFill>
            <a:srgbClr val="EDE9FE"/>
          </a:solidFill>
          <a:ln w="762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15768" y="2395728"/>
            <a:ext cx="2048256" cy="182880"/>
          </a:xfrm>
          <a:prstGeom prst="rect">
            <a:avLst/>
          </a:prstGeom>
          <a:noFill/>
        </p:spPr>
        <p:txBody>
          <a:bodyPr wrap="square" lIns="36576" rIns="36576" tIns="18288" bIns="18288" anchor="t">
            <a:spAutoFit/>
          </a:bodyPr>
          <a:lstStyle/>
          <a:p>
            <a:pPr algn="ctr">
              <a:defRPr sz="750" b="1" i="0">
                <a:solidFill>
                  <a:srgbClr val="6D28D9"/>
                </a:solidFill>
              </a:defRPr>
            </a:pPr>
            <a:r>
              <a:t>HYBRID</a:t>
            </a:r>
          </a:p>
        </p:txBody>
      </p:sp>
      <p:sp>
        <p:nvSpPr>
          <p:cNvPr id="34" name="Rounded Rectangle 33"/>
          <p:cNvSpPr/>
          <p:nvPr/>
        </p:nvSpPr>
        <p:spPr>
          <a:xfrm>
            <a:off x="2679192" y="2615184"/>
            <a:ext cx="2121408" cy="201168"/>
          </a:xfrm>
          <a:prstGeom prst="roundRect">
            <a:avLst>
              <a:gd name="adj" fmla="val 4000"/>
            </a:avLst>
          </a:prstGeom>
          <a:solidFill>
            <a:srgbClr val="FEE2E2"/>
          </a:solidFill>
          <a:ln w="762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15768" y="2633472"/>
            <a:ext cx="2048256" cy="182880"/>
          </a:xfrm>
          <a:prstGeom prst="rect">
            <a:avLst/>
          </a:prstGeom>
          <a:noFill/>
        </p:spPr>
        <p:txBody>
          <a:bodyPr wrap="square" lIns="36576" rIns="36576" tIns="18288" bIns="18288" anchor="t">
            <a:spAutoFit/>
          </a:bodyPr>
          <a:lstStyle/>
          <a:p>
            <a:pPr algn="ctr">
              <a:defRPr sz="750" b="1" i="0">
                <a:solidFill>
                  <a:srgbClr val="B91C1C"/>
                </a:solidFill>
              </a:defRPr>
            </a:pPr>
            <a:r>
              <a:t>OUT_OF_SCOPE</a:t>
            </a:r>
          </a:p>
        </p:txBody>
      </p:sp>
      <p:cxnSp>
        <p:nvCxnSpPr>
          <p:cNvPr id="36" name="Connector 35"/>
          <p:cNvCxnSpPr/>
          <p:nvPr/>
        </p:nvCxnSpPr>
        <p:spPr>
          <a:xfrm>
            <a:off x="4828032" y="2852928"/>
            <a:ext cx="4736592" cy="0"/>
          </a:xfrm>
          <a:prstGeom prst="line">
            <a:avLst/>
          </a:prstGeom>
          <a:ln w="12700">
            <a:solidFill>
              <a:srgbClr val="B91C1C"/>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956048" y="2743200"/>
            <a:ext cx="4498848" cy="201168"/>
          </a:xfrm>
          <a:prstGeom prst="roundRect">
            <a:avLst>
              <a:gd name="adj" fmla="val 4000"/>
            </a:avLst>
          </a:prstGeom>
          <a:solidFill>
            <a:srgbClr val="FEE2E2"/>
          </a:solidFill>
          <a:ln w="762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92624" y="2761488"/>
            <a:ext cx="4443984" cy="182880"/>
          </a:xfrm>
          <a:prstGeom prst="rect">
            <a:avLst/>
          </a:prstGeom>
          <a:noFill/>
        </p:spPr>
        <p:txBody>
          <a:bodyPr wrap="square" lIns="36576" rIns="36576" tIns="18288" bIns="18288" anchor="t">
            <a:spAutoFit/>
          </a:bodyPr>
          <a:lstStyle/>
          <a:p>
            <a:pPr algn="ctr">
              <a:defRPr sz="700" b="1" i="0">
                <a:solidFill>
                  <a:srgbClr val="B91C1C"/>
                </a:solidFill>
              </a:defRPr>
            </a:pPr>
            <a:r>
              <a:t>OUT_OF_SCOPE → hardcoded reply, no further LLM calls, no scores</a:t>
            </a:r>
          </a:p>
        </p:txBody>
      </p:sp>
      <p:sp>
        <p:nvSpPr>
          <p:cNvPr id="39" name="Rounded Rectangle 38"/>
          <p:cNvSpPr/>
          <p:nvPr/>
        </p:nvSpPr>
        <p:spPr>
          <a:xfrm>
            <a:off x="4956048" y="1207008"/>
            <a:ext cx="2176272" cy="868680"/>
          </a:xfrm>
          <a:prstGeom prst="roundRect">
            <a:avLst>
              <a:gd name="adj" fmla="val 4000"/>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92624" y="1243584"/>
            <a:ext cx="2103120" cy="804672"/>
          </a:xfrm>
          <a:prstGeom prst="rect">
            <a:avLst/>
          </a:prstGeom>
          <a:noFill/>
        </p:spPr>
        <p:txBody>
          <a:bodyPr wrap="square" lIns="73152" rIns="54864" bIns="27432" anchor="t">
            <a:spAutoFit/>
          </a:bodyPr>
          <a:lstStyle/>
          <a:p>
            <a:pPr algn="l">
              <a:spcAft>
                <a:spcPts val="100"/>
              </a:spcAft>
              <a:defRPr sz="750" b="0">
                <a:solidFill>
                  <a:srgbClr val="111827"/>
                </a:solidFill>
              </a:defRPr>
            </a:pPr>
            <a:r>
              <a:t>LLM call — gpt-4o-mini, T=0.0</a:t>
            </a:r>
          </a:p>
          <a:p>
            <a:pPr algn="l">
              <a:spcAft>
                <a:spcPts val="100"/>
              </a:spcAft>
              <a:defRPr sz="700" b="0">
                <a:solidFill>
                  <a:srgbClr val="64748B"/>
                </a:solidFill>
              </a:defRPr>
            </a:pPr>
            <a:r>
              <a:t>Enriches query for better vector recall</a:t>
            </a:r>
          </a:p>
          <a:p>
            <a:pPr algn="l">
              <a:spcAft>
                <a:spcPts val="100"/>
              </a:spcAft>
              <a:defRPr sz="700" b="0">
                <a:solidFill>
                  <a:srgbClr val="64748B"/>
                </a:solidFill>
              </a:defRPr>
            </a:pPr>
            <a:r>
              <a:t>max_tokens = 80</a:t>
            </a:r>
          </a:p>
          <a:p>
            <a:pPr algn="l">
              <a:spcAft>
                <a:spcPts val="100"/>
              </a:spcAft>
              <a:defRPr sz="700" b="0">
                <a:solidFill>
                  <a:srgbClr val="0D9488"/>
                </a:solidFill>
              </a:defRPr>
            </a:pPr>
            <a:r>
              <a:t>Input:  "Spark job Kubeflow"</a:t>
            </a:r>
          </a:p>
          <a:p>
            <a:pPr algn="l">
              <a:spcAft>
                <a:spcPts val="100"/>
              </a:spcAft>
              <a:defRPr sz="700" b="0">
                <a:solidFill>
                  <a:srgbClr val="0D9488"/>
                </a:solidFill>
              </a:defRPr>
            </a:pPr>
            <a:r>
              <a:t>Output: "submit Spark application</a:t>
            </a:r>
            <a:br/>
            <a:r>
              <a:t>Kubeflow pipeline resource config"</a:t>
            </a:r>
          </a:p>
        </p:txBody>
      </p:sp>
      <p:sp>
        <p:nvSpPr>
          <p:cNvPr id="41" name="Rounded Rectangle 40"/>
          <p:cNvSpPr/>
          <p:nvPr/>
        </p:nvSpPr>
        <p:spPr>
          <a:xfrm>
            <a:off x="7260336" y="1207008"/>
            <a:ext cx="2176272" cy="731520"/>
          </a:xfrm>
          <a:prstGeom prst="roundRect">
            <a:avLst>
              <a:gd name="adj" fmla="val 4000"/>
            </a:avLst>
          </a:prstGeom>
          <a:solidFill>
            <a:srgbClr val="DCFCE7"/>
          </a:solidFill>
          <a:ln w="101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33488" y="1261872"/>
            <a:ext cx="2029968" cy="640080"/>
          </a:xfrm>
          <a:prstGeom prst="rect">
            <a:avLst/>
          </a:prstGeom>
          <a:noFill/>
        </p:spPr>
        <p:txBody>
          <a:bodyPr wrap="square" lIns="73152" rIns="54864" bIns="27432" anchor="t">
            <a:spAutoFit/>
          </a:bodyPr>
          <a:lstStyle/>
          <a:p>
            <a:pPr algn="l">
              <a:spcAft>
                <a:spcPts val="100"/>
              </a:spcAft>
              <a:defRPr sz="850" b="1">
                <a:solidFill>
                  <a:srgbClr val="16A34A"/>
                </a:solidFill>
              </a:defRPr>
            </a:pPr>
            <a:r>
              <a:t>platform_docs</a:t>
            </a:r>
          </a:p>
          <a:p>
            <a:pPr algn="l">
              <a:spcAft>
                <a:spcPts val="100"/>
              </a:spcAft>
              <a:defRPr sz="700" b="0">
                <a:solidFill>
                  <a:srgbClr val="475569"/>
                </a:solidFill>
              </a:defRPr>
            </a:pPr>
            <a:r>
              <a:t>chunk_text  ·  top-5</a:t>
            </a:r>
          </a:p>
          <a:p>
            <a:pPr algn="l">
              <a:spcAft>
                <a:spcPts val="100"/>
              </a:spcAft>
              <a:defRPr sz="650" b="0">
                <a:solidFill>
                  <a:srgbClr val="64748B"/>
                </a:solidFill>
              </a:defRPr>
            </a:pPr>
            <a:r>
              <a:t>Used by: DOC_QA / HYBRID</a:t>
            </a:r>
          </a:p>
          <a:p>
            <a:pPr algn="l">
              <a:spcAft>
                <a:spcPts val="100"/>
              </a:spcAft>
              <a:defRPr sz="650" b="0">
                <a:solidFill>
                  <a:srgbClr val="64748B"/>
                </a:solidFill>
              </a:defRPr>
            </a:pPr>
            <a:r>
              <a:t>HNSW · COSINE · 1536-dim</a:t>
            </a:r>
          </a:p>
        </p:txBody>
      </p:sp>
      <p:sp>
        <p:nvSpPr>
          <p:cNvPr id="43" name="Rounded Rectangle 42"/>
          <p:cNvSpPr/>
          <p:nvPr/>
        </p:nvSpPr>
        <p:spPr>
          <a:xfrm>
            <a:off x="7260336" y="2029968"/>
            <a:ext cx="2176272" cy="731520"/>
          </a:xfrm>
          <a:prstGeom prst="roundRect">
            <a:avLst>
              <a:gd name="adj" fmla="val 4000"/>
            </a:avLst>
          </a:prstGeom>
          <a:solidFill>
            <a:srgbClr val="FEF3C7"/>
          </a:solidFill>
          <a:ln w="10160">
            <a:solidFill>
              <a:srgbClr val="B46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33488" y="2084832"/>
            <a:ext cx="2029968" cy="640080"/>
          </a:xfrm>
          <a:prstGeom prst="rect">
            <a:avLst/>
          </a:prstGeom>
          <a:noFill/>
        </p:spPr>
        <p:txBody>
          <a:bodyPr wrap="square" lIns="73152" rIns="54864" bIns="27432" anchor="t">
            <a:spAutoFit/>
          </a:bodyPr>
          <a:lstStyle/>
          <a:p>
            <a:pPr algn="l">
              <a:spcAft>
                <a:spcPts val="100"/>
              </a:spcAft>
              <a:defRPr sz="850" b="1">
                <a:solidFill>
                  <a:srgbClr val="B46400"/>
                </a:solidFill>
              </a:defRPr>
            </a:pPr>
            <a:r>
              <a:t>artifact_summaries</a:t>
            </a:r>
          </a:p>
          <a:p>
            <a:pPr algn="l">
              <a:spcAft>
                <a:spcPts val="100"/>
              </a:spcAft>
              <a:defRPr sz="700" b="0">
                <a:solidFill>
                  <a:srgbClr val="475569"/>
                </a:solidFill>
              </a:defRPr>
            </a:pPr>
            <a:r>
              <a:t>artifact_summary  ·  top-5</a:t>
            </a:r>
          </a:p>
          <a:p>
            <a:pPr algn="l">
              <a:spcAft>
                <a:spcPts val="100"/>
              </a:spcAft>
              <a:defRPr sz="650" b="0">
                <a:solidFill>
                  <a:srgbClr val="64748B"/>
                </a:solidFill>
              </a:defRPr>
            </a:pPr>
            <a:r>
              <a:t>Used by: ARTIFACT / HYBRID</a:t>
            </a:r>
          </a:p>
          <a:p>
            <a:pPr algn="l">
              <a:spcAft>
                <a:spcPts val="100"/>
              </a:spcAft>
              <a:defRPr sz="650" b="0">
                <a:solidFill>
                  <a:srgbClr val="64748B"/>
                </a:solidFill>
              </a:defRPr>
            </a:pPr>
            <a:r>
              <a:t>HNSW · COSINE · 1536-dim</a:t>
            </a:r>
          </a:p>
        </p:txBody>
      </p:sp>
      <p:sp>
        <p:nvSpPr>
          <p:cNvPr id="45" name="Rounded Rectangle 44"/>
          <p:cNvSpPr/>
          <p:nvPr/>
        </p:nvSpPr>
        <p:spPr>
          <a:xfrm>
            <a:off x="7260336" y="2852928"/>
            <a:ext cx="2176272" cy="731520"/>
          </a:xfrm>
          <a:prstGeom prst="roundRect">
            <a:avLst>
              <a:gd name="adj" fmla="val 4000"/>
            </a:avLst>
          </a:prstGeom>
          <a:solidFill>
            <a:srgbClr val="EDE9FE"/>
          </a:solidFill>
          <a:ln w="1016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2907792"/>
            <a:ext cx="2029968" cy="640080"/>
          </a:xfrm>
          <a:prstGeom prst="rect">
            <a:avLst/>
          </a:prstGeom>
          <a:noFill/>
        </p:spPr>
        <p:txBody>
          <a:bodyPr wrap="square" lIns="73152" rIns="54864" bIns="27432" anchor="t">
            <a:spAutoFit/>
          </a:bodyPr>
          <a:lstStyle/>
          <a:p>
            <a:pPr algn="l">
              <a:spcAft>
                <a:spcPts val="100"/>
              </a:spcAft>
              <a:defRPr sz="850" b="1">
                <a:solidFill>
                  <a:srgbClr val="6D28D9"/>
                </a:solidFill>
              </a:defRPr>
            </a:pPr>
            <a:r>
              <a:t>user_profiles</a:t>
            </a:r>
          </a:p>
          <a:p>
            <a:pPr algn="l">
              <a:spcAft>
                <a:spcPts val="100"/>
              </a:spcAft>
              <a:defRPr sz="700" b="0">
                <a:solidFill>
                  <a:srgbClr val="475569"/>
                </a:solidFill>
              </a:defRPr>
            </a:pPr>
            <a:r>
              <a:t>user_profile  ·  top-5</a:t>
            </a:r>
          </a:p>
          <a:p>
            <a:pPr algn="l">
              <a:spcAft>
                <a:spcPts val="100"/>
              </a:spcAft>
              <a:defRPr sz="650" b="0">
                <a:solidFill>
                  <a:srgbClr val="64748B"/>
                </a:solidFill>
              </a:defRPr>
            </a:pPr>
            <a:r>
              <a:t>Used by: USER / HYBRID</a:t>
            </a:r>
          </a:p>
          <a:p>
            <a:pPr algn="l">
              <a:spcAft>
                <a:spcPts val="100"/>
              </a:spcAft>
              <a:defRPr sz="650" b="0">
                <a:solidFill>
                  <a:srgbClr val="64748B"/>
                </a:solidFill>
              </a:defRPr>
            </a:pPr>
            <a:r>
              <a:t>HNSW · COSINE · 1536-dim</a:t>
            </a:r>
          </a:p>
        </p:txBody>
      </p:sp>
      <p:sp>
        <p:nvSpPr>
          <p:cNvPr id="47" name="Rounded Rectangle 46"/>
          <p:cNvSpPr/>
          <p:nvPr/>
        </p:nvSpPr>
        <p:spPr>
          <a:xfrm>
            <a:off x="7260336" y="3675887"/>
            <a:ext cx="2176272" cy="530352"/>
          </a:xfrm>
          <a:prstGeom prst="roundRect">
            <a:avLst>
              <a:gd name="adj" fmla="val 4000"/>
            </a:avLst>
          </a:prstGeom>
          <a:solidFill>
            <a:srgbClr val="FCE7F3"/>
          </a:solidFill>
          <a:ln w="1016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0" y="3712463"/>
            <a:ext cx="2066543" cy="475488"/>
          </a:xfrm>
          <a:prstGeom prst="rect">
            <a:avLst/>
          </a:prstGeom>
          <a:noFill/>
        </p:spPr>
        <p:txBody>
          <a:bodyPr wrap="square" lIns="73152" rIns="54864" bIns="27432" anchor="t">
            <a:spAutoFit/>
          </a:bodyPr>
          <a:lstStyle/>
          <a:p>
            <a:pPr algn="l">
              <a:spcAft>
                <a:spcPts val="100"/>
              </a:spcAft>
              <a:defRPr sz="850" b="1">
                <a:solidFill>
                  <a:srgbClr val="BE185D"/>
                </a:solidFill>
              </a:defRPr>
            </a:pPr>
            <a:r>
              <a:t>Name Resolver</a:t>
            </a:r>
          </a:p>
          <a:p>
            <a:pPr algn="l">
              <a:spcAft>
                <a:spcPts val="100"/>
              </a:spcAft>
              <a:defRPr sz="700" b="0">
                <a:solidFill>
                  <a:srgbClr val="475569"/>
                </a:solidFill>
              </a:defRPr>
            </a:pPr>
            <a:r>
              <a:t>RapidFuzz string match</a:t>
            </a:r>
          </a:p>
          <a:p>
            <a:pPr algn="l">
              <a:spcAft>
                <a:spcPts val="100"/>
              </a:spcAft>
              <a:defRPr sz="700" b="0">
                <a:solidFill>
                  <a:srgbClr val="475569"/>
                </a:solidFill>
              </a:defRPr>
            </a:pPr>
            <a:r>
              <a:t>→ LLM disambiguation</a:t>
            </a:r>
          </a:p>
          <a:p>
            <a:pPr algn="l">
              <a:spcAft>
                <a:spcPts val="100"/>
              </a:spcAft>
              <a:defRPr sz="700" b="0">
                <a:solidFill>
                  <a:srgbClr val="475569"/>
                </a:solidFill>
              </a:defRPr>
            </a:pPr>
            <a:r>
              <a:t>→ Milvus profile fetch</a:t>
            </a:r>
          </a:p>
        </p:txBody>
      </p:sp>
      <p:sp>
        <p:nvSpPr>
          <p:cNvPr id="49" name="Rounded Rectangle 48"/>
          <p:cNvSpPr/>
          <p:nvPr/>
        </p:nvSpPr>
        <p:spPr>
          <a:xfrm>
            <a:off x="9564624" y="1207008"/>
            <a:ext cx="2286000" cy="530352"/>
          </a:xfrm>
          <a:prstGeom prst="roundRect">
            <a:avLst>
              <a:gd name="adj" fmla="val 4000"/>
            </a:avLst>
          </a:prstGeom>
          <a:solidFill>
            <a:srgbClr val="DBEAFE"/>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37776" y="1261872"/>
            <a:ext cx="2139696" cy="457200"/>
          </a:xfrm>
          <a:prstGeom prst="rect">
            <a:avLst/>
          </a:prstGeom>
          <a:noFill/>
        </p:spPr>
        <p:txBody>
          <a:bodyPr wrap="square" lIns="73152" rIns="54864" bIns="27432" anchor="t">
            <a:spAutoFit/>
          </a:bodyPr>
          <a:lstStyle/>
          <a:p>
            <a:pPr algn="l">
              <a:spcAft>
                <a:spcPts val="100"/>
              </a:spcAft>
              <a:defRPr sz="850" b="1">
                <a:solidFill>
                  <a:srgbClr val="2563EB"/>
                </a:solidFill>
              </a:defRPr>
            </a:pPr>
            <a:r>
              <a:t>DOC_QA</a:t>
            </a:r>
          </a:p>
          <a:p>
            <a:pPr algn="l">
              <a:spcAft>
                <a:spcPts val="100"/>
              </a:spcAft>
              <a:defRPr sz="700" b="0">
                <a:solidFill>
                  <a:srgbClr val="475569"/>
                </a:solidFill>
              </a:defRPr>
            </a:pPr>
            <a:r>
              <a:t>doc_store → top 5</a:t>
            </a:r>
          </a:p>
        </p:txBody>
      </p:sp>
      <p:sp>
        <p:nvSpPr>
          <p:cNvPr id="51" name="Rounded Rectangle 50"/>
          <p:cNvSpPr/>
          <p:nvPr/>
        </p:nvSpPr>
        <p:spPr>
          <a:xfrm>
            <a:off x="9564624" y="1828800"/>
            <a:ext cx="2286000" cy="530352"/>
          </a:xfrm>
          <a:prstGeom prst="roundRect">
            <a:avLst>
              <a:gd name="adj" fmla="val 4000"/>
            </a:avLst>
          </a:prstGeom>
          <a:solidFill>
            <a:srgbClr val="DCFCE7"/>
          </a:solidFill>
          <a:ln w="101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37776" y="1883664"/>
            <a:ext cx="2139696" cy="457200"/>
          </a:xfrm>
          <a:prstGeom prst="rect">
            <a:avLst/>
          </a:prstGeom>
          <a:noFill/>
        </p:spPr>
        <p:txBody>
          <a:bodyPr wrap="square" lIns="73152" rIns="54864" bIns="27432" anchor="t">
            <a:spAutoFit/>
          </a:bodyPr>
          <a:lstStyle/>
          <a:p>
            <a:pPr algn="l">
              <a:spcAft>
                <a:spcPts val="100"/>
              </a:spcAft>
              <a:defRPr sz="850" b="1">
                <a:solidFill>
                  <a:srgbClr val="16A34A"/>
                </a:solidFill>
              </a:defRPr>
            </a:pPr>
            <a:r>
              <a:t>ARTIFACT_SEARCH</a:t>
            </a:r>
          </a:p>
          <a:p>
            <a:pPr algn="l">
              <a:spcAft>
                <a:spcPts val="100"/>
              </a:spcAft>
              <a:defRPr sz="700" b="0">
                <a:solidFill>
                  <a:srgbClr val="475569"/>
                </a:solidFill>
              </a:defRPr>
            </a:pPr>
            <a:r>
              <a:t>artifact_store → top 5</a:t>
            </a:r>
          </a:p>
        </p:txBody>
      </p:sp>
      <p:sp>
        <p:nvSpPr>
          <p:cNvPr id="53" name="Rounded Rectangle 52"/>
          <p:cNvSpPr/>
          <p:nvPr/>
        </p:nvSpPr>
        <p:spPr>
          <a:xfrm>
            <a:off x="9564624" y="2450592"/>
            <a:ext cx="2286000" cy="530352"/>
          </a:xfrm>
          <a:prstGeom prst="roundRect">
            <a:avLst>
              <a:gd name="adj" fmla="val 4000"/>
            </a:avLst>
          </a:prstGeom>
          <a:solidFill>
            <a:srgbClr val="FEF3C7"/>
          </a:solidFill>
          <a:ln w="10160">
            <a:solidFill>
              <a:srgbClr val="B46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37776" y="2505456"/>
            <a:ext cx="2139696" cy="457200"/>
          </a:xfrm>
          <a:prstGeom prst="rect">
            <a:avLst/>
          </a:prstGeom>
          <a:noFill/>
        </p:spPr>
        <p:txBody>
          <a:bodyPr wrap="square" lIns="73152" rIns="54864" bIns="27432" anchor="t">
            <a:spAutoFit/>
          </a:bodyPr>
          <a:lstStyle/>
          <a:p>
            <a:pPr algn="l">
              <a:spcAft>
                <a:spcPts val="100"/>
              </a:spcAft>
              <a:defRPr sz="850" b="1">
                <a:solidFill>
                  <a:srgbClr val="B46400"/>
                </a:solidFill>
              </a:defRPr>
            </a:pPr>
            <a:r>
              <a:t>USER_SEARCH</a:t>
            </a:r>
          </a:p>
          <a:p>
            <a:pPr algn="l">
              <a:spcAft>
                <a:spcPts val="100"/>
              </a:spcAft>
              <a:defRPr sz="700" b="0">
                <a:solidFill>
                  <a:srgbClr val="475569"/>
                </a:solidFill>
              </a:defRPr>
            </a:pPr>
            <a:r>
              <a:t>user_store OR name resolver</a:t>
            </a:r>
          </a:p>
        </p:txBody>
      </p:sp>
      <p:sp>
        <p:nvSpPr>
          <p:cNvPr id="55" name="Rounded Rectangle 54"/>
          <p:cNvSpPr/>
          <p:nvPr/>
        </p:nvSpPr>
        <p:spPr>
          <a:xfrm>
            <a:off x="9564624" y="3072384"/>
            <a:ext cx="2286000" cy="530352"/>
          </a:xfrm>
          <a:prstGeom prst="roundRect">
            <a:avLst>
              <a:gd name="adj" fmla="val 4000"/>
            </a:avLst>
          </a:prstGeom>
          <a:solidFill>
            <a:srgbClr val="EDE9FE"/>
          </a:solidFill>
          <a:ln w="1016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37776" y="3127248"/>
            <a:ext cx="2139696" cy="457200"/>
          </a:xfrm>
          <a:prstGeom prst="rect">
            <a:avLst/>
          </a:prstGeom>
          <a:noFill/>
        </p:spPr>
        <p:txBody>
          <a:bodyPr wrap="square" lIns="73152" rIns="54864" bIns="27432" anchor="t">
            <a:spAutoFit/>
          </a:bodyPr>
          <a:lstStyle/>
          <a:p>
            <a:pPr algn="l">
              <a:spcAft>
                <a:spcPts val="100"/>
              </a:spcAft>
              <a:defRPr sz="850" b="1">
                <a:solidFill>
                  <a:srgbClr val="6D28D9"/>
                </a:solidFill>
              </a:defRPr>
            </a:pPr>
            <a:r>
              <a:t>HYBRID</a:t>
            </a:r>
          </a:p>
          <a:p>
            <a:pPr algn="l">
              <a:spcAft>
                <a:spcPts val="100"/>
              </a:spcAft>
              <a:defRPr sz="700" b="0">
                <a:solidFill>
                  <a:srgbClr val="475569"/>
                </a:solidFill>
              </a:defRPr>
            </a:pPr>
            <a:r>
              <a:t>all 3 stores → top 3 each</a:t>
            </a:r>
          </a:p>
        </p:txBody>
      </p:sp>
      <p:cxnSp>
        <p:nvCxnSpPr>
          <p:cNvPr id="57" name="Connector 56"/>
          <p:cNvCxnSpPr/>
          <p:nvPr/>
        </p:nvCxnSpPr>
        <p:spPr>
          <a:xfrm>
            <a:off x="2523744" y="1472184"/>
            <a:ext cx="128016" cy="0"/>
          </a:xfrm>
          <a:prstGeom prst="line">
            <a:avLst/>
          </a:prstGeom>
          <a:ln w="1524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828032" y="1472184"/>
            <a:ext cx="128016" cy="0"/>
          </a:xfrm>
          <a:prstGeom prst="line">
            <a:avLst/>
          </a:prstGeom>
          <a:ln w="1524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132320" y="1572768"/>
            <a:ext cx="128016" cy="0"/>
          </a:xfrm>
          <a:prstGeom prst="line">
            <a:avLst/>
          </a:prstGeom>
          <a:ln w="1524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132320" y="2395728"/>
            <a:ext cx="128016" cy="0"/>
          </a:xfrm>
          <a:prstGeom prst="line">
            <a:avLst/>
          </a:prstGeom>
          <a:ln w="15240">
            <a:solidFill>
              <a:srgbClr val="B464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132320" y="3218688"/>
            <a:ext cx="128016" cy="0"/>
          </a:xfrm>
          <a:prstGeom prst="line">
            <a:avLst/>
          </a:prstGeom>
          <a:ln w="1524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436608" y="1472184"/>
            <a:ext cx="128016" cy="0"/>
          </a:xfrm>
          <a:prstGeom prst="line">
            <a:avLst/>
          </a:prstGeom>
          <a:ln w="15240">
            <a:solidFill>
              <a:srgbClr val="475569"/>
            </a:solidFill>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3474720" y="2139696"/>
            <a:ext cx="1408176" cy="201168"/>
          </a:xfrm>
          <a:prstGeom prst="roundRect">
            <a:avLst>
              <a:gd name="adj" fmla="val 4000"/>
            </a:avLst>
          </a:prstGeom>
          <a:solidFill>
            <a:srgbClr val="FFFFFF"/>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511296" y="2157984"/>
            <a:ext cx="1335024" cy="182880"/>
          </a:xfrm>
          <a:prstGeom prst="rect">
            <a:avLst/>
          </a:prstGeom>
          <a:noFill/>
        </p:spPr>
        <p:txBody>
          <a:bodyPr wrap="square" lIns="36576" rIns="36576" tIns="18288" bIns="18288" anchor="t">
            <a:spAutoFit/>
          </a:bodyPr>
          <a:lstStyle/>
          <a:p>
            <a:pPr algn="ctr">
              <a:defRPr sz="650" b="0" i="0">
                <a:solidFill>
                  <a:srgbClr val="64748B"/>
                </a:solidFill>
              </a:defRPr>
            </a:pPr>
            <a:r>
              <a:t>confidence 0–1</a:t>
            </a:r>
          </a:p>
        </p:txBody>
      </p:sp>
      <p:sp>
        <p:nvSpPr>
          <p:cNvPr id="65" name="Rectangle 64"/>
          <p:cNvSpPr/>
          <p:nvPr/>
        </p:nvSpPr>
        <p:spPr>
          <a:xfrm>
            <a:off x="347472" y="4315968"/>
            <a:ext cx="11494008" cy="274320"/>
          </a:xfrm>
          <a:prstGeom prst="rect">
            <a:avLst/>
          </a:prstGeom>
          <a:solidFill>
            <a:srgbClr val="F8FAFC"/>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20624" y="4334256"/>
            <a:ext cx="11338560" cy="256032"/>
          </a:xfrm>
          <a:prstGeom prst="rect">
            <a:avLst/>
          </a:prstGeom>
          <a:noFill/>
        </p:spPr>
        <p:txBody>
          <a:bodyPr wrap="square" lIns="73152" rIns="54864" bIns="27432" anchor="t">
            <a:spAutoFit/>
          </a:bodyPr>
          <a:lstStyle/>
          <a:p>
            <a:pPr algn="l">
              <a:spcAft>
                <a:spcPts val="100"/>
              </a:spcAft>
              <a:defRPr sz="700" b="0">
                <a:solidFill>
                  <a:srgbClr val="64748B"/>
                </a:solidFill>
              </a:defRPr>
            </a:pPr>
            <a:r>
              <a:t>All LLM calls carry trace_id via LiteLLM extra_body → Langfuse groups every generation in one trace per request  ·  Embeddings: text-embedding-3-small · 1536-dim  ·  Vector search: COSINE similarity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274320"/>
          </a:xfrm>
          <a:prstGeom prst="rect">
            <a:avLst/>
          </a:prstGeom>
          <a:solidFill>
            <a:srgbClr val="111827"/>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3047238" cy="54864"/>
          </a:xfrm>
          <a:prstGeom prst="rect">
            <a:avLst/>
          </a:prstGeom>
          <a:solidFill>
            <a:srgbClr val="2563EB"/>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238" y="274320"/>
            <a:ext cx="3047238" cy="54864"/>
          </a:xfrm>
          <a:prstGeom prst="rect">
            <a:avLst/>
          </a:prstGeom>
          <a:solidFill>
            <a:srgbClr val="16A34A"/>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4476" y="274320"/>
            <a:ext cx="3047238" cy="54864"/>
          </a:xfrm>
          <a:prstGeom prst="rect">
            <a:avLst/>
          </a:prstGeom>
          <a:solidFill>
            <a:srgbClr val="B46400"/>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1714" y="274320"/>
            <a:ext cx="3047238" cy="54864"/>
          </a:xfrm>
          <a:prstGeom prst="rect">
            <a:avLst/>
          </a:prstGeom>
          <a:solidFill>
            <a:srgbClr val="BE185D"/>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28816"/>
            <a:ext cx="11430000" cy="219456"/>
          </a:xfrm>
          <a:prstGeom prst="rect">
            <a:avLst/>
          </a:prstGeom>
          <a:noFill/>
        </p:spPr>
        <p:txBody>
          <a:bodyPr wrap="square" lIns="36576" rIns="36576" tIns="18288" bIns="18288" anchor="t">
            <a:spAutoFit/>
          </a:bodyPr>
          <a:lstStyle/>
          <a:p>
            <a:pPr algn="r">
              <a:defRPr sz="800" b="0" i="0">
                <a:solidFill>
                  <a:srgbClr val="64748B"/>
                </a:solidFill>
              </a:defRPr>
            </a:pPr>
            <a:r>
              <a:t>Kubeflow Workspace Intelligence LLMOps</a:t>
            </a:r>
          </a:p>
        </p:txBody>
      </p:sp>
      <p:sp>
        <p:nvSpPr>
          <p:cNvPr id="8" name="Rectangle 7"/>
          <p:cNvSpPr/>
          <p:nvPr/>
        </p:nvSpPr>
        <p:spPr>
          <a:xfrm>
            <a:off x="347472" y="384048"/>
            <a:ext cx="11494008" cy="420624"/>
          </a:xfrm>
          <a:prstGeom prst="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11480"/>
            <a:ext cx="11247120" cy="365760"/>
          </a:xfrm>
          <a:prstGeom prst="rect">
            <a:avLst/>
          </a:prstGeom>
          <a:noFill/>
        </p:spPr>
        <p:txBody>
          <a:bodyPr wrap="square" lIns="36576" rIns="36576" tIns="18288" bIns="18288" anchor="t">
            <a:spAutoFit/>
          </a:bodyPr>
          <a:lstStyle/>
          <a:p>
            <a:pPr algn="l">
              <a:defRPr sz="1250" b="1" i="0">
                <a:solidFill>
                  <a:srgbClr val="111827"/>
                </a:solidFill>
              </a:defRPr>
            </a:pPr>
            <a:r>
              <a:t>Generation Process — Context Assembly → LLM Generate → Observability Trace</a:t>
            </a:r>
          </a:p>
        </p:txBody>
      </p:sp>
      <p:sp>
        <p:nvSpPr>
          <p:cNvPr id="10" name="Rounded Rectangle 9"/>
          <p:cNvSpPr/>
          <p:nvPr/>
        </p:nvSpPr>
        <p:spPr>
          <a:xfrm>
            <a:off x="347472" y="896112"/>
            <a:ext cx="2761488" cy="2084831"/>
          </a:xfrm>
          <a:prstGeom prst="roundRect">
            <a:avLst>
              <a:gd name="adj" fmla="val 4000"/>
            </a:avLst>
          </a:prstGeom>
          <a:solidFill>
            <a:srgbClr val="DCFCE7"/>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932688"/>
            <a:ext cx="2560320" cy="274320"/>
          </a:xfrm>
          <a:prstGeom prst="rect">
            <a:avLst/>
          </a:prstGeom>
          <a:noFill/>
        </p:spPr>
        <p:txBody>
          <a:bodyPr wrap="square" lIns="36576" rIns="36576" tIns="18288" bIns="18288" anchor="t">
            <a:spAutoFit/>
          </a:bodyPr>
          <a:lstStyle/>
          <a:p>
            <a:pPr algn="l">
              <a:defRPr sz="1000" b="1" i="0">
                <a:solidFill>
                  <a:srgbClr val="16A34A"/>
                </a:solidFill>
              </a:defRPr>
            </a:pPr>
            <a:r>
              <a:t>Retrieved Context</a:t>
            </a:r>
          </a:p>
        </p:txBody>
      </p:sp>
      <p:sp>
        <p:nvSpPr>
          <p:cNvPr id="12" name="Oval 11"/>
          <p:cNvSpPr/>
          <p:nvPr/>
        </p:nvSpPr>
        <p:spPr>
          <a:xfrm>
            <a:off x="484632" y="1307592"/>
            <a:ext cx="73152" cy="73152"/>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1261872"/>
            <a:ext cx="2432304" cy="237744"/>
          </a:xfrm>
          <a:prstGeom prst="rect">
            <a:avLst/>
          </a:prstGeom>
          <a:noFill/>
        </p:spPr>
        <p:txBody>
          <a:bodyPr wrap="square" lIns="36576" rIns="36576" tIns="18288" bIns="18288" anchor="t">
            <a:spAutoFit/>
          </a:bodyPr>
          <a:lstStyle/>
          <a:p>
            <a:pPr algn="l">
              <a:defRPr sz="750" b="0" i="0">
                <a:solidFill>
                  <a:srgbClr val="475569"/>
                </a:solidFill>
              </a:defRPr>
            </a:pPr>
            <a:r>
              <a:t>doc chunks (chunk_text)</a:t>
            </a:r>
          </a:p>
        </p:txBody>
      </p:sp>
      <p:sp>
        <p:nvSpPr>
          <p:cNvPr id="14" name="Oval 13"/>
          <p:cNvSpPr/>
          <p:nvPr/>
        </p:nvSpPr>
        <p:spPr>
          <a:xfrm>
            <a:off x="484632" y="1545336"/>
            <a:ext cx="73152" cy="73152"/>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499616"/>
            <a:ext cx="2432304" cy="237744"/>
          </a:xfrm>
          <a:prstGeom prst="rect">
            <a:avLst/>
          </a:prstGeom>
          <a:noFill/>
        </p:spPr>
        <p:txBody>
          <a:bodyPr wrap="square" lIns="36576" rIns="36576" tIns="18288" bIns="18288" anchor="t">
            <a:spAutoFit/>
          </a:bodyPr>
          <a:lstStyle/>
          <a:p>
            <a:pPr algn="l">
              <a:defRPr sz="750" b="0" i="0">
                <a:solidFill>
                  <a:srgbClr val="475569"/>
                </a:solidFill>
              </a:defRPr>
            </a:pPr>
            <a:r>
              <a:t>artifact summaries</a:t>
            </a:r>
          </a:p>
        </p:txBody>
      </p:sp>
      <p:sp>
        <p:nvSpPr>
          <p:cNvPr id="16" name="Oval 15"/>
          <p:cNvSpPr/>
          <p:nvPr/>
        </p:nvSpPr>
        <p:spPr>
          <a:xfrm>
            <a:off x="484632" y="1783080"/>
            <a:ext cx="73152" cy="73152"/>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1737360"/>
            <a:ext cx="2432304" cy="237744"/>
          </a:xfrm>
          <a:prstGeom prst="rect">
            <a:avLst/>
          </a:prstGeom>
          <a:noFill/>
        </p:spPr>
        <p:txBody>
          <a:bodyPr wrap="square" lIns="36576" rIns="36576" tIns="18288" bIns="18288" anchor="t">
            <a:spAutoFit/>
          </a:bodyPr>
          <a:lstStyle/>
          <a:p>
            <a:pPr algn="l">
              <a:defRPr sz="750" b="0" i="0">
                <a:solidFill>
                  <a:srgbClr val="475569"/>
                </a:solidFill>
              </a:defRPr>
            </a:pPr>
            <a:r>
              <a:t>user profiles</a:t>
            </a:r>
          </a:p>
        </p:txBody>
      </p:sp>
      <p:sp>
        <p:nvSpPr>
          <p:cNvPr id="18" name="Oval 17"/>
          <p:cNvSpPr/>
          <p:nvPr/>
        </p:nvSpPr>
        <p:spPr>
          <a:xfrm>
            <a:off x="484632" y="2020824"/>
            <a:ext cx="73152" cy="73152"/>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 y="1975104"/>
            <a:ext cx="2432304" cy="237744"/>
          </a:xfrm>
          <a:prstGeom prst="rect">
            <a:avLst/>
          </a:prstGeom>
          <a:noFill/>
        </p:spPr>
        <p:txBody>
          <a:bodyPr wrap="square" lIns="36576" rIns="36576" tIns="18288" bIns="18288" anchor="t">
            <a:spAutoFit/>
          </a:bodyPr>
          <a:lstStyle/>
          <a:p>
            <a:pPr algn="l">
              <a:defRPr sz="750" b="0" i="0">
                <a:solidFill>
                  <a:srgbClr val="475569"/>
                </a:solidFill>
              </a:defRPr>
            </a:pPr>
            <a:r>
              <a:t>Combined per intent type</a:t>
            </a:r>
          </a:p>
        </p:txBody>
      </p:sp>
      <p:sp>
        <p:nvSpPr>
          <p:cNvPr id="20" name="Oval 19"/>
          <p:cNvSpPr/>
          <p:nvPr/>
        </p:nvSpPr>
        <p:spPr>
          <a:xfrm>
            <a:off x="484632" y="2258568"/>
            <a:ext cx="73152" cy="73152"/>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2212848"/>
            <a:ext cx="2432304" cy="237744"/>
          </a:xfrm>
          <a:prstGeom prst="rect">
            <a:avLst/>
          </a:prstGeom>
          <a:noFill/>
        </p:spPr>
        <p:txBody>
          <a:bodyPr wrap="square" lIns="36576" rIns="36576" tIns="18288" bIns="18288" anchor="t">
            <a:spAutoFit/>
          </a:bodyPr>
          <a:lstStyle/>
          <a:p>
            <a:pPr algn="l">
              <a:defRPr sz="750" b="0" i="0">
                <a:solidFill>
                  <a:srgbClr val="475569"/>
                </a:solidFill>
              </a:defRPr>
            </a:pPr>
            <a:r>
              <a:t>HYBRID gets all 3</a:t>
            </a:r>
          </a:p>
        </p:txBody>
      </p:sp>
      <p:sp>
        <p:nvSpPr>
          <p:cNvPr id="22" name="Rounded Rectangle 21"/>
          <p:cNvSpPr/>
          <p:nvPr/>
        </p:nvSpPr>
        <p:spPr>
          <a:xfrm>
            <a:off x="3236976" y="896112"/>
            <a:ext cx="2761488" cy="2084831"/>
          </a:xfrm>
          <a:prstGeom prst="roundRect">
            <a:avLst>
              <a:gd name="adj" fmla="val 4000"/>
            </a:avLst>
          </a:prstGeom>
          <a:solidFill>
            <a:srgbClr val="DBEAFE"/>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932688"/>
            <a:ext cx="2560320" cy="274320"/>
          </a:xfrm>
          <a:prstGeom prst="rect">
            <a:avLst/>
          </a:prstGeom>
          <a:noFill/>
        </p:spPr>
        <p:txBody>
          <a:bodyPr wrap="square" lIns="36576" rIns="36576" tIns="18288" bIns="18288" anchor="t">
            <a:spAutoFit/>
          </a:bodyPr>
          <a:lstStyle/>
          <a:p>
            <a:pPr algn="l">
              <a:defRPr sz="1000" b="1" i="0">
                <a:solidFill>
                  <a:srgbClr val="2563EB"/>
                </a:solidFill>
              </a:defRPr>
            </a:pPr>
            <a:r>
              <a:t>Prompt Builder</a:t>
            </a:r>
          </a:p>
        </p:txBody>
      </p:sp>
      <p:sp>
        <p:nvSpPr>
          <p:cNvPr id="24" name="Oval 23"/>
          <p:cNvSpPr/>
          <p:nvPr/>
        </p:nvSpPr>
        <p:spPr>
          <a:xfrm>
            <a:off x="3374136" y="1307592"/>
            <a:ext cx="73152" cy="7315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93008" y="1261872"/>
            <a:ext cx="2432304" cy="237744"/>
          </a:xfrm>
          <a:prstGeom prst="rect">
            <a:avLst/>
          </a:prstGeom>
          <a:noFill/>
        </p:spPr>
        <p:txBody>
          <a:bodyPr wrap="square" lIns="36576" rIns="36576" tIns="18288" bIns="18288" anchor="t">
            <a:spAutoFit/>
          </a:bodyPr>
          <a:lstStyle/>
          <a:p>
            <a:pPr algn="l">
              <a:defRPr sz="750" b="0" i="0">
                <a:solidFill>
                  <a:srgbClr val="475569"/>
                </a:solidFill>
              </a:defRPr>
            </a:pPr>
            <a:r>
              <a:t>Selects template per intent:</a:t>
            </a:r>
          </a:p>
        </p:txBody>
      </p:sp>
      <p:sp>
        <p:nvSpPr>
          <p:cNvPr id="26" name="Oval 25"/>
          <p:cNvSpPr/>
          <p:nvPr/>
        </p:nvSpPr>
        <p:spPr>
          <a:xfrm>
            <a:off x="3374136" y="1545336"/>
            <a:ext cx="73152" cy="7315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93008" y="1499616"/>
            <a:ext cx="2432304" cy="237744"/>
          </a:xfrm>
          <a:prstGeom prst="rect">
            <a:avLst/>
          </a:prstGeom>
          <a:noFill/>
        </p:spPr>
        <p:txBody>
          <a:bodyPr wrap="square" lIns="36576" rIns="36576" tIns="18288" bIns="18288" anchor="t">
            <a:spAutoFit/>
          </a:bodyPr>
          <a:lstStyle/>
          <a:p>
            <a:pPr algn="l">
              <a:defRPr sz="750" b="0" i="0">
                <a:solidFill>
                  <a:srgbClr val="475569"/>
                </a:solidFill>
              </a:defRPr>
            </a:pPr>
            <a:r>
              <a:t>  doc_qa / artifact_search</a:t>
            </a:r>
          </a:p>
        </p:txBody>
      </p:sp>
      <p:sp>
        <p:nvSpPr>
          <p:cNvPr id="28" name="Oval 27"/>
          <p:cNvSpPr/>
          <p:nvPr/>
        </p:nvSpPr>
        <p:spPr>
          <a:xfrm>
            <a:off x="3374136" y="1783080"/>
            <a:ext cx="73152" cy="7315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93008" y="1737360"/>
            <a:ext cx="2432304" cy="237744"/>
          </a:xfrm>
          <a:prstGeom prst="rect">
            <a:avLst/>
          </a:prstGeom>
          <a:noFill/>
        </p:spPr>
        <p:txBody>
          <a:bodyPr wrap="square" lIns="36576" rIns="36576" tIns="18288" bIns="18288" anchor="t">
            <a:spAutoFit/>
          </a:bodyPr>
          <a:lstStyle/>
          <a:p>
            <a:pPr algn="l">
              <a:defRPr sz="750" b="0" i="0">
                <a:solidFill>
                  <a:srgbClr val="475569"/>
                </a:solidFill>
              </a:defRPr>
            </a:pPr>
            <a:r>
              <a:t>  user_search / hybrid</a:t>
            </a:r>
          </a:p>
        </p:txBody>
      </p:sp>
      <p:sp>
        <p:nvSpPr>
          <p:cNvPr id="30" name="Oval 29"/>
          <p:cNvSpPr/>
          <p:nvPr/>
        </p:nvSpPr>
        <p:spPr>
          <a:xfrm>
            <a:off x="3374136" y="2020824"/>
            <a:ext cx="73152" cy="7315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93008" y="1975104"/>
            <a:ext cx="2432304" cy="237744"/>
          </a:xfrm>
          <a:prstGeom prst="rect">
            <a:avLst/>
          </a:prstGeom>
          <a:noFill/>
        </p:spPr>
        <p:txBody>
          <a:bodyPr wrap="square" lIns="36576" rIns="36576" tIns="18288" bIns="18288" anchor="t">
            <a:spAutoFit/>
          </a:bodyPr>
          <a:lstStyle/>
          <a:p>
            <a:pPr algn="l">
              <a:defRPr sz="750" b="0" i="0">
                <a:solidFill>
                  <a:srgbClr val="475569"/>
                </a:solidFill>
              </a:defRPr>
            </a:pPr>
            <a:r>
              <a:t>Injects context + user query</a:t>
            </a:r>
          </a:p>
        </p:txBody>
      </p:sp>
      <p:sp>
        <p:nvSpPr>
          <p:cNvPr id="32" name="Oval 31"/>
          <p:cNvSpPr/>
          <p:nvPr/>
        </p:nvSpPr>
        <p:spPr>
          <a:xfrm>
            <a:off x="3374136" y="2258568"/>
            <a:ext cx="73152" cy="7315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93008" y="2212848"/>
            <a:ext cx="2432304" cy="237744"/>
          </a:xfrm>
          <a:prstGeom prst="rect">
            <a:avLst/>
          </a:prstGeom>
          <a:noFill/>
        </p:spPr>
        <p:txBody>
          <a:bodyPr wrap="square" lIns="36576" rIns="36576" tIns="18288" bIns="18288" anchor="t">
            <a:spAutoFit/>
          </a:bodyPr>
          <a:lstStyle/>
          <a:p>
            <a:pPr algn="l">
              <a:defRPr sz="750" b="0" i="0">
                <a:solidFill>
                  <a:srgbClr val="475569"/>
                </a:solidFill>
              </a:defRPr>
            </a:pPr>
            <a:r>
              <a:t>Prepends chat history</a:t>
            </a:r>
          </a:p>
        </p:txBody>
      </p:sp>
      <p:sp>
        <p:nvSpPr>
          <p:cNvPr id="34" name="Rounded Rectangle 33"/>
          <p:cNvSpPr/>
          <p:nvPr/>
        </p:nvSpPr>
        <p:spPr>
          <a:xfrm>
            <a:off x="6126480" y="896112"/>
            <a:ext cx="2761488" cy="2084831"/>
          </a:xfrm>
          <a:prstGeom prst="roundRect">
            <a:avLst>
              <a:gd name="adj" fmla="val 4000"/>
            </a:avLst>
          </a:prstGeom>
          <a:solidFill>
            <a:srgbClr val="EDE9FE"/>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36208" y="932688"/>
            <a:ext cx="2560320" cy="274320"/>
          </a:xfrm>
          <a:prstGeom prst="rect">
            <a:avLst/>
          </a:prstGeom>
          <a:noFill/>
        </p:spPr>
        <p:txBody>
          <a:bodyPr wrap="square" lIns="36576" rIns="36576" tIns="18288" bIns="18288" anchor="t">
            <a:spAutoFit/>
          </a:bodyPr>
          <a:lstStyle/>
          <a:p>
            <a:pPr algn="l">
              <a:defRPr sz="1000" b="1" i="0">
                <a:solidFill>
                  <a:srgbClr val="6D28D9"/>
                </a:solidFill>
              </a:defRPr>
            </a:pPr>
            <a:r>
              <a:t>LLM Generate</a:t>
            </a:r>
          </a:p>
        </p:txBody>
      </p:sp>
      <p:sp>
        <p:nvSpPr>
          <p:cNvPr id="36" name="Oval 35"/>
          <p:cNvSpPr/>
          <p:nvPr/>
        </p:nvSpPr>
        <p:spPr>
          <a:xfrm>
            <a:off x="6263640" y="1307592"/>
            <a:ext cx="73152" cy="7315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1261872"/>
            <a:ext cx="2432304" cy="237744"/>
          </a:xfrm>
          <a:prstGeom prst="rect">
            <a:avLst/>
          </a:prstGeom>
          <a:noFill/>
        </p:spPr>
        <p:txBody>
          <a:bodyPr wrap="square" lIns="36576" rIns="36576" tIns="18288" bIns="18288" anchor="t">
            <a:spAutoFit/>
          </a:bodyPr>
          <a:lstStyle/>
          <a:p>
            <a:pPr algn="l">
              <a:defRPr sz="750" b="0" i="0">
                <a:solidFill>
                  <a:srgbClr val="475569"/>
                </a:solidFill>
              </a:defRPr>
            </a:pPr>
            <a:r>
              <a:t>gpt-4o-mini via LiteLLM proxy</a:t>
            </a:r>
          </a:p>
        </p:txBody>
      </p:sp>
      <p:sp>
        <p:nvSpPr>
          <p:cNvPr id="38" name="Oval 37"/>
          <p:cNvSpPr/>
          <p:nvPr/>
        </p:nvSpPr>
        <p:spPr>
          <a:xfrm>
            <a:off x="6263640" y="1545336"/>
            <a:ext cx="73152" cy="7315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82512" y="1499616"/>
            <a:ext cx="2432304" cy="237744"/>
          </a:xfrm>
          <a:prstGeom prst="rect">
            <a:avLst/>
          </a:prstGeom>
          <a:noFill/>
        </p:spPr>
        <p:txBody>
          <a:bodyPr wrap="square" lIns="36576" rIns="36576" tIns="18288" bIns="18288" anchor="t">
            <a:spAutoFit/>
          </a:bodyPr>
          <a:lstStyle/>
          <a:p>
            <a:pPr algn="l">
              <a:defRPr sz="750" b="0" i="0">
                <a:solidFill>
                  <a:srgbClr val="475569"/>
                </a:solidFill>
              </a:defRPr>
            </a:pPr>
            <a:r>
              <a:t>temperature = 0.2</a:t>
            </a:r>
          </a:p>
        </p:txBody>
      </p:sp>
      <p:sp>
        <p:nvSpPr>
          <p:cNvPr id="40" name="Oval 39"/>
          <p:cNvSpPr/>
          <p:nvPr/>
        </p:nvSpPr>
        <p:spPr>
          <a:xfrm>
            <a:off x="6263640" y="1783080"/>
            <a:ext cx="73152" cy="7315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82512" y="1737360"/>
            <a:ext cx="2432304" cy="237744"/>
          </a:xfrm>
          <a:prstGeom prst="rect">
            <a:avLst/>
          </a:prstGeom>
          <a:noFill/>
        </p:spPr>
        <p:txBody>
          <a:bodyPr wrap="square" lIns="36576" rIns="36576" tIns="18288" bIns="18288" anchor="t">
            <a:spAutoFit/>
          </a:bodyPr>
          <a:lstStyle/>
          <a:p>
            <a:pPr algn="l">
              <a:defRPr sz="750" b="0" i="0">
                <a:solidFill>
                  <a:srgbClr val="475569"/>
                </a:solidFill>
              </a:defRPr>
            </a:pPr>
            <a:r>
              <a:t>max_tokens = 600</a:t>
            </a:r>
          </a:p>
        </p:txBody>
      </p:sp>
      <p:sp>
        <p:nvSpPr>
          <p:cNvPr id="42" name="Oval 41"/>
          <p:cNvSpPr/>
          <p:nvPr/>
        </p:nvSpPr>
        <p:spPr>
          <a:xfrm>
            <a:off x="6263640" y="2020824"/>
            <a:ext cx="73152" cy="7315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82512" y="1975104"/>
            <a:ext cx="2432304" cy="237744"/>
          </a:xfrm>
          <a:prstGeom prst="rect">
            <a:avLst/>
          </a:prstGeom>
          <a:noFill/>
        </p:spPr>
        <p:txBody>
          <a:bodyPr wrap="square" lIns="36576" rIns="36576" tIns="18288" bIns="18288" anchor="t">
            <a:spAutoFit/>
          </a:bodyPr>
          <a:lstStyle/>
          <a:p>
            <a:pPr algn="l">
              <a:defRPr sz="750" b="0" i="0">
                <a:solidFill>
                  <a:srgbClr val="475569"/>
                </a:solidFill>
              </a:defRPr>
            </a:pPr>
            <a:r>
              <a:t>trace_id forwarded in extra_body</a:t>
            </a:r>
          </a:p>
        </p:txBody>
      </p:sp>
      <p:sp>
        <p:nvSpPr>
          <p:cNvPr id="44" name="Oval 43"/>
          <p:cNvSpPr/>
          <p:nvPr/>
        </p:nvSpPr>
        <p:spPr>
          <a:xfrm>
            <a:off x="6263640" y="2258568"/>
            <a:ext cx="73152" cy="7315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82512" y="2212848"/>
            <a:ext cx="2432304" cy="237744"/>
          </a:xfrm>
          <a:prstGeom prst="rect">
            <a:avLst/>
          </a:prstGeom>
          <a:noFill/>
        </p:spPr>
        <p:txBody>
          <a:bodyPr wrap="square" lIns="36576" rIns="36576" tIns="18288" bIns="18288" anchor="t">
            <a:spAutoFit/>
          </a:bodyPr>
          <a:lstStyle/>
          <a:p>
            <a:pPr algn="l">
              <a:defRPr sz="750" b="0" i="0">
                <a:solidFill>
                  <a:srgbClr val="475569"/>
                </a:solidFill>
              </a:defRPr>
            </a:pPr>
            <a:r>
              <a:t>Trace name: chat · {intent}</a:t>
            </a:r>
          </a:p>
        </p:txBody>
      </p:sp>
      <p:sp>
        <p:nvSpPr>
          <p:cNvPr id="46" name="Rounded Rectangle 45"/>
          <p:cNvSpPr/>
          <p:nvPr/>
        </p:nvSpPr>
        <p:spPr>
          <a:xfrm>
            <a:off x="9015984" y="896112"/>
            <a:ext cx="2761488" cy="2084831"/>
          </a:xfrm>
          <a:prstGeom prst="roundRect">
            <a:avLst>
              <a:gd name="adj" fmla="val 4000"/>
            </a:avLst>
          </a:prstGeom>
          <a:solidFill>
            <a:srgbClr val="CCFBF1"/>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25711" y="932688"/>
            <a:ext cx="2560320" cy="274320"/>
          </a:xfrm>
          <a:prstGeom prst="rect">
            <a:avLst/>
          </a:prstGeom>
          <a:noFill/>
        </p:spPr>
        <p:txBody>
          <a:bodyPr wrap="square" lIns="36576" rIns="36576" tIns="18288" bIns="18288" anchor="t">
            <a:spAutoFit/>
          </a:bodyPr>
          <a:lstStyle/>
          <a:p>
            <a:pPr algn="l">
              <a:defRPr sz="1000" b="1" i="0">
                <a:solidFill>
                  <a:srgbClr val="0D9488"/>
                </a:solidFill>
              </a:defRPr>
            </a:pPr>
            <a:r>
              <a:t>Response</a:t>
            </a:r>
          </a:p>
        </p:txBody>
      </p:sp>
      <p:sp>
        <p:nvSpPr>
          <p:cNvPr id="48" name="Oval 47"/>
          <p:cNvSpPr/>
          <p:nvPr/>
        </p:nvSpPr>
        <p:spPr>
          <a:xfrm>
            <a:off x="9153144" y="1307592"/>
            <a:ext cx="73152" cy="731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72015" y="1261872"/>
            <a:ext cx="2432304" cy="237744"/>
          </a:xfrm>
          <a:prstGeom prst="rect">
            <a:avLst/>
          </a:prstGeom>
          <a:noFill/>
        </p:spPr>
        <p:txBody>
          <a:bodyPr wrap="square" lIns="36576" rIns="36576" tIns="18288" bIns="18288" anchor="t">
            <a:spAutoFit/>
          </a:bodyPr>
          <a:lstStyle/>
          <a:p>
            <a:pPr algn="l">
              <a:defRPr sz="750" b="0" i="0">
                <a:solidFill>
                  <a:srgbClr val="475569"/>
                </a:solidFill>
              </a:defRPr>
            </a:pPr>
            <a:r>
              <a:t>answer (str)</a:t>
            </a:r>
          </a:p>
        </p:txBody>
      </p:sp>
      <p:sp>
        <p:nvSpPr>
          <p:cNvPr id="50" name="Oval 49"/>
          <p:cNvSpPr/>
          <p:nvPr/>
        </p:nvSpPr>
        <p:spPr>
          <a:xfrm>
            <a:off x="9153144" y="1545336"/>
            <a:ext cx="73152" cy="731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72015" y="1499616"/>
            <a:ext cx="2432304" cy="237744"/>
          </a:xfrm>
          <a:prstGeom prst="rect">
            <a:avLst/>
          </a:prstGeom>
          <a:noFill/>
        </p:spPr>
        <p:txBody>
          <a:bodyPr wrap="square" lIns="36576" rIns="36576" tIns="18288" bIns="18288" anchor="t">
            <a:spAutoFit/>
          </a:bodyPr>
          <a:lstStyle/>
          <a:p>
            <a:pPr algn="l">
              <a:defRPr sz="750" b="0" i="0">
                <a:solidFill>
                  <a:srgbClr val="475569"/>
                </a:solidFill>
              </a:defRPr>
            </a:pPr>
            <a:r>
              <a:t>intent + confidence</a:t>
            </a:r>
          </a:p>
        </p:txBody>
      </p:sp>
      <p:sp>
        <p:nvSpPr>
          <p:cNvPr id="52" name="Oval 51"/>
          <p:cNvSpPr/>
          <p:nvPr/>
        </p:nvSpPr>
        <p:spPr>
          <a:xfrm>
            <a:off x="9153144" y="1783080"/>
            <a:ext cx="73152" cy="731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72015" y="1737360"/>
            <a:ext cx="2432304" cy="237744"/>
          </a:xfrm>
          <a:prstGeom prst="rect">
            <a:avLst/>
          </a:prstGeom>
          <a:noFill/>
        </p:spPr>
        <p:txBody>
          <a:bodyPr wrap="square" lIns="36576" rIns="36576" tIns="18288" bIns="18288" anchor="t">
            <a:spAutoFit/>
          </a:bodyPr>
          <a:lstStyle/>
          <a:p>
            <a:pPr algn="l">
              <a:defRPr sz="750" b="0" i="0">
                <a:solidFill>
                  <a:srgbClr val="475569"/>
                </a:solidFill>
              </a:defRPr>
            </a:pPr>
            <a:r>
              <a:t>trace_id (for feedback)</a:t>
            </a:r>
          </a:p>
        </p:txBody>
      </p:sp>
      <p:sp>
        <p:nvSpPr>
          <p:cNvPr id="54" name="Oval 53"/>
          <p:cNvSpPr/>
          <p:nvPr/>
        </p:nvSpPr>
        <p:spPr>
          <a:xfrm>
            <a:off x="9153144" y="2020824"/>
            <a:ext cx="73152" cy="731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72015" y="1975104"/>
            <a:ext cx="2432304" cy="237744"/>
          </a:xfrm>
          <a:prstGeom prst="rect">
            <a:avLst/>
          </a:prstGeom>
          <a:noFill/>
        </p:spPr>
        <p:txBody>
          <a:bodyPr wrap="square" lIns="36576" rIns="36576" tIns="18288" bIns="18288" anchor="t">
            <a:spAutoFit/>
          </a:bodyPr>
          <a:lstStyle/>
          <a:p>
            <a:pPr algn="l">
              <a:defRPr sz="750" b="0" i="0">
                <a:solidFill>
                  <a:srgbClr val="475569"/>
                </a:solidFill>
              </a:defRPr>
            </a:pPr>
            <a:r>
              <a:t>raw_docs / raw_artifacts</a:t>
            </a:r>
          </a:p>
        </p:txBody>
      </p:sp>
      <p:sp>
        <p:nvSpPr>
          <p:cNvPr id="56" name="Oval 55"/>
          <p:cNvSpPr/>
          <p:nvPr/>
        </p:nvSpPr>
        <p:spPr>
          <a:xfrm>
            <a:off x="9153144" y="2258568"/>
            <a:ext cx="73152" cy="731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272015" y="2212848"/>
            <a:ext cx="2432304" cy="237744"/>
          </a:xfrm>
          <a:prstGeom prst="rect">
            <a:avLst/>
          </a:prstGeom>
          <a:noFill/>
        </p:spPr>
        <p:txBody>
          <a:bodyPr wrap="square" lIns="36576" rIns="36576" tIns="18288" bIns="18288" anchor="t">
            <a:spAutoFit/>
          </a:bodyPr>
          <a:lstStyle/>
          <a:p>
            <a:pPr algn="l">
              <a:defRPr sz="750" b="0" i="0">
                <a:solidFill>
                  <a:srgbClr val="475569"/>
                </a:solidFill>
              </a:defRPr>
            </a:pPr>
            <a:r>
              <a:t>raw_users lists</a:t>
            </a:r>
          </a:p>
        </p:txBody>
      </p:sp>
      <p:cxnSp>
        <p:nvCxnSpPr>
          <p:cNvPr id="58" name="Connector 57"/>
          <p:cNvCxnSpPr/>
          <p:nvPr/>
        </p:nvCxnSpPr>
        <p:spPr>
          <a:xfrm>
            <a:off x="3108960" y="1938528"/>
            <a:ext cx="128016" cy="0"/>
          </a:xfrm>
          <a:prstGeom prst="line">
            <a:avLst/>
          </a:prstGeom>
          <a:ln w="1778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998464" y="1938528"/>
            <a:ext cx="128015" cy="0"/>
          </a:xfrm>
          <a:prstGeom prst="line">
            <a:avLst/>
          </a:prstGeom>
          <a:ln w="1778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887968" y="1938528"/>
            <a:ext cx="128016" cy="0"/>
          </a:xfrm>
          <a:prstGeom prst="line">
            <a:avLst/>
          </a:prstGeom>
          <a:ln w="17780">
            <a:solidFill>
              <a:srgbClr val="475569"/>
            </a:solidFill>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347472" y="3072384"/>
            <a:ext cx="11494008" cy="219456"/>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081528"/>
            <a:ext cx="11247120" cy="201168"/>
          </a:xfrm>
          <a:prstGeom prst="rect">
            <a:avLst/>
          </a:prstGeom>
          <a:noFill/>
        </p:spPr>
        <p:txBody>
          <a:bodyPr wrap="square" lIns="36576" rIns="36576" tIns="18288" bIns="18288" anchor="t">
            <a:spAutoFit/>
          </a:bodyPr>
          <a:lstStyle/>
          <a:p>
            <a:pPr algn="l">
              <a:defRPr sz="850" b="1" i="0">
                <a:solidFill>
                  <a:srgbClr val="FFFFFF"/>
                </a:solidFill>
              </a:defRPr>
            </a:pPr>
            <a:r>
              <a:t>Prompt Templates per Intent</a:t>
            </a:r>
          </a:p>
        </p:txBody>
      </p:sp>
      <p:sp>
        <p:nvSpPr>
          <p:cNvPr id="63" name="Rounded Rectangle 62"/>
          <p:cNvSpPr/>
          <p:nvPr/>
        </p:nvSpPr>
        <p:spPr>
          <a:xfrm>
            <a:off x="347472" y="3346704"/>
            <a:ext cx="2761488" cy="1078992"/>
          </a:xfrm>
          <a:prstGeom prst="roundRect">
            <a:avLst>
              <a:gd name="adj" fmla="val 4000"/>
            </a:avLst>
          </a:prstGeom>
          <a:solidFill>
            <a:srgbClr val="DBEAFE"/>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8912" y="3383280"/>
            <a:ext cx="2596896" cy="219456"/>
          </a:xfrm>
          <a:prstGeom prst="rect">
            <a:avLst/>
          </a:prstGeom>
          <a:noFill/>
        </p:spPr>
        <p:txBody>
          <a:bodyPr wrap="square" lIns="36576" rIns="36576" tIns="18288" bIns="18288" anchor="t">
            <a:spAutoFit/>
          </a:bodyPr>
          <a:lstStyle/>
          <a:p>
            <a:pPr algn="l">
              <a:defRPr sz="850" b="1" i="0">
                <a:solidFill>
                  <a:srgbClr val="2563EB"/>
                </a:solidFill>
              </a:defRPr>
            </a:pPr>
            <a:r>
              <a:t>DOC_QA</a:t>
            </a:r>
          </a:p>
        </p:txBody>
      </p:sp>
      <p:sp>
        <p:nvSpPr>
          <p:cNvPr id="65" name="TextBox 64"/>
          <p:cNvSpPr txBox="1"/>
          <p:nvPr/>
        </p:nvSpPr>
        <p:spPr>
          <a:xfrm>
            <a:off x="438912" y="3621024"/>
            <a:ext cx="2596896" cy="749808"/>
          </a:xfrm>
          <a:prstGeom prst="rect">
            <a:avLst/>
          </a:prstGeom>
          <a:noFill/>
        </p:spPr>
        <p:txBody>
          <a:bodyPr wrap="square" lIns="36576" rIns="36576" tIns="18288" bIns="18288" anchor="t">
            <a:spAutoFit/>
          </a:bodyPr>
          <a:lstStyle/>
          <a:p>
            <a:pPr algn="l">
              <a:defRPr sz="700" b="0" i="0">
                <a:solidFill>
                  <a:srgbClr val="475569"/>
                </a:solidFill>
              </a:defRPr>
            </a:pPr>
            <a:r>
              <a:t>System: answer only from provided docs</a:t>
            </a:r>
            <a:br/>
            <a:r>
              <a:t>User: {retrieved_chunks}</a:t>
            </a:r>
            <a:br/>
            <a:r>
              <a:t>Question: {user_query}</a:t>
            </a:r>
          </a:p>
        </p:txBody>
      </p:sp>
      <p:sp>
        <p:nvSpPr>
          <p:cNvPr id="66" name="Rounded Rectangle 65"/>
          <p:cNvSpPr/>
          <p:nvPr/>
        </p:nvSpPr>
        <p:spPr>
          <a:xfrm>
            <a:off x="3236976" y="3346704"/>
            <a:ext cx="2761488" cy="1078992"/>
          </a:xfrm>
          <a:prstGeom prst="roundRect">
            <a:avLst>
              <a:gd name="adj" fmla="val 4000"/>
            </a:avLst>
          </a:prstGeom>
          <a:solidFill>
            <a:srgbClr val="DCFCE7"/>
          </a:solidFill>
          <a:ln w="101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28416" y="3383280"/>
            <a:ext cx="2596896" cy="219456"/>
          </a:xfrm>
          <a:prstGeom prst="rect">
            <a:avLst/>
          </a:prstGeom>
          <a:noFill/>
        </p:spPr>
        <p:txBody>
          <a:bodyPr wrap="square" lIns="36576" rIns="36576" tIns="18288" bIns="18288" anchor="t">
            <a:spAutoFit/>
          </a:bodyPr>
          <a:lstStyle/>
          <a:p>
            <a:pPr algn="l">
              <a:defRPr sz="850" b="1" i="0">
                <a:solidFill>
                  <a:srgbClr val="16A34A"/>
                </a:solidFill>
              </a:defRPr>
            </a:pPr>
            <a:r>
              <a:t>ARTIFACT_SEARCH</a:t>
            </a:r>
          </a:p>
        </p:txBody>
      </p:sp>
      <p:sp>
        <p:nvSpPr>
          <p:cNvPr id="68" name="TextBox 67"/>
          <p:cNvSpPr txBox="1"/>
          <p:nvPr/>
        </p:nvSpPr>
        <p:spPr>
          <a:xfrm>
            <a:off x="3328416" y="3621024"/>
            <a:ext cx="2596896" cy="749808"/>
          </a:xfrm>
          <a:prstGeom prst="rect">
            <a:avLst/>
          </a:prstGeom>
          <a:noFill/>
        </p:spPr>
        <p:txBody>
          <a:bodyPr wrap="square" lIns="36576" rIns="36576" tIns="18288" bIns="18288" anchor="t">
            <a:spAutoFit/>
          </a:bodyPr>
          <a:lstStyle/>
          <a:p>
            <a:pPr algn="l">
              <a:defRPr sz="700" b="0" i="0">
                <a:solidFill>
                  <a:srgbClr val="475569"/>
                </a:solidFill>
              </a:defRPr>
            </a:pPr>
            <a:r>
              <a:t>System: list matching artifacts with IDs</a:t>
            </a:r>
            <a:br/>
            <a:r>
              <a:t>User: {artifact_results}</a:t>
            </a:r>
            <a:br/>
            <a:r>
              <a:t>Query: {user_query}</a:t>
            </a:r>
          </a:p>
        </p:txBody>
      </p:sp>
      <p:sp>
        <p:nvSpPr>
          <p:cNvPr id="69" name="Rounded Rectangle 68"/>
          <p:cNvSpPr/>
          <p:nvPr/>
        </p:nvSpPr>
        <p:spPr>
          <a:xfrm>
            <a:off x="6126480" y="3346704"/>
            <a:ext cx="2761488" cy="1078992"/>
          </a:xfrm>
          <a:prstGeom prst="roundRect">
            <a:avLst>
              <a:gd name="adj" fmla="val 4000"/>
            </a:avLst>
          </a:prstGeom>
          <a:solidFill>
            <a:srgbClr val="FEF3C7"/>
          </a:solidFill>
          <a:ln w="10160">
            <a:solidFill>
              <a:srgbClr val="B46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17920" y="3383280"/>
            <a:ext cx="2596896" cy="219456"/>
          </a:xfrm>
          <a:prstGeom prst="rect">
            <a:avLst/>
          </a:prstGeom>
          <a:noFill/>
        </p:spPr>
        <p:txBody>
          <a:bodyPr wrap="square" lIns="36576" rIns="36576" tIns="18288" bIns="18288" anchor="t">
            <a:spAutoFit/>
          </a:bodyPr>
          <a:lstStyle/>
          <a:p>
            <a:pPr algn="l">
              <a:defRPr sz="850" b="1" i="0">
                <a:solidFill>
                  <a:srgbClr val="B46400"/>
                </a:solidFill>
              </a:defRPr>
            </a:pPr>
            <a:r>
              <a:t>USER_SEARCH</a:t>
            </a:r>
          </a:p>
        </p:txBody>
      </p:sp>
      <p:sp>
        <p:nvSpPr>
          <p:cNvPr id="71" name="TextBox 70"/>
          <p:cNvSpPr txBox="1"/>
          <p:nvPr/>
        </p:nvSpPr>
        <p:spPr>
          <a:xfrm>
            <a:off x="6217920" y="3621024"/>
            <a:ext cx="2596896" cy="749808"/>
          </a:xfrm>
          <a:prstGeom prst="rect">
            <a:avLst/>
          </a:prstGeom>
          <a:noFill/>
        </p:spPr>
        <p:txBody>
          <a:bodyPr wrap="square" lIns="36576" rIns="36576" tIns="18288" bIns="18288" anchor="t">
            <a:spAutoFit/>
          </a:bodyPr>
          <a:lstStyle/>
          <a:p>
            <a:pPr algn="l">
              <a:defRPr sz="700" b="0" i="0">
                <a:solidFill>
                  <a:srgbClr val="475569"/>
                </a:solidFill>
              </a:defRPr>
            </a:pPr>
            <a:r>
              <a:t>System: describe the most relevant person</a:t>
            </a:r>
            <a:br/>
            <a:r>
              <a:t>User: {user_results}</a:t>
            </a:r>
            <a:br/>
            <a:r>
              <a:t>Query: {user_query}</a:t>
            </a:r>
          </a:p>
        </p:txBody>
      </p:sp>
      <p:sp>
        <p:nvSpPr>
          <p:cNvPr id="72" name="Rounded Rectangle 71"/>
          <p:cNvSpPr/>
          <p:nvPr/>
        </p:nvSpPr>
        <p:spPr>
          <a:xfrm>
            <a:off x="9015984" y="3346704"/>
            <a:ext cx="2761488" cy="1078992"/>
          </a:xfrm>
          <a:prstGeom prst="roundRect">
            <a:avLst>
              <a:gd name="adj" fmla="val 4000"/>
            </a:avLst>
          </a:prstGeom>
          <a:solidFill>
            <a:srgbClr val="EDE9FE"/>
          </a:solidFill>
          <a:ln w="1016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07424" y="3383280"/>
            <a:ext cx="2596896" cy="219456"/>
          </a:xfrm>
          <a:prstGeom prst="rect">
            <a:avLst/>
          </a:prstGeom>
          <a:noFill/>
        </p:spPr>
        <p:txBody>
          <a:bodyPr wrap="square" lIns="36576" rIns="36576" tIns="18288" bIns="18288" anchor="t">
            <a:spAutoFit/>
          </a:bodyPr>
          <a:lstStyle/>
          <a:p>
            <a:pPr algn="l">
              <a:defRPr sz="850" b="1" i="0">
                <a:solidFill>
                  <a:srgbClr val="6D28D9"/>
                </a:solidFill>
              </a:defRPr>
            </a:pPr>
            <a:r>
              <a:t>HYBRID</a:t>
            </a:r>
          </a:p>
        </p:txBody>
      </p:sp>
      <p:sp>
        <p:nvSpPr>
          <p:cNvPr id="74" name="TextBox 73"/>
          <p:cNvSpPr txBox="1"/>
          <p:nvPr/>
        </p:nvSpPr>
        <p:spPr>
          <a:xfrm>
            <a:off x="9107424" y="3621024"/>
            <a:ext cx="2596896" cy="749808"/>
          </a:xfrm>
          <a:prstGeom prst="rect">
            <a:avLst/>
          </a:prstGeom>
          <a:noFill/>
        </p:spPr>
        <p:txBody>
          <a:bodyPr wrap="square" lIns="36576" rIns="36576" tIns="18288" bIns="18288" anchor="t">
            <a:spAutoFit/>
          </a:bodyPr>
          <a:lstStyle/>
          <a:p>
            <a:pPr algn="l">
              <a:defRPr sz="700" b="0" i="0">
                <a:solidFill>
                  <a:srgbClr val="475569"/>
                </a:solidFill>
              </a:defRPr>
            </a:pPr>
            <a:r>
              <a:t>System: combine docs + artifacts + people</a:t>
            </a:r>
            <a:br/>
            <a:r>
              <a:t>User: all 3 context blocks</a:t>
            </a:r>
            <a:br/>
            <a:r>
              <a:t>Query: {user_query}</a:t>
            </a:r>
          </a:p>
        </p:txBody>
      </p:sp>
      <p:sp>
        <p:nvSpPr>
          <p:cNvPr id="75" name="Rectangle 74"/>
          <p:cNvSpPr/>
          <p:nvPr/>
        </p:nvSpPr>
        <p:spPr>
          <a:xfrm>
            <a:off x="347472" y="4498848"/>
            <a:ext cx="11494008" cy="219456"/>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7200" y="4507992"/>
            <a:ext cx="11247120" cy="201168"/>
          </a:xfrm>
          <a:prstGeom prst="rect">
            <a:avLst/>
          </a:prstGeom>
          <a:noFill/>
        </p:spPr>
        <p:txBody>
          <a:bodyPr wrap="square" lIns="36576" rIns="36576" tIns="18288" bIns="18288" anchor="t">
            <a:spAutoFit/>
          </a:bodyPr>
          <a:lstStyle/>
          <a:p>
            <a:pPr algn="l">
              <a:defRPr sz="850" b="1" i="0">
                <a:solidFill>
                  <a:srgbClr val="FFFFFF"/>
                </a:solidFill>
              </a:defRPr>
            </a:pPr>
            <a:r>
              <a:t>Langfuse Trace Structure (per request)</a:t>
            </a:r>
          </a:p>
        </p:txBody>
      </p:sp>
      <p:sp>
        <p:nvSpPr>
          <p:cNvPr id="77" name="Rectangle 76"/>
          <p:cNvSpPr/>
          <p:nvPr/>
        </p:nvSpPr>
        <p:spPr>
          <a:xfrm>
            <a:off x="347472" y="4773168"/>
            <a:ext cx="11494008" cy="786384"/>
          </a:xfrm>
          <a:prstGeom prst="rect">
            <a:avLst/>
          </a:prstGeom>
          <a:solidFill>
            <a:srgbClr val="F8FAFC"/>
          </a:solidFill>
          <a:ln w="7620">
            <a:solidFill>
              <a:srgbClr val="94A3B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475488" y="4846320"/>
            <a:ext cx="2084831" cy="621792"/>
          </a:xfrm>
          <a:prstGeom prst="roundRect">
            <a:avLst>
              <a:gd name="adj" fmla="val 4000"/>
            </a:avLst>
          </a:prstGeom>
          <a:solidFill>
            <a:srgbClr val="DBEAFE"/>
          </a:solidFill>
          <a:ln w="76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48640" y="4882896"/>
            <a:ext cx="1938528" cy="219456"/>
          </a:xfrm>
          <a:prstGeom prst="rect">
            <a:avLst/>
          </a:prstGeom>
          <a:noFill/>
        </p:spPr>
        <p:txBody>
          <a:bodyPr wrap="square" lIns="36576" rIns="36576" tIns="18288" bIns="18288" anchor="t">
            <a:spAutoFit/>
          </a:bodyPr>
          <a:lstStyle/>
          <a:p>
            <a:pPr algn="l">
              <a:defRPr sz="800" b="1" i="0">
                <a:solidFill>
                  <a:srgbClr val="2563EB"/>
                </a:solidFill>
              </a:defRPr>
            </a:pPr>
            <a:r>
              <a:t>trace_id</a:t>
            </a:r>
          </a:p>
        </p:txBody>
      </p:sp>
      <p:sp>
        <p:nvSpPr>
          <p:cNvPr id="80" name="TextBox 79"/>
          <p:cNvSpPr txBox="1"/>
          <p:nvPr/>
        </p:nvSpPr>
        <p:spPr>
          <a:xfrm>
            <a:off x="548640" y="5084064"/>
            <a:ext cx="1938528" cy="329184"/>
          </a:xfrm>
          <a:prstGeom prst="rect">
            <a:avLst/>
          </a:prstGeom>
          <a:noFill/>
        </p:spPr>
        <p:txBody>
          <a:bodyPr wrap="square" lIns="36576" rIns="36576" tIns="18288" bIns="18288" anchor="t">
            <a:spAutoFit/>
          </a:bodyPr>
          <a:lstStyle/>
          <a:p>
            <a:pPr algn="l">
              <a:defRPr sz="650" b="0" i="0">
                <a:solidFill>
                  <a:srgbClr val="475569"/>
                </a:solidFill>
              </a:defRPr>
            </a:pPr>
            <a:r>
              <a:t>UUID — groups all spans</a:t>
            </a:r>
          </a:p>
        </p:txBody>
      </p:sp>
      <p:sp>
        <p:nvSpPr>
          <p:cNvPr id="81" name="Rounded Rectangle 80"/>
          <p:cNvSpPr/>
          <p:nvPr/>
        </p:nvSpPr>
        <p:spPr>
          <a:xfrm>
            <a:off x="2651760" y="4846320"/>
            <a:ext cx="2084831" cy="621792"/>
          </a:xfrm>
          <a:prstGeom prst="roundRect">
            <a:avLst>
              <a:gd name="adj" fmla="val 4000"/>
            </a:avLst>
          </a:prstGeom>
          <a:solidFill>
            <a:srgbClr val="EDE9FE"/>
          </a:solidFill>
          <a:ln w="762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724912" y="4882896"/>
            <a:ext cx="1938528" cy="219456"/>
          </a:xfrm>
          <a:prstGeom prst="rect">
            <a:avLst/>
          </a:prstGeom>
          <a:noFill/>
        </p:spPr>
        <p:txBody>
          <a:bodyPr wrap="square" lIns="36576" rIns="36576" tIns="18288" bIns="18288" anchor="t">
            <a:spAutoFit/>
          </a:bodyPr>
          <a:lstStyle/>
          <a:p>
            <a:pPr algn="l">
              <a:defRPr sz="800" b="1" i="0">
                <a:solidFill>
                  <a:srgbClr val="6D28D9"/>
                </a:solidFill>
              </a:defRPr>
            </a:pPr>
            <a:r>
              <a:t>[classify]</a:t>
            </a:r>
          </a:p>
        </p:txBody>
      </p:sp>
      <p:sp>
        <p:nvSpPr>
          <p:cNvPr id="83" name="TextBox 82"/>
          <p:cNvSpPr txBox="1"/>
          <p:nvPr/>
        </p:nvSpPr>
        <p:spPr>
          <a:xfrm>
            <a:off x="2724912" y="5084064"/>
            <a:ext cx="1938528" cy="329184"/>
          </a:xfrm>
          <a:prstGeom prst="rect">
            <a:avLst/>
          </a:prstGeom>
          <a:noFill/>
        </p:spPr>
        <p:txBody>
          <a:bodyPr wrap="square" lIns="36576" rIns="36576" tIns="18288" bIns="18288" anchor="t">
            <a:spAutoFit/>
          </a:bodyPr>
          <a:lstStyle/>
          <a:p>
            <a:pPr algn="l">
              <a:defRPr sz="650" b="0" i="0">
                <a:solidFill>
                  <a:srgbClr val="475569"/>
                </a:solidFill>
              </a:defRPr>
            </a:pPr>
            <a:r>
              <a:t>generation span · gpt-4o-mini · T=0</a:t>
            </a:r>
          </a:p>
        </p:txBody>
      </p:sp>
      <p:sp>
        <p:nvSpPr>
          <p:cNvPr id="84" name="Rounded Rectangle 83"/>
          <p:cNvSpPr/>
          <p:nvPr/>
        </p:nvSpPr>
        <p:spPr>
          <a:xfrm>
            <a:off x="4828032" y="4846320"/>
            <a:ext cx="2084831" cy="621792"/>
          </a:xfrm>
          <a:prstGeom prst="roundRect">
            <a:avLst>
              <a:gd name="adj" fmla="val 4000"/>
            </a:avLst>
          </a:prstGeom>
          <a:solidFill>
            <a:srgbClr val="CCFBF1"/>
          </a:solidFill>
          <a:ln w="762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901184" y="4882896"/>
            <a:ext cx="1938528" cy="219456"/>
          </a:xfrm>
          <a:prstGeom prst="rect">
            <a:avLst/>
          </a:prstGeom>
          <a:noFill/>
        </p:spPr>
        <p:txBody>
          <a:bodyPr wrap="square" lIns="36576" rIns="36576" tIns="18288" bIns="18288" anchor="t">
            <a:spAutoFit/>
          </a:bodyPr>
          <a:lstStyle/>
          <a:p>
            <a:pPr algn="l">
              <a:defRPr sz="800" b="1" i="0">
                <a:solidFill>
                  <a:srgbClr val="0D9488"/>
                </a:solidFill>
              </a:defRPr>
            </a:pPr>
            <a:r>
              <a:t>[rewrite]</a:t>
            </a:r>
          </a:p>
        </p:txBody>
      </p:sp>
      <p:sp>
        <p:nvSpPr>
          <p:cNvPr id="86" name="TextBox 85"/>
          <p:cNvSpPr txBox="1"/>
          <p:nvPr/>
        </p:nvSpPr>
        <p:spPr>
          <a:xfrm>
            <a:off x="4901184" y="5084064"/>
            <a:ext cx="1938528" cy="329184"/>
          </a:xfrm>
          <a:prstGeom prst="rect">
            <a:avLst/>
          </a:prstGeom>
          <a:noFill/>
        </p:spPr>
        <p:txBody>
          <a:bodyPr wrap="square" lIns="36576" rIns="36576" tIns="18288" bIns="18288" anchor="t">
            <a:spAutoFit/>
          </a:bodyPr>
          <a:lstStyle/>
          <a:p>
            <a:pPr algn="l">
              <a:defRPr sz="650" b="0" i="0">
                <a:solidFill>
                  <a:srgbClr val="475569"/>
                </a:solidFill>
              </a:defRPr>
            </a:pPr>
            <a:r>
              <a:t>generation span · gpt-4o-mini · T=0</a:t>
            </a:r>
          </a:p>
        </p:txBody>
      </p:sp>
      <p:sp>
        <p:nvSpPr>
          <p:cNvPr id="87" name="Rounded Rectangle 86"/>
          <p:cNvSpPr/>
          <p:nvPr/>
        </p:nvSpPr>
        <p:spPr>
          <a:xfrm>
            <a:off x="7004304" y="4846320"/>
            <a:ext cx="2084831" cy="621792"/>
          </a:xfrm>
          <a:prstGeom prst="roundRect">
            <a:avLst>
              <a:gd name="adj" fmla="val 4000"/>
            </a:avLst>
          </a:prstGeom>
          <a:solidFill>
            <a:srgbClr val="DCFCE7"/>
          </a:solidFill>
          <a:ln w="76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077456" y="4882896"/>
            <a:ext cx="1938528" cy="219456"/>
          </a:xfrm>
          <a:prstGeom prst="rect">
            <a:avLst/>
          </a:prstGeom>
          <a:noFill/>
        </p:spPr>
        <p:txBody>
          <a:bodyPr wrap="square" lIns="36576" rIns="36576" tIns="18288" bIns="18288" anchor="t">
            <a:spAutoFit/>
          </a:bodyPr>
          <a:lstStyle/>
          <a:p>
            <a:pPr algn="l">
              <a:defRPr sz="800" b="1" i="0">
                <a:solidFill>
                  <a:srgbClr val="16A34A"/>
                </a:solidFill>
              </a:defRPr>
            </a:pPr>
            <a:r>
              <a:t>[generate]</a:t>
            </a:r>
          </a:p>
        </p:txBody>
      </p:sp>
      <p:sp>
        <p:nvSpPr>
          <p:cNvPr id="89" name="TextBox 88"/>
          <p:cNvSpPr txBox="1"/>
          <p:nvPr/>
        </p:nvSpPr>
        <p:spPr>
          <a:xfrm>
            <a:off x="7077456" y="5084064"/>
            <a:ext cx="1938528" cy="329184"/>
          </a:xfrm>
          <a:prstGeom prst="rect">
            <a:avLst/>
          </a:prstGeom>
          <a:noFill/>
        </p:spPr>
        <p:txBody>
          <a:bodyPr wrap="square" lIns="36576" rIns="36576" tIns="18288" bIns="18288" anchor="t">
            <a:spAutoFit/>
          </a:bodyPr>
          <a:lstStyle/>
          <a:p>
            <a:pPr algn="l">
              <a:defRPr sz="650" b="0" i="0">
                <a:solidFill>
                  <a:srgbClr val="475569"/>
                </a:solidFill>
              </a:defRPr>
            </a:pPr>
            <a:r>
              <a:t>generation span · T=0.2 · max 600 tok</a:t>
            </a:r>
          </a:p>
        </p:txBody>
      </p:sp>
      <p:sp>
        <p:nvSpPr>
          <p:cNvPr id="90" name="Rounded Rectangle 89"/>
          <p:cNvSpPr/>
          <p:nvPr/>
        </p:nvSpPr>
        <p:spPr>
          <a:xfrm>
            <a:off x="9180576" y="4846320"/>
            <a:ext cx="2084831" cy="621792"/>
          </a:xfrm>
          <a:prstGeom prst="roundRect">
            <a:avLst>
              <a:gd name="adj" fmla="val 4000"/>
            </a:avLst>
          </a:prstGeom>
          <a:solidFill>
            <a:srgbClr val="FEF3C7"/>
          </a:solidFill>
          <a:ln w="7620">
            <a:solidFill>
              <a:srgbClr val="B46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253728" y="4882896"/>
            <a:ext cx="1938528" cy="219456"/>
          </a:xfrm>
          <a:prstGeom prst="rect">
            <a:avLst/>
          </a:prstGeom>
          <a:noFill/>
        </p:spPr>
        <p:txBody>
          <a:bodyPr wrap="square" lIns="36576" rIns="36576" tIns="18288" bIns="18288" anchor="t">
            <a:spAutoFit/>
          </a:bodyPr>
          <a:lstStyle/>
          <a:p>
            <a:pPr algn="l">
              <a:defRPr sz="800" b="1" i="0">
                <a:solidFill>
                  <a:srgbClr val="B46400"/>
                </a:solidFill>
              </a:defRPr>
            </a:pPr>
            <a:r>
              <a:t>trace metadata</a:t>
            </a:r>
          </a:p>
        </p:txBody>
      </p:sp>
      <p:sp>
        <p:nvSpPr>
          <p:cNvPr id="92" name="TextBox 91"/>
          <p:cNvSpPr txBox="1"/>
          <p:nvPr/>
        </p:nvSpPr>
        <p:spPr>
          <a:xfrm>
            <a:off x="9253728" y="5084064"/>
            <a:ext cx="1938528" cy="329184"/>
          </a:xfrm>
          <a:prstGeom prst="rect">
            <a:avLst/>
          </a:prstGeom>
          <a:noFill/>
        </p:spPr>
        <p:txBody>
          <a:bodyPr wrap="square" lIns="36576" rIns="36576" tIns="18288" bIns="18288" anchor="t">
            <a:spAutoFit/>
          </a:bodyPr>
          <a:lstStyle/>
          <a:p>
            <a:pPr algn="l">
              <a:defRPr sz="650" b="0" i="0">
                <a:solidFill>
                  <a:srgbClr val="475569"/>
                </a:solidFill>
              </a:defRPr>
            </a:pPr>
            <a:r>
              <a:t>intent · confidence · source_count · hits</a:t>
            </a:r>
          </a:p>
        </p:txBody>
      </p:sp>
      <p:sp>
        <p:nvSpPr>
          <p:cNvPr id="93" name="Rectangle 92"/>
          <p:cNvSpPr/>
          <p:nvPr/>
        </p:nvSpPr>
        <p:spPr>
          <a:xfrm>
            <a:off x="347472" y="5632704"/>
            <a:ext cx="11494008" cy="274320"/>
          </a:xfrm>
          <a:prstGeom prst="rect">
            <a:avLst/>
          </a:prstGeom>
          <a:solidFill>
            <a:srgbClr val="F8FAFC"/>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20624" y="5650992"/>
            <a:ext cx="11338560" cy="256032"/>
          </a:xfrm>
          <a:prstGeom prst="rect">
            <a:avLst/>
          </a:prstGeom>
          <a:noFill/>
        </p:spPr>
        <p:txBody>
          <a:bodyPr wrap="square" lIns="36576" rIns="36576" tIns="18288" bIns="18288" anchor="t">
            <a:spAutoFit/>
          </a:bodyPr>
          <a:lstStyle/>
          <a:p>
            <a:pPr algn="l">
              <a:defRPr sz="700" b="0" i="0">
                <a:solidFill>
                  <a:srgbClr val="64748B"/>
                </a:solidFill>
              </a:defRPr>
            </a:pPr>
            <a:r>
              <a:t>LiteLLM proxy logs all token usage, cost, latency, prompt and response to Langfuse automatically via callback. No explicit Langfuse SDK calls in the engine. Session history injected between system prompt and final user message.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274320"/>
          </a:xfrm>
          <a:prstGeom prst="rect">
            <a:avLst/>
          </a:prstGeom>
          <a:solidFill>
            <a:srgbClr val="111827"/>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3047238" cy="54864"/>
          </a:xfrm>
          <a:prstGeom prst="rect">
            <a:avLst/>
          </a:prstGeom>
          <a:solidFill>
            <a:srgbClr val="2563EB"/>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238" y="274320"/>
            <a:ext cx="3047238" cy="54864"/>
          </a:xfrm>
          <a:prstGeom prst="rect">
            <a:avLst/>
          </a:prstGeom>
          <a:solidFill>
            <a:srgbClr val="16A34A"/>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4476" y="274320"/>
            <a:ext cx="3047238" cy="54864"/>
          </a:xfrm>
          <a:prstGeom prst="rect">
            <a:avLst/>
          </a:prstGeom>
          <a:solidFill>
            <a:srgbClr val="B46400"/>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1714" y="274320"/>
            <a:ext cx="3047238" cy="54864"/>
          </a:xfrm>
          <a:prstGeom prst="rect">
            <a:avLst/>
          </a:prstGeom>
          <a:solidFill>
            <a:srgbClr val="BE185D"/>
          </a:solidFill>
          <a:ln w="1016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28816"/>
            <a:ext cx="11430000" cy="219456"/>
          </a:xfrm>
          <a:prstGeom prst="rect">
            <a:avLst/>
          </a:prstGeom>
          <a:noFill/>
        </p:spPr>
        <p:txBody>
          <a:bodyPr wrap="square" lIns="36576" rIns="36576" tIns="18288" bIns="18288" anchor="t">
            <a:spAutoFit/>
          </a:bodyPr>
          <a:lstStyle/>
          <a:p>
            <a:pPr algn="r">
              <a:defRPr sz="800" b="0" i="0">
                <a:solidFill>
                  <a:srgbClr val="64748B"/>
                </a:solidFill>
              </a:defRPr>
            </a:pPr>
            <a:r>
              <a:t>Kubeflow Workspace Intelligence LLMOps</a:t>
            </a:r>
          </a:p>
        </p:txBody>
      </p:sp>
      <p:sp>
        <p:nvSpPr>
          <p:cNvPr id="8" name="Rectangle 7"/>
          <p:cNvSpPr/>
          <p:nvPr/>
        </p:nvSpPr>
        <p:spPr>
          <a:xfrm>
            <a:off x="347472" y="384048"/>
            <a:ext cx="11494008" cy="420624"/>
          </a:xfrm>
          <a:prstGeom prst="rect">
            <a:avLst/>
          </a:prstGeom>
          <a:solidFill>
            <a:srgbClr val="FEF3C7"/>
          </a:solidFill>
          <a:ln>
            <a:solidFill>
              <a:srgbClr val="B46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11480"/>
            <a:ext cx="11247120" cy="365760"/>
          </a:xfrm>
          <a:prstGeom prst="rect">
            <a:avLst/>
          </a:prstGeom>
          <a:noFill/>
        </p:spPr>
        <p:txBody>
          <a:bodyPr wrap="square" lIns="36576" rIns="36576" tIns="18288" bIns="18288" anchor="t">
            <a:spAutoFit/>
          </a:bodyPr>
          <a:lstStyle/>
          <a:p>
            <a:pPr algn="l">
              <a:defRPr sz="1250" b="1" i="0">
                <a:solidFill>
                  <a:srgbClr val="111827"/>
                </a:solidFill>
              </a:defRPr>
            </a:pPr>
            <a:r>
              <a:t>Evaluation Process — Layer 1 Heuristics · Layer 2 RAGAS · LLM Judge · User Feedback</a:t>
            </a:r>
          </a:p>
        </p:txBody>
      </p:sp>
      <p:sp>
        <p:nvSpPr>
          <p:cNvPr id="10" name="Rectangle 9"/>
          <p:cNvSpPr/>
          <p:nvPr/>
        </p:nvSpPr>
        <p:spPr>
          <a:xfrm>
            <a:off x="347472" y="886968"/>
            <a:ext cx="3236976" cy="36576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905256"/>
            <a:ext cx="3017520" cy="201168"/>
          </a:xfrm>
          <a:prstGeom prst="rect">
            <a:avLst/>
          </a:prstGeom>
          <a:noFill/>
        </p:spPr>
        <p:txBody>
          <a:bodyPr wrap="square" lIns="36576" rIns="36576" tIns="18288" bIns="18288" anchor="t">
            <a:spAutoFit/>
          </a:bodyPr>
          <a:lstStyle/>
          <a:p>
            <a:pPr algn="l">
              <a:defRPr sz="950" b="1" i="0">
                <a:solidFill>
                  <a:srgbClr val="FFFFFF"/>
                </a:solidFill>
              </a:defRPr>
            </a:pPr>
            <a:r>
              <a:t>Layer 1 — Heuristic Scores</a:t>
            </a:r>
          </a:p>
        </p:txBody>
      </p:sp>
      <p:sp>
        <p:nvSpPr>
          <p:cNvPr id="12" name="TextBox 11"/>
          <p:cNvSpPr txBox="1"/>
          <p:nvPr/>
        </p:nvSpPr>
        <p:spPr>
          <a:xfrm>
            <a:off x="457200" y="1078992"/>
            <a:ext cx="3017520" cy="164592"/>
          </a:xfrm>
          <a:prstGeom prst="rect">
            <a:avLst/>
          </a:prstGeom>
          <a:noFill/>
        </p:spPr>
        <p:txBody>
          <a:bodyPr wrap="square" lIns="36576" rIns="36576" tIns="18288" bIns="18288" anchor="t">
            <a:spAutoFit/>
          </a:bodyPr>
          <a:lstStyle/>
          <a:p>
            <a:pPr algn="l">
              <a:defRPr sz="700" b="0" i="0">
                <a:solidFill>
                  <a:srgbClr val="C8DCFF"/>
                </a:solidFill>
              </a:defRPr>
            </a:pPr>
            <a:r>
              <a:t>Inline · ~0 ms · always synchronous</a:t>
            </a:r>
          </a:p>
        </p:txBody>
      </p:sp>
      <p:sp>
        <p:nvSpPr>
          <p:cNvPr id="13" name="Rectangle 12"/>
          <p:cNvSpPr/>
          <p:nvPr/>
        </p:nvSpPr>
        <p:spPr>
          <a:xfrm>
            <a:off x="6327648" y="886968"/>
            <a:ext cx="5513832" cy="365760"/>
          </a:xfrm>
          <a:prstGeom prst="rect">
            <a:avLst/>
          </a:prstGeom>
          <a:solidFill>
            <a:srgbClr val="6D28D9"/>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905256"/>
            <a:ext cx="5294376" cy="201168"/>
          </a:xfrm>
          <a:prstGeom prst="rect">
            <a:avLst/>
          </a:prstGeom>
          <a:noFill/>
        </p:spPr>
        <p:txBody>
          <a:bodyPr wrap="square" lIns="36576" rIns="36576" tIns="18288" bIns="18288" anchor="t">
            <a:spAutoFit/>
          </a:bodyPr>
          <a:lstStyle/>
          <a:p>
            <a:pPr algn="l">
              <a:defRPr sz="950" b="1" i="0">
                <a:solidFill>
                  <a:srgbClr val="FFFFFF"/>
                </a:solidFill>
              </a:defRPr>
            </a:pPr>
            <a:r>
              <a:t>Layer 2 — RAGAS + LLM Judge</a:t>
            </a:r>
          </a:p>
        </p:txBody>
      </p:sp>
      <p:sp>
        <p:nvSpPr>
          <p:cNvPr id="15" name="TextBox 14"/>
          <p:cNvSpPr txBox="1"/>
          <p:nvPr/>
        </p:nvSpPr>
        <p:spPr>
          <a:xfrm>
            <a:off x="6437376" y="1078992"/>
            <a:ext cx="5294376" cy="164592"/>
          </a:xfrm>
          <a:prstGeom prst="rect">
            <a:avLst/>
          </a:prstGeom>
          <a:noFill/>
        </p:spPr>
        <p:txBody>
          <a:bodyPr wrap="square" lIns="36576" rIns="36576" tIns="18288" bIns="18288" anchor="t">
            <a:spAutoFit/>
          </a:bodyPr>
          <a:lstStyle/>
          <a:p>
            <a:pPr algn="l">
              <a:defRPr sz="700" b="0" i="0">
                <a:solidFill>
                  <a:srgbClr val="C8DCFF"/>
                </a:solidFill>
              </a:defRPr>
            </a:pPr>
            <a:r>
              <a:t>Background thread · 10–30 s delay</a:t>
            </a:r>
          </a:p>
        </p:txBody>
      </p:sp>
      <p:sp>
        <p:nvSpPr>
          <p:cNvPr id="16" name="Rectangle 15"/>
          <p:cNvSpPr/>
          <p:nvPr/>
        </p:nvSpPr>
        <p:spPr>
          <a:xfrm>
            <a:off x="9217152" y="886968"/>
            <a:ext cx="2615184" cy="365760"/>
          </a:xfrm>
          <a:prstGeom prst="rect">
            <a:avLst/>
          </a:prstGeom>
          <a:solidFill>
            <a:srgbClr val="BE185D"/>
          </a:solidFill>
          <a:ln>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905256"/>
            <a:ext cx="2395728" cy="201168"/>
          </a:xfrm>
          <a:prstGeom prst="rect">
            <a:avLst/>
          </a:prstGeom>
          <a:noFill/>
        </p:spPr>
        <p:txBody>
          <a:bodyPr wrap="square" lIns="36576" rIns="36576" tIns="18288" bIns="18288" anchor="t">
            <a:spAutoFit/>
          </a:bodyPr>
          <a:lstStyle/>
          <a:p>
            <a:pPr algn="l">
              <a:defRPr sz="950" b="1" i="0">
                <a:solidFill>
                  <a:srgbClr val="FFFFFF"/>
                </a:solidFill>
              </a:defRPr>
            </a:pPr>
            <a:r>
              <a:t>User Feedback</a:t>
            </a:r>
          </a:p>
        </p:txBody>
      </p:sp>
      <p:sp>
        <p:nvSpPr>
          <p:cNvPr id="18" name="TextBox 17"/>
          <p:cNvSpPr txBox="1"/>
          <p:nvPr/>
        </p:nvSpPr>
        <p:spPr>
          <a:xfrm>
            <a:off x="9326880" y="1078992"/>
            <a:ext cx="2395728" cy="164592"/>
          </a:xfrm>
          <a:prstGeom prst="rect">
            <a:avLst/>
          </a:prstGeom>
          <a:noFill/>
        </p:spPr>
        <p:txBody>
          <a:bodyPr wrap="square" lIns="36576" rIns="36576" tIns="18288" bIns="18288" anchor="t">
            <a:spAutoFit/>
          </a:bodyPr>
          <a:lstStyle/>
          <a:p>
            <a:pPr algn="l">
              <a:defRPr sz="700" b="0" i="0">
                <a:solidFill>
                  <a:srgbClr val="C8DCFF"/>
                </a:solidFill>
              </a:defRPr>
            </a:pPr>
            <a:r>
              <a:t>User-initiated via frontend</a:t>
            </a:r>
          </a:p>
        </p:txBody>
      </p:sp>
      <p:sp>
        <p:nvSpPr>
          <p:cNvPr id="19" name="Rounded Rectangle 18"/>
          <p:cNvSpPr/>
          <p:nvPr/>
        </p:nvSpPr>
        <p:spPr>
          <a:xfrm>
            <a:off x="347472" y="1335024"/>
            <a:ext cx="2249424" cy="950976"/>
          </a:xfrm>
          <a:prstGeom prst="roundRect">
            <a:avLst>
              <a:gd name="adj" fmla="val 4000"/>
            </a:avLst>
          </a:prstGeom>
          <a:solidFill>
            <a:srgbClr val="DBEAFE"/>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1389888"/>
            <a:ext cx="2084831" cy="219456"/>
          </a:xfrm>
          <a:prstGeom prst="rect">
            <a:avLst/>
          </a:prstGeom>
          <a:noFill/>
        </p:spPr>
        <p:txBody>
          <a:bodyPr wrap="square" lIns="36576" rIns="36576" tIns="18288" bIns="18288" anchor="t">
            <a:spAutoFit/>
          </a:bodyPr>
          <a:lstStyle/>
          <a:p>
            <a:pPr algn="l">
              <a:defRPr sz="850" b="1" i="0">
                <a:solidFill>
                  <a:srgbClr val="2563EB"/>
                </a:solidFill>
              </a:defRPr>
            </a:pPr>
            <a:r>
              <a:t>response_length</a:t>
            </a:r>
          </a:p>
        </p:txBody>
      </p:sp>
      <p:sp>
        <p:nvSpPr>
          <p:cNvPr id="21" name="TextBox 20"/>
          <p:cNvSpPr txBox="1"/>
          <p:nvPr/>
        </p:nvSpPr>
        <p:spPr>
          <a:xfrm>
            <a:off x="438912" y="1609344"/>
            <a:ext cx="2084831" cy="182880"/>
          </a:xfrm>
          <a:prstGeom prst="rect">
            <a:avLst/>
          </a:prstGeom>
          <a:noFill/>
        </p:spPr>
        <p:txBody>
          <a:bodyPr wrap="square" lIns="36576" rIns="36576" tIns="18288" bIns="18288" anchor="t">
            <a:spAutoFit/>
          </a:bodyPr>
          <a:lstStyle/>
          <a:p>
            <a:pPr algn="l">
              <a:defRPr sz="750" b="0" i="0">
                <a:solidFill>
                  <a:srgbClr val="111827"/>
                </a:solidFill>
              </a:defRPr>
            </a:pPr>
            <a:r>
              <a:t>Normalised answer length</a:t>
            </a:r>
          </a:p>
        </p:txBody>
      </p:sp>
      <p:sp>
        <p:nvSpPr>
          <p:cNvPr id="22" name="TextBox 21"/>
          <p:cNvSpPr txBox="1"/>
          <p:nvPr/>
        </p:nvSpPr>
        <p:spPr>
          <a:xfrm>
            <a:off x="438912" y="1792224"/>
            <a:ext cx="2084831" cy="438912"/>
          </a:xfrm>
          <a:prstGeom prst="rect">
            <a:avLst/>
          </a:prstGeom>
          <a:noFill/>
        </p:spPr>
        <p:txBody>
          <a:bodyPr wrap="square" lIns="36576" rIns="36576" tIns="18288" bIns="18288" anchor="t">
            <a:spAutoFit/>
          </a:bodyPr>
          <a:lstStyle/>
          <a:p>
            <a:pPr algn="l">
              <a:defRPr sz="700" b="0" i="0">
                <a:solidFill>
                  <a:srgbClr val="64748B"/>
                </a:solidFill>
              </a:defRPr>
            </a:pPr>
            <a:r>
              <a:t>&lt; 50 chars → 0.5   |   50–300 → ramp to 1.0</a:t>
            </a:r>
            <a:br/>
            <a:r>
              <a:t>300–2000 chars → 1.0   |   &gt; 2000 → penalised</a:t>
            </a:r>
          </a:p>
        </p:txBody>
      </p:sp>
      <p:sp>
        <p:nvSpPr>
          <p:cNvPr id="23" name="Rounded Rectangle 22"/>
          <p:cNvSpPr/>
          <p:nvPr/>
        </p:nvSpPr>
        <p:spPr>
          <a:xfrm>
            <a:off x="2743200" y="1335024"/>
            <a:ext cx="2249424" cy="950976"/>
          </a:xfrm>
          <a:prstGeom prst="roundRect">
            <a:avLst>
              <a:gd name="adj" fmla="val 4000"/>
            </a:avLst>
          </a:prstGeom>
          <a:solidFill>
            <a:srgbClr val="DCFCE7"/>
          </a:solidFill>
          <a:ln w="101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34640" y="1389888"/>
            <a:ext cx="2084831" cy="219456"/>
          </a:xfrm>
          <a:prstGeom prst="rect">
            <a:avLst/>
          </a:prstGeom>
          <a:noFill/>
        </p:spPr>
        <p:txBody>
          <a:bodyPr wrap="square" lIns="36576" rIns="36576" tIns="18288" bIns="18288" anchor="t">
            <a:spAutoFit/>
          </a:bodyPr>
          <a:lstStyle/>
          <a:p>
            <a:pPr algn="l">
              <a:defRPr sz="850" b="1" i="0">
                <a:solidFill>
                  <a:srgbClr val="16A34A"/>
                </a:solidFill>
              </a:defRPr>
            </a:pPr>
            <a:r>
              <a:t>has_content</a:t>
            </a:r>
          </a:p>
        </p:txBody>
      </p:sp>
      <p:sp>
        <p:nvSpPr>
          <p:cNvPr id="25" name="TextBox 24"/>
          <p:cNvSpPr txBox="1"/>
          <p:nvPr/>
        </p:nvSpPr>
        <p:spPr>
          <a:xfrm>
            <a:off x="2834640" y="1609344"/>
            <a:ext cx="2084831" cy="182880"/>
          </a:xfrm>
          <a:prstGeom prst="rect">
            <a:avLst/>
          </a:prstGeom>
          <a:noFill/>
        </p:spPr>
        <p:txBody>
          <a:bodyPr wrap="square" lIns="36576" rIns="36576" tIns="18288" bIns="18288" anchor="t">
            <a:spAutoFit/>
          </a:bodyPr>
          <a:lstStyle/>
          <a:p>
            <a:pPr algn="l">
              <a:defRPr sz="750" b="0" i="0">
                <a:solidFill>
                  <a:srgbClr val="111827"/>
                </a:solidFill>
              </a:defRPr>
            </a:pPr>
            <a:r>
              <a:t>Substantive answer check</a:t>
            </a:r>
          </a:p>
        </p:txBody>
      </p:sp>
      <p:sp>
        <p:nvSpPr>
          <p:cNvPr id="26" name="TextBox 25"/>
          <p:cNvSpPr txBox="1"/>
          <p:nvPr/>
        </p:nvSpPr>
        <p:spPr>
          <a:xfrm>
            <a:off x="2834640" y="1792224"/>
            <a:ext cx="2084831" cy="438912"/>
          </a:xfrm>
          <a:prstGeom prst="rect">
            <a:avLst/>
          </a:prstGeom>
          <a:noFill/>
        </p:spPr>
        <p:txBody>
          <a:bodyPr wrap="square" lIns="36576" rIns="36576" tIns="18288" bIns="18288" anchor="t">
            <a:spAutoFit/>
          </a:bodyPr>
          <a:lstStyle/>
          <a:p>
            <a:pPr algn="l">
              <a:defRPr sz="700" b="0" i="0">
                <a:solidFill>
                  <a:srgbClr val="64748B"/>
                </a:solidFill>
              </a:defRPr>
            </a:pPr>
            <a:r>
              <a:t>1.0 = no fallback phrase detected</a:t>
            </a:r>
            <a:br/>
            <a:r>
              <a:t>0.0 = 'couldn't find' or 'please try again'</a:t>
            </a:r>
          </a:p>
        </p:txBody>
      </p:sp>
      <p:sp>
        <p:nvSpPr>
          <p:cNvPr id="27" name="Rounded Rectangle 26"/>
          <p:cNvSpPr/>
          <p:nvPr/>
        </p:nvSpPr>
        <p:spPr>
          <a:xfrm>
            <a:off x="347472" y="2377440"/>
            <a:ext cx="2249424" cy="950976"/>
          </a:xfrm>
          <a:prstGeom prst="roundRect">
            <a:avLst>
              <a:gd name="adj" fmla="val 4000"/>
            </a:avLst>
          </a:prstGeom>
          <a:solidFill>
            <a:srgbClr val="EDE9FE"/>
          </a:solidFill>
          <a:ln w="1016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2432304"/>
            <a:ext cx="2084831" cy="219456"/>
          </a:xfrm>
          <a:prstGeom prst="rect">
            <a:avLst/>
          </a:prstGeom>
          <a:noFill/>
        </p:spPr>
        <p:txBody>
          <a:bodyPr wrap="square" lIns="36576" rIns="36576" tIns="18288" bIns="18288" anchor="t">
            <a:spAutoFit/>
          </a:bodyPr>
          <a:lstStyle/>
          <a:p>
            <a:pPr algn="l">
              <a:defRPr sz="850" b="1" i="0">
                <a:solidFill>
                  <a:srgbClr val="6D28D9"/>
                </a:solidFill>
              </a:defRPr>
            </a:pPr>
            <a:r>
              <a:t>intent_confidence</a:t>
            </a:r>
          </a:p>
        </p:txBody>
      </p:sp>
      <p:sp>
        <p:nvSpPr>
          <p:cNvPr id="29" name="TextBox 28"/>
          <p:cNvSpPr txBox="1"/>
          <p:nvPr/>
        </p:nvSpPr>
        <p:spPr>
          <a:xfrm>
            <a:off x="438912" y="2651760"/>
            <a:ext cx="2084831" cy="182880"/>
          </a:xfrm>
          <a:prstGeom prst="rect">
            <a:avLst/>
          </a:prstGeom>
          <a:noFill/>
        </p:spPr>
        <p:txBody>
          <a:bodyPr wrap="square" lIns="36576" rIns="36576" tIns="18288" bIns="18288" anchor="t">
            <a:spAutoFit/>
          </a:bodyPr>
          <a:lstStyle/>
          <a:p>
            <a:pPr algn="l">
              <a:defRPr sz="750" b="0" i="0">
                <a:solidFill>
                  <a:srgbClr val="111827"/>
                </a:solidFill>
              </a:defRPr>
            </a:pPr>
            <a:r>
              <a:t>Classifier certainty</a:t>
            </a:r>
          </a:p>
        </p:txBody>
      </p:sp>
      <p:sp>
        <p:nvSpPr>
          <p:cNvPr id="30" name="TextBox 29"/>
          <p:cNvSpPr txBox="1"/>
          <p:nvPr/>
        </p:nvSpPr>
        <p:spPr>
          <a:xfrm>
            <a:off x="438912" y="2834640"/>
            <a:ext cx="2084831" cy="438912"/>
          </a:xfrm>
          <a:prstGeom prst="rect">
            <a:avLst/>
          </a:prstGeom>
          <a:noFill/>
        </p:spPr>
        <p:txBody>
          <a:bodyPr wrap="square" lIns="36576" rIns="36576" tIns="18288" bIns="18288" anchor="t">
            <a:spAutoFit/>
          </a:bodyPr>
          <a:lstStyle/>
          <a:p>
            <a:pPr algn="l">
              <a:defRPr sz="700" b="0" i="0">
                <a:solidFill>
                  <a:srgbClr val="64748B"/>
                </a:solidFill>
              </a:defRPr>
            </a:pPr>
            <a:r>
              <a:t>Direct passthrough from classifier output</a:t>
            </a:r>
            <a:br/>
            <a:r>
              <a:t>Low value = boundary / ambiguous query</a:t>
            </a:r>
          </a:p>
        </p:txBody>
      </p:sp>
      <p:sp>
        <p:nvSpPr>
          <p:cNvPr id="31" name="Rounded Rectangle 30"/>
          <p:cNvSpPr/>
          <p:nvPr/>
        </p:nvSpPr>
        <p:spPr>
          <a:xfrm>
            <a:off x="2743200" y="2377440"/>
            <a:ext cx="2249424" cy="950976"/>
          </a:xfrm>
          <a:prstGeom prst="roundRect">
            <a:avLst>
              <a:gd name="adj" fmla="val 4000"/>
            </a:avLst>
          </a:prstGeom>
          <a:solidFill>
            <a:srgbClr val="FEF3C7"/>
          </a:solidFill>
          <a:ln w="10160">
            <a:solidFill>
              <a:srgbClr val="B46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34640" y="2432304"/>
            <a:ext cx="2084831" cy="219456"/>
          </a:xfrm>
          <a:prstGeom prst="rect">
            <a:avLst/>
          </a:prstGeom>
          <a:noFill/>
        </p:spPr>
        <p:txBody>
          <a:bodyPr wrap="square" lIns="36576" rIns="36576" tIns="18288" bIns="18288" anchor="t">
            <a:spAutoFit/>
          </a:bodyPr>
          <a:lstStyle/>
          <a:p>
            <a:pPr algn="l">
              <a:defRPr sz="850" b="1" i="0">
                <a:solidFill>
                  <a:srgbClr val="B46400"/>
                </a:solidFill>
              </a:defRPr>
            </a:pPr>
            <a:r>
              <a:t>source_count</a:t>
            </a:r>
          </a:p>
        </p:txBody>
      </p:sp>
      <p:sp>
        <p:nvSpPr>
          <p:cNvPr id="33" name="TextBox 32"/>
          <p:cNvSpPr txBox="1"/>
          <p:nvPr/>
        </p:nvSpPr>
        <p:spPr>
          <a:xfrm>
            <a:off x="2834640" y="2651760"/>
            <a:ext cx="2084831" cy="182880"/>
          </a:xfrm>
          <a:prstGeom prst="rect">
            <a:avLst/>
          </a:prstGeom>
          <a:noFill/>
        </p:spPr>
        <p:txBody>
          <a:bodyPr wrap="square" lIns="36576" rIns="36576" tIns="18288" bIns="18288" anchor="t">
            <a:spAutoFit/>
          </a:bodyPr>
          <a:lstStyle/>
          <a:p>
            <a:pPr algn="l">
              <a:defRPr sz="750" b="0" i="0">
                <a:solidFill>
                  <a:srgbClr val="111827"/>
                </a:solidFill>
              </a:defRPr>
            </a:pPr>
            <a:r>
              <a:t>Retrieval coverage</a:t>
            </a:r>
          </a:p>
        </p:txBody>
      </p:sp>
      <p:sp>
        <p:nvSpPr>
          <p:cNvPr id="34" name="TextBox 33"/>
          <p:cNvSpPr txBox="1"/>
          <p:nvPr/>
        </p:nvSpPr>
        <p:spPr>
          <a:xfrm>
            <a:off x="2834640" y="2834640"/>
            <a:ext cx="2084831" cy="438912"/>
          </a:xfrm>
          <a:prstGeom prst="rect">
            <a:avLst/>
          </a:prstGeom>
          <a:noFill/>
        </p:spPr>
        <p:txBody>
          <a:bodyPr wrap="square" lIns="36576" rIns="36576" tIns="18288" bIns="18288" anchor="t">
            <a:spAutoFit/>
          </a:bodyPr>
          <a:lstStyle/>
          <a:p>
            <a:pPr algn="l">
              <a:defRPr sz="700" b="0" i="0">
                <a:solidFill>
                  <a:srgbClr val="64748B"/>
                </a:solidFill>
              </a:defRPr>
            </a:pPr>
            <a:r>
              <a:t>retrieved_sources / 5, capped at 1.0</a:t>
            </a:r>
            <a:br/>
            <a:r>
              <a:t>0.0 when no chunks were returned</a:t>
            </a:r>
          </a:p>
        </p:txBody>
      </p:sp>
      <p:sp>
        <p:nvSpPr>
          <p:cNvPr id="35" name="Rounded Rectangle 34"/>
          <p:cNvSpPr/>
          <p:nvPr/>
        </p:nvSpPr>
        <p:spPr>
          <a:xfrm>
            <a:off x="347472" y="3401568"/>
            <a:ext cx="4992624" cy="420624"/>
          </a:xfrm>
          <a:prstGeom prst="roundRect">
            <a:avLst>
              <a:gd name="adj" fmla="val 4000"/>
            </a:avLst>
          </a:prstGeom>
          <a:solidFill>
            <a:srgbClr val="FEE2E2"/>
          </a:solidFill>
          <a:ln w="762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4" y="3438144"/>
            <a:ext cx="4846320" cy="384048"/>
          </a:xfrm>
          <a:prstGeom prst="rect">
            <a:avLst/>
          </a:prstGeom>
          <a:noFill/>
        </p:spPr>
        <p:txBody>
          <a:bodyPr wrap="square" lIns="73152" rIns="54864" bIns="27432" anchor="t">
            <a:spAutoFit/>
          </a:bodyPr>
          <a:lstStyle/>
          <a:p>
            <a:pPr algn="l">
              <a:spcAft>
                <a:spcPts val="100"/>
              </a:spcAft>
              <a:defRPr sz="750" b="1">
                <a:solidFill>
                  <a:srgbClr val="B91C1C"/>
                </a:solidFill>
              </a:defRPr>
            </a:pPr>
            <a:r>
              <a:t>Not posted for: </a:t>
            </a:r>
          </a:p>
          <a:p>
            <a:pPr algn="l">
              <a:spcAft>
                <a:spcPts val="100"/>
              </a:spcAft>
              <a:defRPr sz="700" b="0">
                <a:solidFill>
                  <a:srgbClr val="475569"/>
                </a:solidFill>
              </a:defRPr>
            </a:pPr>
            <a:r>
              <a:t>OUT_OF_SCOPE  (engine short-circuits before scoring)</a:t>
            </a:r>
          </a:p>
          <a:p>
            <a:pPr algn="l">
              <a:spcAft>
                <a:spcPts val="100"/>
              </a:spcAft>
              <a:defRPr sz="700" b="0">
                <a:solidFill>
                  <a:srgbClr val="475569"/>
                </a:solidFill>
              </a:defRPr>
            </a:pPr>
            <a:r>
              <a:t>Exact USER_SEARCH match  (early return before scoring block)</a:t>
            </a:r>
          </a:p>
        </p:txBody>
      </p:sp>
      <p:sp>
        <p:nvSpPr>
          <p:cNvPr id="37" name="Rounded Rectangle 36"/>
          <p:cNvSpPr/>
          <p:nvPr/>
        </p:nvSpPr>
        <p:spPr>
          <a:xfrm>
            <a:off x="6327648" y="1335024"/>
            <a:ext cx="2724912" cy="950976"/>
          </a:xfrm>
          <a:prstGeom prst="roundRect">
            <a:avLst>
              <a:gd name="adj" fmla="val 4000"/>
            </a:avLst>
          </a:prstGeom>
          <a:solidFill>
            <a:srgbClr val="EDE9FE"/>
          </a:solidFill>
          <a:ln w="1016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19088" y="1389888"/>
            <a:ext cx="2560320" cy="219456"/>
          </a:xfrm>
          <a:prstGeom prst="rect">
            <a:avLst/>
          </a:prstGeom>
          <a:noFill/>
        </p:spPr>
        <p:txBody>
          <a:bodyPr wrap="square" lIns="36576" rIns="36576" tIns="18288" bIns="18288" anchor="t">
            <a:spAutoFit/>
          </a:bodyPr>
          <a:lstStyle/>
          <a:p>
            <a:pPr algn="l">
              <a:defRPr sz="850" b="1" i="0">
                <a:solidFill>
                  <a:srgbClr val="6D28D9"/>
                </a:solidFill>
              </a:defRPr>
            </a:pPr>
            <a:r>
              <a:t>faithfulness</a:t>
            </a:r>
          </a:p>
        </p:txBody>
      </p:sp>
      <p:sp>
        <p:nvSpPr>
          <p:cNvPr id="39" name="TextBox 38"/>
          <p:cNvSpPr txBox="1"/>
          <p:nvPr/>
        </p:nvSpPr>
        <p:spPr>
          <a:xfrm>
            <a:off x="6419088" y="1609344"/>
            <a:ext cx="2560320" cy="182880"/>
          </a:xfrm>
          <a:prstGeom prst="rect">
            <a:avLst/>
          </a:prstGeom>
          <a:noFill/>
        </p:spPr>
        <p:txBody>
          <a:bodyPr wrap="square" lIns="36576" rIns="36576" tIns="18288" bIns="18288" anchor="t">
            <a:spAutoFit/>
          </a:bodyPr>
          <a:lstStyle/>
          <a:p>
            <a:pPr algn="l">
              <a:defRPr sz="750" b="0" i="0">
                <a:solidFill>
                  <a:srgbClr val="111827"/>
                </a:solidFill>
              </a:defRPr>
            </a:pPr>
            <a:r>
              <a:t>Answer grounded in retrieved context</a:t>
            </a:r>
          </a:p>
        </p:txBody>
      </p:sp>
      <p:sp>
        <p:nvSpPr>
          <p:cNvPr id="40" name="TextBox 39"/>
          <p:cNvSpPr txBox="1"/>
          <p:nvPr/>
        </p:nvSpPr>
        <p:spPr>
          <a:xfrm>
            <a:off x="6419088" y="1792224"/>
            <a:ext cx="2560320" cy="438912"/>
          </a:xfrm>
          <a:prstGeom prst="rect">
            <a:avLst/>
          </a:prstGeom>
          <a:noFill/>
        </p:spPr>
        <p:txBody>
          <a:bodyPr wrap="square" lIns="36576" rIns="36576" tIns="18288" bIns="18288" anchor="t">
            <a:spAutoFit/>
          </a:bodyPr>
          <a:lstStyle/>
          <a:p>
            <a:pPr algn="l">
              <a:defRPr sz="700" b="0" i="0">
                <a:solidFill>
                  <a:srgbClr val="64748B"/>
                </a:solidFill>
              </a:defRPr>
            </a:pPr>
            <a:r>
              <a:t>RAGAS 0–1  |  eval model: gpt-4o</a:t>
            </a:r>
            <a:br/>
            <a:r>
              <a:t>Low = LLM hallucinated from training data</a:t>
            </a:r>
          </a:p>
        </p:txBody>
      </p:sp>
      <p:sp>
        <p:nvSpPr>
          <p:cNvPr id="41" name="Rounded Rectangle 40"/>
          <p:cNvSpPr/>
          <p:nvPr/>
        </p:nvSpPr>
        <p:spPr>
          <a:xfrm>
            <a:off x="8284464" y="1335024"/>
            <a:ext cx="2724912" cy="950976"/>
          </a:xfrm>
          <a:prstGeom prst="roundRect">
            <a:avLst>
              <a:gd name="adj" fmla="val 4000"/>
            </a:avLst>
          </a:prstGeom>
          <a:solidFill>
            <a:srgbClr val="DBEAFE"/>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75904" y="1389888"/>
            <a:ext cx="2560320" cy="219456"/>
          </a:xfrm>
          <a:prstGeom prst="rect">
            <a:avLst/>
          </a:prstGeom>
          <a:noFill/>
        </p:spPr>
        <p:txBody>
          <a:bodyPr wrap="square" lIns="36576" rIns="36576" tIns="18288" bIns="18288" anchor="t">
            <a:spAutoFit/>
          </a:bodyPr>
          <a:lstStyle/>
          <a:p>
            <a:pPr algn="l">
              <a:defRPr sz="850" b="1" i="0">
                <a:solidFill>
                  <a:srgbClr val="2563EB"/>
                </a:solidFill>
              </a:defRPr>
            </a:pPr>
            <a:r>
              <a:t>answer_relevancy</a:t>
            </a:r>
          </a:p>
        </p:txBody>
      </p:sp>
      <p:sp>
        <p:nvSpPr>
          <p:cNvPr id="43" name="TextBox 42"/>
          <p:cNvSpPr txBox="1"/>
          <p:nvPr/>
        </p:nvSpPr>
        <p:spPr>
          <a:xfrm>
            <a:off x="8375904" y="1609344"/>
            <a:ext cx="2560320" cy="182880"/>
          </a:xfrm>
          <a:prstGeom prst="rect">
            <a:avLst/>
          </a:prstGeom>
          <a:noFill/>
        </p:spPr>
        <p:txBody>
          <a:bodyPr wrap="square" lIns="36576" rIns="36576" tIns="18288" bIns="18288" anchor="t">
            <a:spAutoFit/>
          </a:bodyPr>
          <a:lstStyle/>
          <a:p>
            <a:pPr algn="l">
              <a:defRPr sz="750" b="0" i="0">
                <a:solidFill>
                  <a:srgbClr val="111827"/>
                </a:solidFill>
              </a:defRPr>
            </a:pPr>
            <a:r>
              <a:t>Answer addresses the question</a:t>
            </a:r>
          </a:p>
        </p:txBody>
      </p:sp>
      <p:sp>
        <p:nvSpPr>
          <p:cNvPr id="44" name="TextBox 43"/>
          <p:cNvSpPr txBox="1"/>
          <p:nvPr/>
        </p:nvSpPr>
        <p:spPr>
          <a:xfrm>
            <a:off x="8375904" y="1792224"/>
            <a:ext cx="2560320" cy="438912"/>
          </a:xfrm>
          <a:prstGeom prst="rect">
            <a:avLst/>
          </a:prstGeom>
          <a:noFill/>
        </p:spPr>
        <p:txBody>
          <a:bodyPr wrap="square" lIns="36576" rIns="36576" tIns="18288" bIns="18288" anchor="t">
            <a:spAutoFit/>
          </a:bodyPr>
          <a:lstStyle/>
          <a:p>
            <a:pPr algn="l">
              <a:defRPr sz="700" b="0" i="0">
                <a:solidFill>
                  <a:srgbClr val="64748B"/>
                </a:solidFill>
              </a:defRPr>
            </a:pPr>
            <a:r>
              <a:t>RAGAS 0–1  |  uses embedding similarity</a:t>
            </a:r>
            <a:br/>
            <a:r>
              <a:t>Low = off-topic or overly generic answer</a:t>
            </a:r>
          </a:p>
        </p:txBody>
      </p:sp>
      <p:sp>
        <p:nvSpPr>
          <p:cNvPr id="45" name="Rounded Rectangle 44"/>
          <p:cNvSpPr/>
          <p:nvPr/>
        </p:nvSpPr>
        <p:spPr>
          <a:xfrm>
            <a:off x="6327648" y="2377440"/>
            <a:ext cx="2724912" cy="950976"/>
          </a:xfrm>
          <a:prstGeom prst="roundRect">
            <a:avLst>
              <a:gd name="adj" fmla="val 4000"/>
            </a:avLst>
          </a:prstGeom>
          <a:solidFill>
            <a:srgbClr val="CCFBF1"/>
          </a:solidFill>
          <a:ln w="101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9088" y="2432304"/>
            <a:ext cx="2560320" cy="219456"/>
          </a:xfrm>
          <a:prstGeom prst="rect">
            <a:avLst/>
          </a:prstGeom>
          <a:noFill/>
        </p:spPr>
        <p:txBody>
          <a:bodyPr wrap="square" lIns="36576" rIns="36576" tIns="18288" bIns="18288" anchor="t">
            <a:spAutoFit/>
          </a:bodyPr>
          <a:lstStyle/>
          <a:p>
            <a:pPr algn="l">
              <a:defRPr sz="850" b="1" i="0">
                <a:solidFill>
                  <a:srgbClr val="0D9488"/>
                </a:solidFill>
              </a:defRPr>
            </a:pPr>
            <a:r>
              <a:t>context_precision</a:t>
            </a:r>
          </a:p>
        </p:txBody>
      </p:sp>
      <p:sp>
        <p:nvSpPr>
          <p:cNvPr id="47" name="TextBox 46"/>
          <p:cNvSpPr txBox="1"/>
          <p:nvPr/>
        </p:nvSpPr>
        <p:spPr>
          <a:xfrm>
            <a:off x="6419088" y="2651760"/>
            <a:ext cx="2560320" cy="182880"/>
          </a:xfrm>
          <a:prstGeom prst="rect">
            <a:avLst/>
          </a:prstGeom>
          <a:noFill/>
        </p:spPr>
        <p:txBody>
          <a:bodyPr wrap="square" lIns="36576" rIns="36576" tIns="18288" bIns="18288" anchor="t">
            <a:spAutoFit/>
          </a:bodyPr>
          <a:lstStyle/>
          <a:p>
            <a:pPr algn="l">
              <a:defRPr sz="750" b="0" i="0">
                <a:solidFill>
                  <a:srgbClr val="111827"/>
                </a:solidFill>
              </a:defRPr>
            </a:pPr>
            <a:r>
              <a:t>Top context is most relevant</a:t>
            </a:r>
          </a:p>
        </p:txBody>
      </p:sp>
      <p:sp>
        <p:nvSpPr>
          <p:cNvPr id="48" name="TextBox 47"/>
          <p:cNvSpPr txBox="1"/>
          <p:nvPr/>
        </p:nvSpPr>
        <p:spPr>
          <a:xfrm>
            <a:off x="6419088" y="2834640"/>
            <a:ext cx="2560320" cy="438912"/>
          </a:xfrm>
          <a:prstGeom prst="rect">
            <a:avLst/>
          </a:prstGeom>
          <a:noFill/>
        </p:spPr>
        <p:txBody>
          <a:bodyPr wrap="square" lIns="36576" rIns="36576" tIns="18288" bIns="18288" anchor="t">
            <a:spAutoFit/>
          </a:bodyPr>
          <a:lstStyle/>
          <a:p>
            <a:pPr algn="l">
              <a:defRPr sz="700" b="0" i="0">
                <a:solidFill>
                  <a:srgbClr val="64748B"/>
                </a:solidFill>
              </a:defRPr>
            </a:pPr>
            <a:r>
              <a:t>RAGAS 0–1  |  ranking quality metric</a:t>
            </a:r>
            <a:br/>
            <a:r>
              <a:t>Low = wrong chunks ranked highest</a:t>
            </a:r>
          </a:p>
        </p:txBody>
      </p:sp>
      <p:sp>
        <p:nvSpPr>
          <p:cNvPr id="49" name="Rounded Rectangle 48"/>
          <p:cNvSpPr/>
          <p:nvPr/>
        </p:nvSpPr>
        <p:spPr>
          <a:xfrm>
            <a:off x="8284464" y="2377440"/>
            <a:ext cx="2724912" cy="950976"/>
          </a:xfrm>
          <a:prstGeom prst="roundRect">
            <a:avLst>
              <a:gd name="adj" fmla="val 4000"/>
            </a:avLst>
          </a:prstGeom>
          <a:solidFill>
            <a:srgbClr val="FCE7F3"/>
          </a:solidFill>
          <a:ln w="1016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75904" y="2432304"/>
            <a:ext cx="2560320" cy="219456"/>
          </a:xfrm>
          <a:prstGeom prst="rect">
            <a:avLst/>
          </a:prstGeom>
          <a:noFill/>
        </p:spPr>
        <p:txBody>
          <a:bodyPr wrap="square" lIns="36576" rIns="36576" tIns="18288" bIns="18288" anchor="t">
            <a:spAutoFit/>
          </a:bodyPr>
          <a:lstStyle/>
          <a:p>
            <a:pPr algn="l">
              <a:defRPr sz="850" b="1" i="0">
                <a:solidFill>
                  <a:srgbClr val="BE185D"/>
                </a:solidFill>
              </a:defRPr>
            </a:pPr>
            <a:r>
              <a:t>profile_relevance</a:t>
            </a:r>
          </a:p>
        </p:txBody>
      </p:sp>
      <p:sp>
        <p:nvSpPr>
          <p:cNvPr id="51" name="TextBox 50"/>
          <p:cNvSpPr txBox="1"/>
          <p:nvPr/>
        </p:nvSpPr>
        <p:spPr>
          <a:xfrm>
            <a:off x="8375904" y="2651760"/>
            <a:ext cx="2560320" cy="182880"/>
          </a:xfrm>
          <a:prstGeom prst="rect">
            <a:avLst/>
          </a:prstGeom>
          <a:noFill/>
        </p:spPr>
        <p:txBody>
          <a:bodyPr wrap="square" lIns="36576" rIns="36576" tIns="18288" bIns="18288" anchor="t">
            <a:spAutoFit/>
          </a:bodyPr>
          <a:lstStyle/>
          <a:p>
            <a:pPr algn="l">
              <a:defRPr sz="750" b="0" i="0">
                <a:solidFill>
                  <a:srgbClr val="111827"/>
                </a:solidFill>
              </a:defRPr>
            </a:pPr>
            <a:r>
              <a:t>Profile answers the question</a:t>
            </a:r>
          </a:p>
        </p:txBody>
      </p:sp>
      <p:sp>
        <p:nvSpPr>
          <p:cNvPr id="52" name="TextBox 51"/>
          <p:cNvSpPr txBox="1"/>
          <p:nvPr/>
        </p:nvSpPr>
        <p:spPr>
          <a:xfrm>
            <a:off x="8375904" y="2834640"/>
            <a:ext cx="2560320" cy="438912"/>
          </a:xfrm>
          <a:prstGeom prst="rect">
            <a:avLst/>
          </a:prstGeom>
          <a:noFill/>
        </p:spPr>
        <p:txBody>
          <a:bodyPr wrap="square" lIns="36576" rIns="36576" tIns="18288" bIns="18288" anchor="t">
            <a:spAutoFit/>
          </a:bodyPr>
          <a:lstStyle/>
          <a:p>
            <a:pPr algn="l">
              <a:defRPr sz="700" b="0" i="0">
                <a:solidFill>
                  <a:srgbClr val="64748B"/>
                </a:solidFill>
              </a:defRPr>
            </a:pPr>
            <a:r>
              <a:t>LLM judge  |  scores: 0 / 0.3 / 0.7 / 1.0</a:t>
            </a:r>
            <a:br/>
            <a:r>
              <a:t>Only for exact USER_SEARCH name match</a:t>
            </a:r>
          </a:p>
        </p:txBody>
      </p:sp>
      <p:sp>
        <p:nvSpPr>
          <p:cNvPr id="53" name="Rounded Rectangle 52"/>
          <p:cNvSpPr/>
          <p:nvPr/>
        </p:nvSpPr>
        <p:spPr>
          <a:xfrm>
            <a:off x="6327648" y="3401568"/>
            <a:ext cx="4663440" cy="420624"/>
          </a:xfrm>
          <a:prstGeom prst="roundRect">
            <a:avLst>
              <a:gd name="adj" fmla="val 4000"/>
            </a:avLst>
          </a:prstGeom>
          <a:solidFill>
            <a:srgbClr val="DCFCE7"/>
          </a:solidFill>
          <a:ln w="76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0" y="3438144"/>
            <a:ext cx="4517136" cy="384048"/>
          </a:xfrm>
          <a:prstGeom prst="rect">
            <a:avLst/>
          </a:prstGeom>
          <a:noFill/>
        </p:spPr>
        <p:txBody>
          <a:bodyPr wrap="square" lIns="73152" rIns="54864" bIns="27432" anchor="t">
            <a:spAutoFit/>
          </a:bodyPr>
          <a:lstStyle/>
          <a:p>
            <a:pPr algn="l">
              <a:spcAft>
                <a:spcPts val="100"/>
              </a:spcAft>
              <a:defRPr sz="750" b="1">
                <a:solidFill>
                  <a:srgbClr val="16A34A"/>
                </a:solidFill>
              </a:defRPr>
            </a:pPr>
            <a:r>
              <a:t>faithfulness / answer_relevancy / context_precision apply to: </a:t>
            </a:r>
          </a:p>
          <a:p>
            <a:pPr algn="l">
              <a:spcAft>
                <a:spcPts val="100"/>
              </a:spcAft>
              <a:defRPr sz="700" b="0">
                <a:solidFill>
                  <a:srgbClr val="475569"/>
                </a:solidFill>
              </a:defRPr>
            </a:pPr>
            <a:r>
              <a:t>DOC_QA · ARTIFACT_SEARCH · semantic USER_SEARCH · HYBRID</a:t>
            </a:r>
          </a:p>
          <a:p>
            <a:pPr algn="l">
              <a:spcAft>
                <a:spcPts val="100"/>
              </a:spcAft>
              <a:defRPr sz="700" b="0">
                <a:solidFill>
                  <a:srgbClr val="475569"/>
                </a:solidFill>
              </a:defRPr>
            </a:pPr>
            <a:r>
              <a:t>profile_relevance applies only to: exact USER_SEARCH name match</a:t>
            </a:r>
          </a:p>
        </p:txBody>
      </p:sp>
      <p:sp>
        <p:nvSpPr>
          <p:cNvPr id="55" name="Rounded Rectangle 54"/>
          <p:cNvSpPr/>
          <p:nvPr/>
        </p:nvSpPr>
        <p:spPr>
          <a:xfrm>
            <a:off x="9217152" y="1335024"/>
            <a:ext cx="2615184" cy="950976"/>
          </a:xfrm>
          <a:prstGeom prst="roundRect">
            <a:avLst>
              <a:gd name="adj" fmla="val 4000"/>
            </a:avLst>
          </a:prstGeom>
          <a:solidFill>
            <a:srgbClr val="FCE7F3"/>
          </a:solidFill>
          <a:ln w="1016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08592" y="1371600"/>
            <a:ext cx="2450592" cy="219456"/>
          </a:xfrm>
          <a:prstGeom prst="rect">
            <a:avLst/>
          </a:prstGeom>
          <a:noFill/>
        </p:spPr>
        <p:txBody>
          <a:bodyPr wrap="square" lIns="36576" rIns="36576" tIns="18288" bIns="18288" anchor="t">
            <a:spAutoFit/>
          </a:bodyPr>
          <a:lstStyle/>
          <a:p>
            <a:pPr algn="l">
              <a:defRPr sz="850" b="1" i="0">
                <a:solidFill>
                  <a:srgbClr val="BE185D"/>
                </a:solidFill>
              </a:defRPr>
            </a:pPr>
            <a:r>
              <a:t>user_feedback</a:t>
            </a:r>
          </a:p>
        </p:txBody>
      </p:sp>
      <p:sp>
        <p:nvSpPr>
          <p:cNvPr id="57" name="TextBox 56"/>
          <p:cNvSpPr txBox="1"/>
          <p:nvPr/>
        </p:nvSpPr>
        <p:spPr>
          <a:xfrm>
            <a:off x="9308592" y="1591056"/>
            <a:ext cx="2450592" cy="182880"/>
          </a:xfrm>
          <a:prstGeom prst="rect">
            <a:avLst/>
          </a:prstGeom>
          <a:noFill/>
        </p:spPr>
        <p:txBody>
          <a:bodyPr wrap="square" lIns="36576" rIns="36576" tIns="18288" bIns="18288" anchor="t">
            <a:spAutoFit/>
          </a:bodyPr>
          <a:lstStyle/>
          <a:p>
            <a:pPr algn="l">
              <a:defRPr sz="750" b="0" i="0">
                <a:solidFill>
                  <a:srgbClr val="111827"/>
                </a:solidFill>
              </a:defRPr>
            </a:pPr>
            <a:r>
              <a:t>Thumbs up / down in UI</a:t>
            </a:r>
          </a:p>
        </p:txBody>
      </p:sp>
      <p:sp>
        <p:nvSpPr>
          <p:cNvPr id="58" name="TextBox 57"/>
          <p:cNvSpPr txBox="1"/>
          <p:nvPr/>
        </p:nvSpPr>
        <p:spPr>
          <a:xfrm>
            <a:off x="9308592" y="1773936"/>
            <a:ext cx="2450592" cy="438912"/>
          </a:xfrm>
          <a:prstGeom prst="rect">
            <a:avLst/>
          </a:prstGeom>
          <a:noFill/>
        </p:spPr>
        <p:txBody>
          <a:bodyPr wrap="square" lIns="73152" rIns="54864" bIns="27432" anchor="t">
            <a:spAutoFit/>
          </a:bodyPr>
          <a:lstStyle/>
          <a:p>
            <a:pPr algn="l">
              <a:spcAft>
                <a:spcPts val="100"/>
              </a:spcAft>
              <a:defRPr sz="700" b="0">
                <a:solidFill>
                  <a:srgbClr val="475569"/>
                </a:solidFill>
              </a:defRPr>
            </a:pPr>
            <a:r>
              <a:t>👍  thumbs-up  → 1.0</a:t>
            </a:r>
          </a:p>
          <a:p>
            <a:pPr algn="l">
              <a:spcAft>
                <a:spcPts val="100"/>
              </a:spcAft>
              <a:defRPr sz="700" b="0">
                <a:solidFill>
                  <a:srgbClr val="475569"/>
                </a:solidFill>
              </a:defRPr>
            </a:pPr>
            <a:r>
              <a:t>👎  thumbs-down → 0.0</a:t>
            </a:r>
          </a:p>
          <a:p>
            <a:pPr algn="l">
              <a:spcAft>
                <a:spcPts val="100"/>
              </a:spcAft>
              <a:defRPr sz="700" b="0">
                <a:solidFill>
                  <a:srgbClr val="64748B"/>
                </a:solidFill>
              </a:defRPr>
            </a:pPr>
            <a:r>
              <a:t>POST /observability/feedback</a:t>
            </a:r>
          </a:p>
        </p:txBody>
      </p:sp>
      <p:sp>
        <p:nvSpPr>
          <p:cNvPr id="59" name="Rectangle 58"/>
          <p:cNvSpPr/>
          <p:nvPr/>
        </p:nvSpPr>
        <p:spPr>
          <a:xfrm>
            <a:off x="347472" y="3895344"/>
            <a:ext cx="11494008" cy="219456"/>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3904487"/>
            <a:ext cx="11247120" cy="201168"/>
          </a:xfrm>
          <a:prstGeom prst="rect">
            <a:avLst/>
          </a:prstGeom>
          <a:noFill/>
        </p:spPr>
        <p:txBody>
          <a:bodyPr wrap="square" lIns="36576" rIns="36576" tIns="18288" bIns="18288" anchor="t">
            <a:spAutoFit/>
          </a:bodyPr>
          <a:lstStyle/>
          <a:p>
            <a:pPr algn="l">
              <a:defRPr sz="850" b="1" i="0">
                <a:solidFill>
                  <a:srgbClr val="FFFFFF"/>
                </a:solidFill>
              </a:defRPr>
            </a:pPr>
            <a:r>
              <a:t>Score Availability Matrix per Intent Path</a:t>
            </a:r>
          </a:p>
        </p:txBody>
      </p:sp>
      <p:sp>
        <p:nvSpPr>
          <p:cNvPr id="61" name="Rectangle 60"/>
          <p:cNvSpPr/>
          <p:nvPr/>
        </p:nvSpPr>
        <p:spPr>
          <a:xfrm>
            <a:off x="347472" y="4169663"/>
            <a:ext cx="1554480" cy="256032"/>
          </a:xfrm>
          <a:prstGeom prst="rect">
            <a:avLst/>
          </a:prstGeom>
          <a:solidFill>
            <a:srgbClr val="F1F5F9"/>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02336" y="4187952"/>
            <a:ext cx="1444752" cy="237744"/>
          </a:xfrm>
          <a:prstGeom prst="rect">
            <a:avLst/>
          </a:prstGeom>
          <a:noFill/>
        </p:spPr>
        <p:txBody>
          <a:bodyPr wrap="square" lIns="36576" rIns="36576" tIns="18288" bIns="18288" anchor="t">
            <a:spAutoFit/>
          </a:bodyPr>
          <a:lstStyle/>
          <a:p>
            <a:pPr algn="ctr">
              <a:defRPr sz="700" b="1" i="0">
                <a:solidFill>
                  <a:srgbClr val="111827"/>
                </a:solidFill>
              </a:defRPr>
            </a:pPr>
            <a:r>
              <a:t>Intent Path</a:t>
            </a:r>
          </a:p>
        </p:txBody>
      </p:sp>
      <p:sp>
        <p:nvSpPr>
          <p:cNvPr id="63" name="Rectangle 62"/>
          <p:cNvSpPr/>
          <p:nvPr/>
        </p:nvSpPr>
        <p:spPr>
          <a:xfrm>
            <a:off x="1975104" y="4169663"/>
            <a:ext cx="1719072" cy="256032"/>
          </a:xfrm>
          <a:prstGeom prst="rect">
            <a:avLst/>
          </a:prstGeom>
          <a:solidFill>
            <a:srgbClr val="F1F5F9"/>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29968" y="4187952"/>
            <a:ext cx="1609344" cy="237744"/>
          </a:xfrm>
          <a:prstGeom prst="rect">
            <a:avLst/>
          </a:prstGeom>
          <a:noFill/>
        </p:spPr>
        <p:txBody>
          <a:bodyPr wrap="square" lIns="36576" rIns="36576" tIns="18288" bIns="18288" anchor="t">
            <a:spAutoFit/>
          </a:bodyPr>
          <a:lstStyle/>
          <a:p>
            <a:pPr algn="ctr">
              <a:defRPr sz="700" b="1" i="0">
                <a:solidFill>
                  <a:srgbClr val="111827"/>
                </a:solidFill>
              </a:defRPr>
            </a:pPr>
            <a:r>
              <a:t>L1: heuristics</a:t>
            </a:r>
          </a:p>
        </p:txBody>
      </p:sp>
      <p:sp>
        <p:nvSpPr>
          <p:cNvPr id="65" name="Rectangle 64"/>
          <p:cNvSpPr/>
          <p:nvPr/>
        </p:nvSpPr>
        <p:spPr>
          <a:xfrm>
            <a:off x="3767328" y="4169663"/>
            <a:ext cx="1591056" cy="256032"/>
          </a:xfrm>
          <a:prstGeom prst="rect">
            <a:avLst/>
          </a:prstGeom>
          <a:solidFill>
            <a:srgbClr val="F1F5F9"/>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22191" y="4187952"/>
            <a:ext cx="1481328" cy="237744"/>
          </a:xfrm>
          <a:prstGeom prst="rect">
            <a:avLst/>
          </a:prstGeom>
          <a:noFill/>
        </p:spPr>
        <p:txBody>
          <a:bodyPr wrap="square" lIns="36576" rIns="36576" tIns="18288" bIns="18288" anchor="t">
            <a:spAutoFit/>
          </a:bodyPr>
          <a:lstStyle/>
          <a:p>
            <a:pPr algn="ctr">
              <a:defRPr sz="700" b="1" i="0">
                <a:solidFill>
                  <a:srgbClr val="111827"/>
                </a:solidFill>
              </a:defRPr>
            </a:pPr>
            <a:r>
              <a:t>L2: faithfulness</a:t>
            </a:r>
          </a:p>
        </p:txBody>
      </p:sp>
      <p:sp>
        <p:nvSpPr>
          <p:cNvPr id="67" name="Rectangle 66"/>
          <p:cNvSpPr/>
          <p:nvPr/>
        </p:nvSpPr>
        <p:spPr>
          <a:xfrm>
            <a:off x="5431536" y="4169663"/>
            <a:ext cx="1591056" cy="256032"/>
          </a:xfrm>
          <a:prstGeom prst="rect">
            <a:avLst/>
          </a:prstGeom>
          <a:solidFill>
            <a:srgbClr val="F1F5F9"/>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0" y="4187952"/>
            <a:ext cx="1481328" cy="237744"/>
          </a:xfrm>
          <a:prstGeom prst="rect">
            <a:avLst/>
          </a:prstGeom>
          <a:noFill/>
        </p:spPr>
        <p:txBody>
          <a:bodyPr wrap="square" lIns="36576" rIns="36576" tIns="18288" bIns="18288" anchor="t">
            <a:spAutoFit/>
          </a:bodyPr>
          <a:lstStyle/>
          <a:p>
            <a:pPr algn="ctr">
              <a:defRPr sz="700" b="1" i="0">
                <a:solidFill>
                  <a:srgbClr val="111827"/>
                </a:solidFill>
              </a:defRPr>
            </a:pPr>
            <a:r>
              <a:t>L2: answer_rel.</a:t>
            </a:r>
          </a:p>
        </p:txBody>
      </p:sp>
      <p:sp>
        <p:nvSpPr>
          <p:cNvPr id="69" name="Rectangle 68"/>
          <p:cNvSpPr/>
          <p:nvPr/>
        </p:nvSpPr>
        <p:spPr>
          <a:xfrm>
            <a:off x="7095744" y="4169663"/>
            <a:ext cx="1591056" cy="256032"/>
          </a:xfrm>
          <a:prstGeom prst="rect">
            <a:avLst/>
          </a:prstGeom>
          <a:solidFill>
            <a:srgbClr val="F1F5F9"/>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50607" y="4187952"/>
            <a:ext cx="1481328" cy="237744"/>
          </a:xfrm>
          <a:prstGeom prst="rect">
            <a:avLst/>
          </a:prstGeom>
          <a:noFill/>
        </p:spPr>
        <p:txBody>
          <a:bodyPr wrap="square" lIns="36576" rIns="36576" tIns="18288" bIns="18288" anchor="t">
            <a:spAutoFit/>
          </a:bodyPr>
          <a:lstStyle/>
          <a:p>
            <a:pPr algn="ctr">
              <a:defRPr sz="700" b="1" i="0">
                <a:solidFill>
                  <a:srgbClr val="111827"/>
                </a:solidFill>
              </a:defRPr>
            </a:pPr>
            <a:r>
              <a:t>L2: ctx_precision</a:t>
            </a:r>
          </a:p>
        </p:txBody>
      </p:sp>
      <p:sp>
        <p:nvSpPr>
          <p:cNvPr id="71" name="Rectangle 70"/>
          <p:cNvSpPr/>
          <p:nvPr/>
        </p:nvSpPr>
        <p:spPr>
          <a:xfrm>
            <a:off x="8759952" y="4169663"/>
            <a:ext cx="1591056" cy="256032"/>
          </a:xfrm>
          <a:prstGeom prst="rect">
            <a:avLst/>
          </a:prstGeom>
          <a:solidFill>
            <a:srgbClr val="F1F5F9"/>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814816" y="4187952"/>
            <a:ext cx="1481328" cy="237744"/>
          </a:xfrm>
          <a:prstGeom prst="rect">
            <a:avLst/>
          </a:prstGeom>
          <a:noFill/>
        </p:spPr>
        <p:txBody>
          <a:bodyPr wrap="square" lIns="36576" rIns="36576" tIns="18288" bIns="18288" anchor="t">
            <a:spAutoFit/>
          </a:bodyPr>
          <a:lstStyle/>
          <a:p>
            <a:pPr algn="ctr">
              <a:defRPr sz="700" b="1" i="0">
                <a:solidFill>
                  <a:srgbClr val="111827"/>
                </a:solidFill>
              </a:defRPr>
            </a:pPr>
            <a:r>
              <a:t>L2: profile_rel.</a:t>
            </a:r>
          </a:p>
        </p:txBody>
      </p:sp>
      <p:sp>
        <p:nvSpPr>
          <p:cNvPr id="73" name="Rectangle 72"/>
          <p:cNvSpPr/>
          <p:nvPr/>
        </p:nvSpPr>
        <p:spPr>
          <a:xfrm>
            <a:off x="10424160" y="4169663"/>
            <a:ext cx="1380744" cy="256032"/>
          </a:xfrm>
          <a:prstGeom prst="rect">
            <a:avLst/>
          </a:prstGeom>
          <a:solidFill>
            <a:srgbClr val="F1F5F9"/>
          </a:solidFill>
          <a:ln w="63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479024" y="4187952"/>
            <a:ext cx="1271016" cy="237744"/>
          </a:xfrm>
          <a:prstGeom prst="rect">
            <a:avLst/>
          </a:prstGeom>
          <a:noFill/>
        </p:spPr>
        <p:txBody>
          <a:bodyPr wrap="square" lIns="36576" rIns="36576" tIns="18288" bIns="18288" anchor="t">
            <a:spAutoFit/>
          </a:bodyPr>
          <a:lstStyle/>
          <a:p>
            <a:pPr algn="ctr">
              <a:defRPr sz="700" b="1" i="0">
                <a:solidFill>
                  <a:srgbClr val="111827"/>
                </a:solidFill>
              </a:defRPr>
            </a:pPr>
            <a:r>
              <a:t>user_feedback</a:t>
            </a:r>
          </a:p>
        </p:txBody>
      </p:sp>
      <p:sp>
        <p:nvSpPr>
          <p:cNvPr id="75" name="Rectangle 74"/>
          <p:cNvSpPr/>
          <p:nvPr/>
        </p:nvSpPr>
        <p:spPr>
          <a:xfrm>
            <a:off x="347472" y="4480560"/>
            <a:ext cx="1554480" cy="237744"/>
          </a:xfrm>
          <a:prstGeom prst="rect">
            <a:avLst/>
          </a:prstGeom>
          <a:solidFill>
            <a:srgbClr val="DBEAFE"/>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02336" y="4498848"/>
            <a:ext cx="1444752" cy="219456"/>
          </a:xfrm>
          <a:prstGeom prst="rect">
            <a:avLst/>
          </a:prstGeom>
          <a:noFill/>
        </p:spPr>
        <p:txBody>
          <a:bodyPr wrap="square" lIns="36576" rIns="36576" tIns="18288" bIns="18288" anchor="t">
            <a:spAutoFit/>
          </a:bodyPr>
          <a:lstStyle/>
          <a:p>
            <a:pPr algn="l">
              <a:defRPr sz="750" b="1" i="0">
                <a:solidFill>
                  <a:srgbClr val="111827"/>
                </a:solidFill>
              </a:defRPr>
            </a:pPr>
            <a:r>
              <a:t>DOC_QA</a:t>
            </a:r>
          </a:p>
        </p:txBody>
      </p:sp>
      <p:sp>
        <p:nvSpPr>
          <p:cNvPr id="77" name="Rectangle 76"/>
          <p:cNvSpPr/>
          <p:nvPr/>
        </p:nvSpPr>
        <p:spPr>
          <a:xfrm>
            <a:off x="1975104" y="4480560"/>
            <a:ext cx="1719072"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029968" y="4498848"/>
            <a:ext cx="1609344"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79" name="Rectangle 78"/>
          <p:cNvSpPr/>
          <p:nvPr/>
        </p:nvSpPr>
        <p:spPr>
          <a:xfrm>
            <a:off x="3767328" y="448056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822191" y="449884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81" name="Rectangle 80"/>
          <p:cNvSpPr/>
          <p:nvPr/>
        </p:nvSpPr>
        <p:spPr>
          <a:xfrm>
            <a:off x="5431536" y="448056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486400" y="449884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83" name="Rectangle 82"/>
          <p:cNvSpPr/>
          <p:nvPr/>
        </p:nvSpPr>
        <p:spPr>
          <a:xfrm>
            <a:off x="7095744" y="448056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150607" y="449884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85" name="Rectangle 84"/>
          <p:cNvSpPr/>
          <p:nvPr/>
        </p:nvSpPr>
        <p:spPr>
          <a:xfrm>
            <a:off x="8759952" y="448056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814816" y="449884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87" name="Rectangle 86"/>
          <p:cNvSpPr/>
          <p:nvPr/>
        </p:nvSpPr>
        <p:spPr>
          <a:xfrm>
            <a:off x="10424160" y="4480560"/>
            <a:ext cx="1380744"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479024" y="4498848"/>
            <a:ext cx="1271016"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89" name="Rectangle 88"/>
          <p:cNvSpPr/>
          <p:nvPr/>
        </p:nvSpPr>
        <p:spPr>
          <a:xfrm>
            <a:off x="347472" y="4754880"/>
            <a:ext cx="1554480" cy="237744"/>
          </a:xfrm>
          <a:prstGeom prst="rect">
            <a:avLst/>
          </a:prstGeom>
          <a:solidFill>
            <a:srgbClr val="DCFCE7"/>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02336" y="4773168"/>
            <a:ext cx="1444752" cy="219456"/>
          </a:xfrm>
          <a:prstGeom prst="rect">
            <a:avLst/>
          </a:prstGeom>
          <a:noFill/>
        </p:spPr>
        <p:txBody>
          <a:bodyPr wrap="square" lIns="36576" rIns="36576" tIns="18288" bIns="18288" anchor="t">
            <a:spAutoFit/>
          </a:bodyPr>
          <a:lstStyle/>
          <a:p>
            <a:pPr algn="l">
              <a:defRPr sz="750" b="1" i="0">
                <a:solidFill>
                  <a:srgbClr val="111827"/>
                </a:solidFill>
              </a:defRPr>
            </a:pPr>
            <a:r>
              <a:t>ARTIFACT_SEARCH</a:t>
            </a:r>
          </a:p>
        </p:txBody>
      </p:sp>
      <p:sp>
        <p:nvSpPr>
          <p:cNvPr id="91" name="Rectangle 90"/>
          <p:cNvSpPr/>
          <p:nvPr/>
        </p:nvSpPr>
        <p:spPr>
          <a:xfrm>
            <a:off x="1975104" y="4754880"/>
            <a:ext cx="1719072"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029968" y="4773168"/>
            <a:ext cx="1609344"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93" name="Rectangle 92"/>
          <p:cNvSpPr/>
          <p:nvPr/>
        </p:nvSpPr>
        <p:spPr>
          <a:xfrm>
            <a:off x="3767328" y="475488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822191" y="477316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95" name="Rectangle 94"/>
          <p:cNvSpPr/>
          <p:nvPr/>
        </p:nvSpPr>
        <p:spPr>
          <a:xfrm>
            <a:off x="5431536" y="475488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486400" y="477316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97" name="Rectangle 96"/>
          <p:cNvSpPr/>
          <p:nvPr/>
        </p:nvSpPr>
        <p:spPr>
          <a:xfrm>
            <a:off x="7095744" y="475488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150607" y="477316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99" name="Rectangle 98"/>
          <p:cNvSpPr/>
          <p:nvPr/>
        </p:nvSpPr>
        <p:spPr>
          <a:xfrm>
            <a:off x="8759952" y="475488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814816" y="477316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01" name="Rectangle 100"/>
          <p:cNvSpPr/>
          <p:nvPr/>
        </p:nvSpPr>
        <p:spPr>
          <a:xfrm>
            <a:off x="10424160" y="4754880"/>
            <a:ext cx="1380744"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479024" y="4773168"/>
            <a:ext cx="1271016"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03" name="Rectangle 102"/>
          <p:cNvSpPr/>
          <p:nvPr/>
        </p:nvSpPr>
        <p:spPr>
          <a:xfrm>
            <a:off x="347472" y="5029200"/>
            <a:ext cx="1554480" cy="237744"/>
          </a:xfrm>
          <a:prstGeom prst="rect">
            <a:avLst/>
          </a:prstGeom>
          <a:solidFill>
            <a:srgbClr val="FEF3C7"/>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02336" y="5047488"/>
            <a:ext cx="1444752" cy="219456"/>
          </a:xfrm>
          <a:prstGeom prst="rect">
            <a:avLst/>
          </a:prstGeom>
          <a:noFill/>
        </p:spPr>
        <p:txBody>
          <a:bodyPr wrap="square" lIns="36576" rIns="36576" tIns="18288" bIns="18288" anchor="t">
            <a:spAutoFit/>
          </a:bodyPr>
          <a:lstStyle/>
          <a:p>
            <a:pPr algn="l">
              <a:defRPr sz="750" b="1" i="0">
                <a:solidFill>
                  <a:srgbClr val="111827"/>
                </a:solidFill>
              </a:defRPr>
            </a:pPr>
            <a:r>
              <a:t>USER_SEARCH (semantic)</a:t>
            </a:r>
          </a:p>
        </p:txBody>
      </p:sp>
      <p:sp>
        <p:nvSpPr>
          <p:cNvPr id="105" name="Rectangle 104"/>
          <p:cNvSpPr/>
          <p:nvPr/>
        </p:nvSpPr>
        <p:spPr>
          <a:xfrm>
            <a:off x="1975104" y="5029200"/>
            <a:ext cx="1719072"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29968" y="5047488"/>
            <a:ext cx="1609344"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07" name="Rectangle 106"/>
          <p:cNvSpPr/>
          <p:nvPr/>
        </p:nvSpPr>
        <p:spPr>
          <a:xfrm>
            <a:off x="3767328" y="502920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822191" y="504748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09" name="Rectangle 108"/>
          <p:cNvSpPr/>
          <p:nvPr/>
        </p:nvSpPr>
        <p:spPr>
          <a:xfrm>
            <a:off x="5431536" y="502920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486400" y="504748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11" name="Rectangle 110"/>
          <p:cNvSpPr/>
          <p:nvPr/>
        </p:nvSpPr>
        <p:spPr>
          <a:xfrm>
            <a:off x="7095744" y="502920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150607" y="504748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13" name="Rectangle 112"/>
          <p:cNvSpPr/>
          <p:nvPr/>
        </p:nvSpPr>
        <p:spPr>
          <a:xfrm>
            <a:off x="8759952" y="502920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814816" y="504748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15" name="Rectangle 114"/>
          <p:cNvSpPr/>
          <p:nvPr/>
        </p:nvSpPr>
        <p:spPr>
          <a:xfrm>
            <a:off x="10424160" y="5029200"/>
            <a:ext cx="1380744"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479024" y="5047488"/>
            <a:ext cx="1271016"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17" name="Rectangle 116"/>
          <p:cNvSpPr/>
          <p:nvPr/>
        </p:nvSpPr>
        <p:spPr>
          <a:xfrm>
            <a:off x="347472" y="5303520"/>
            <a:ext cx="1554480" cy="237744"/>
          </a:xfrm>
          <a:prstGeom prst="rect">
            <a:avLst/>
          </a:prstGeom>
          <a:solidFill>
            <a:srgbClr val="FCE7F3"/>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02336" y="5321808"/>
            <a:ext cx="1444752" cy="219456"/>
          </a:xfrm>
          <a:prstGeom prst="rect">
            <a:avLst/>
          </a:prstGeom>
          <a:noFill/>
        </p:spPr>
        <p:txBody>
          <a:bodyPr wrap="square" lIns="36576" rIns="36576" tIns="18288" bIns="18288" anchor="t">
            <a:spAutoFit/>
          </a:bodyPr>
          <a:lstStyle/>
          <a:p>
            <a:pPr algn="l">
              <a:defRPr sz="750" b="1" i="0">
                <a:solidFill>
                  <a:srgbClr val="111827"/>
                </a:solidFill>
              </a:defRPr>
            </a:pPr>
            <a:r>
              <a:t>USER_SEARCH (exact)</a:t>
            </a:r>
          </a:p>
        </p:txBody>
      </p:sp>
      <p:sp>
        <p:nvSpPr>
          <p:cNvPr id="119" name="Rectangle 118"/>
          <p:cNvSpPr/>
          <p:nvPr/>
        </p:nvSpPr>
        <p:spPr>
          <a:xfrm>
            <a:off x="1975104" y="5303520"/>
            <a:ext cx="1719072"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029968" y="5321808"/>
            <a:ext cx="1609344"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21" name="Rectangle 120"/>
          <p:cNvSpPr/>
          <p:nvPr/>
        </p:nvSpPr>
        <p:spPr>
          <a:xfrm>
            <a:off x="3767328" y="530352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822191" y="532180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23" name="Rectangle 122"/>
          <p:cNvSpPr/>
          <p:nvPr/>
        </p:nvSpPr>
        <p:spPr>
          <a:xfrm>
            <a:off x="5431536" y="530352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486400" y="532180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25" name="Rectangle 124"/>
          <p:cNvSpPr/>
          <p:nvPr/>
        </p:nvSpPr>
        <p:spPr>
          <a:xfrm>
            <a:off x="7095744" y="530352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150607" y="532180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27" name="Rectangle 126"/>
          <p:cNvSpPr/>
          <p:nvPr/>
        </p:nvSpPr>
        <p:spPr>
          <a:xfrm>
            <a:off x="8759952" y="530352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814816" y="532180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29" name="Rectangle 128"/>
          <p:cNvSpPr/>
          <p:nvPr/>
        </p:nvSpPr>
        <p:spPr>
          <a:xfrm>
            <a:off x="10424160" y="5303520"/>
            <a:ext cx="1380744"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79024" y="5321808"/>
            <a:ext cx="1271016"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31" name="Rectangle 130"/>
          <p:cNvSpPr/>
          <p:nvPr/>
        </p:nvSpPr>
        <p:spPr>
          <a:xfrm>
            <a:off x="347472" y="5577840"/>
            <a:ext cx="1554480" cy="237744"/>
          </a:xfrm>
          <a:prstGeom prst="rect">
            <a:avLst/>
          </a:prstGeom>
          <a:solidFill>
            <a:srgbClr val="EDE9FE"/>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02336" y="5596128"/>
            <a:ext cx="1444752" cy="219456"/>
          </a:xfrm>
          <a:prstGeom prst="rect">
            <a:avLst/>
          </a:prstGeom>
          <a:noFill/>
        </p:spPr>
        <p:txBody>
          <a:bodyPr wrap="square" lIns="36576" rIns="36576" tIns="18288" bIns="18288" anchor="t">
            <a:spAutoFit/>
          </a:bodyPr>
          <a:lstStyle/>
          <a:p>
            <a:pPr algn="l">
              <a:defRPr sz="750" b="1" i="0">
                <a:solidFill>
                  <a:srgbClr val="111827"/>
                </a:solidFill>
              </a:defRPr>
            </a:pPr>
            <a:r>
              <a:t>HYBRID</a:t>
            </a:r>
          </a:p>
        </p:txBody>
      </p:sp>
      <p:sp>
        <p:nvSpPr>
          <p:cNvPr id="133" name="Rectangle 132"/>
          <p:cNvSpPr/>
          <p:nvPr/>
        </p:nvSpPr>
        <p:spPr>
          <a:xfrm>
            <a:off x="1975104" y="5577840"/>
            <a:ext cx="1719072"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029968" y="5596128"/>
            <a:ext cx="1609344"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35" name="Rectangle 134"/>
          <p:cNvSpPr/>
          <p:nvPr/>
        </p:nvSpPr>
        <p:spPr>
          <a:xfrm>
            <a:off x="3767328" y="557784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22191" y="559612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37" name="Rectangle 136"/>
          <p:cNvSpPr/>
          <p:nvPr/>
        </p:nvSpPr>
        <p:spPr>
          <a:xfrm>
            <a:off x="5431536" y="557784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486400" y="559612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39" name="Rectangle 138"/>
          <p:cNvSpPr/>
          <p:nvPr/>
        </p:nvSpPr>
        <p:spPr>
          <a:xfrm>
            <a:off x="7095744" y="557784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150607" y="5596128"/>
            <a:ext cx="1481328"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41" name="Rectangle 140"/>
          <p:cNvSpPr/>
          <p:nvPr/>
        </p:nvSpPr>
        <p:spPr>
          <a:xfrm>
            <a:off x="8759952" y="557784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8814816" y="559612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43" name="Rectangle 142"/>
          <p:cNvSpPr/>
          <p:nvPr/>
        </p:nvSpPr>
        <p:spPr>
          <a:xfrm>
            <a:off x="10424160" y="5577840"/>
            <a:ext cx="1380744"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479024" y="5596128"/>
            <a:ext cx="1271016" cy="219456"/>
          </a:xfrm>
          <a:prstGeom prst="rect">
            <a:avLst/>
          </a:prstGeom>
          <a:noFill/>
        </p:spPr>
        <p:txBody>
          <a:bodyPr wrap="square" lIns="36576" rIns="36576" tIns="18288" bIns="18288" anchor="t">
            <a:spAutoFit/>
          </a:bodyPr>
          <a:lstStyle/>
          <a:p>
            <a:pPr algn="ctr">
              <a:defRPr sz="900" b="0" i="0">
                <a:solidFill>
                  <a:srgbClr val="16A34A"/>
                </a:solidFill>
              </a:defRPr>
            </a:pPr>
            <a:r>
              <a:t>✓</a:t>
            </a:r>
          </a:p>
        </p:txBody>
      </p:sp>
      <p:sp>
        <p:nvSpPr>
          <p:cNvPr id="145" name="Rectangle 144"/>
          <p:cNvSpPr/>
          <p:nvPr/>
        </p:nvSpPr>
        <p:spPr>
          <a:xfrm>
            <a:off x="347472" y="5852160"/>
            <a:ext cx="1554480" cy="237744"/>
          </a:xfrm>
          <a:prstGeom prst="rect">
            <a:avLst/>
          </a:prstGeom>
          <a:solidFill>
            <a:srgbClr val="FEE2E2"/>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02336" y="5870448"/>
            <a:ext cx="1444752" cy="219456"/>
          </a:xfrm>
          <a:prstGeom prst="rect">
            <a:avLst/>
          </a:prstGeom>
          <a:noFill/>
        </p:spPr>
        <p:txBody>
          <a:bodyPr wrap="square" lIns="36576" rIns="36576" tIns="18288" bIns="18288" anchor="t">
            <a:spAutoFit/>
          </a:bodyPr>
          <a:lstStyle/>
          <a:p>
            <a:pPr algn="l">
              <a:defRPr sz="750" b="1" i="0">
                <a:solidFill>
                  <a:srgbClr val="111827"/>
                </a:solidFill>
              </a:defRPr>
            </a:pPr>
            <a:r>
              <a:t>OUT_OF_SCOPE</a:t>
            </a:r>
          </a:p>
        </p:txBody>
      </p:sp>
      <p:sp>
        <p:nvSpPr>
          <p:cNvPr id="147" name="Rectangle 146"/>
          <p:cNvSpPr/>
          <p:nvPr/>
        </p:nvSpPr>
        <p:spPr>
          <a:xfrm>
            <a:off x="1975104" y="5852160"/>
            <a:ext cx="1719072"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2029968" y="5870448"/>
            <a:ext cx="1609344"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49" name="Rectangle 148"/>
          <p:cNvSpPr/>
          <p:nvPr/>
        </p:nvSpPr>
        <p:spPr>
          <a:xfrm>
            <a:off x="3767328" y="585216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3822191" y="587044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51" name="Rectangle 150"/>
          <p:cNvSpPr/>
          <p:nvPr/>
        </p:nvSpPr>
        <p:spPr>
          <a:xfrm>
            <a:off x="5431536" y="585216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5486400" y="587044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53" name="Rectangle 152"/>
          <p:cNvSpPr/>
          <p:nvPr/>
        </p:nvSpPr>
        <p:spPr>
          <a:xfrm>
            <a:off x="7095744" y="585216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150607" y="587044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55" name="Rectangle 154"/>
          <p:cNvSpPr/>
          <p:nvPr/>
        </p:nvSpPr>
        <p:spPr>
          <a:xfrm>
            <a:off x="8759952" y="5852160"/>
            <a:ext cx="1591056"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814816" y="5870448"/>
            <a:ext cx="1481328"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
        <p:nvSpPr>
          <p:cNvPr id="157" name="Rectangle 156"/>
          <p:cNvSpPr/>
          <p:nvPr/>
        </p:nvSpPr>
        <p:spPr>
          <a:xfrm>
            <a:off x="10424160" y="5852160"/>
            <a:ext cx="1380744" cy="237744"/>
          </a:xfrm>
          <a:prstGeom prst="rect">
            <a:avLst/>
          </a:prstGeom>
          <a:solidFill>
            <a:srgbClr val="FFFFFF"/>
          </a:solidFill>
          <a:ln w="50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0479024" y="5870448"/>
            <a:ext cx="1271016" cy="219456"/>
          </a:xfrm>
          <a:prstGeom prst="rect">
            <a:avLst/>
          </a:prstGeom>
          <a:noFill/>
        </p:spPr>
        <p:txBody>
          <a:bodyPr wrap="square" lIns="36576" rIns="36576" tIns="18288" bIns="18288" anchor="t">
            <a:spAutoFit/>
          </a:bodyPr>
          <a:lstStyle/>
          <a:p>
            <a:pPr algn="ctr">
              <a:defRPr sz="900" b="0" i="0">
                <a:solidFill>
                  <a:srgbClr val="64748B"/>
                </a:solidFil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