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71323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36576"/>
            <a:ext cx="1170432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2200" b="1" i="0">
                <a:solidFill>
                  <a:srgbClr val="111827"/>
                </a:solidFill>
              </a:defRPr>
            </a:pPr>
            <a:r>
              <a:t>Chat Engine  —  Request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12064"/>
            <a:ext cx="11704320" cy="21945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950" b="0" i="0">
                <a:solidFill>
                  <a:srgbClr val="64748B"/>
                </a:solidFill>
              </a:defRPr>
            </a:pPr>
            <a:r>
              <a:t>How a user query travels through classification → rewrite → retrieval → generation → scoring</a:t>
            </a:r>
          </a:p>
        </p:txBody>
      </p:sp>
      <p:sp>
        <p:nvSpPr>
          <p:cNvPr id="4" name="Oval 3"/>
          <p:cNvSpPr/>
          <p:nvPr/>
        </p:nvSpPr>
        <p:spPr>
          <a:xfrm>
            <a:off x="804672" y="804672"/>
            <a:ext cx="2194560" cy="402336"/>
          </a:xfrm>
          <a:prstGeom prst="ellipse">
            <a:avLst/>
          </a:prstGeom>
          <a:solidFill>
            <a:srgbClr val="2563EB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841248"/>
            <a:ext cx="2048256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t>User query received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901952" y="1207008"/>
            <a:ext cx="0" cy="128016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56032" y="1335024"/>
            <a:ext cx="3291840" cy="4572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778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3072384" cy="384048"/>
          </a:xfrm>
          <a:prstGeom prst="rect">
            <a:avLst/>
          </a:prstGeom>
          <a:noFill/>
        </p:spPr>
        <p:txBody>
          <a:bodyPr wrap="square" lIns="73152" rIns="54864" bIns="36576" anchor="t">
            <a:spAutoFit/>
          </a:bodyPr>
          <a:lstStyle/>
          <a:p>
            <a:pPr algn="l">
              <a:spcAft>
                <a:spcPts val="100"/>
              </a:spcAft>
              <a:defRPr sz="950" b="1">
                <a:solidFill>
                  <a:srgbClr val="475569"/>
                </a:solidFill>
              </a:defRPr>
            </a:pPr>
            <a:r>
              <a:t>Generate trace_id (UUID)</a:t>
            </a:r>
          </a:p>
          <a:p>
            <a:pPr algn="l">
              <a:spcAft>
                <a:spcPts val="100"/>
              </a:spcAft>
              <a:defRPr sz="800" b="0">
                <a:solidFill>
                  <a:srgbClr val="475569"/>
                </a:solidFill>
              </a:defRPr>
            </a:pPr>
            <a:r>
              <a:t>Groups all LLM spans under one Langfuse trace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01952" y="1792224"/>
            <a:ext cx="0" cy="128016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56032" y="1920240"/>
            <a:ext cx="3291840" cy="493776"/>
          </a:xfrm>
          <a:prstGeom prst="roundRect">
            <a:avLst>
              <a:gd name="adj" fmla="val 6000"/>
            </a:avLst>
          </a:prstGeom>
          <a:solidFill>
            <a:srgbClr val="EDE9FE"/>
          </a:solidFill>
          <a:ln w="1778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956816"/>
            <a:ext cx="3072384" cy="420624"/>
          </a:xfrm>
          <a:prstGeom prst="rect">
            <a:avLst/>
          </a:prstGeom>
          <a:noFill/>
        </p:spPr>
        <p:txBody>
          <a:bodyPr wrap="square" lIns="73152" rIns="54864" bIns="36576" anchor="t">
            <a:spAutoFit/>
          </a:bodyPr>
          <a:lstStyle/>
          <a:p>
            <a:pPr algn="l">
              <a:spcAft>
                <a:spcPts val="100"/>
              </a:spcAft>
              <a:defRPr sz="950" b="1">
                <a:solidFill>
                  <a:srgbClr val="6D28D9"/>
                </a:solidFill>
              </a:defRPr>
            </a:pPr>
            <a:r>
              <a:t>Intent Classifier</a:t>
            </a:r>
          </a:p>
          <a:p>
            <a:pPr algn="l">
              <a:spcAft>
                <a:spcPts val="100"/>
              </a:spcAft>
              <a:defRPr sz="800" b="0">
                <a:solidFill>
                  <a:srgbClr val="475569"/>
                </a:solidFill>
              </a:defRPr>
            </a:pPr>
            <a:r>
              <a:t>LLM · gpt-4o-mini · T=0.0  →  intent, confidence, reasoning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80944" y="1938528"/>
            <a:ext cx="493776" cy="182880"/>
          </a:xfrm>
          <a:prstGeom prst="roundRect">
            <a:avLst>
              <a:gd name="adj" fmla="val 6000"/>
            </a:avLst>
          </a:prstGeom>
          <a:solidFill>
            <a:srgbClr val="EDE9FE"/>
          </a:solidFill>
          <a:ln w="1016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1956816"/>
            <a:ext cx="420624" cy="1554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700" b="1" i="0">
                <a:solidFill>
                  <a:srgbClr val="6D28D9"/>
                </a:solidFill>
              </a:defRPr>
            </a:pPr>
            <a:r>
              <a:t>LLM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01952" y="2414016"/>
            <a:ext cx="0" cy="128016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iamond 14"/>
          <p:cNvSpPr/>
          <p:nvPr/>
        </p:nvSpPr>
        <p:spPr>
          <a:xfrm>
            <a:off x="256032" y="2542032"/>
            <a:ext cx="3291840" cy="512064"/>
          </a:xfrm>
          <a:prstGeom prst="diamond">
            <a:avLst/>
          </a:prstGeom>
          <a:solidFill>
            <a:srgbClr val="FEE2E2"/>
          </a:solidFill>
          <a:ln w="1778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2615184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850" b="1" i="0">
                <a:solidFill>
                  <a:srgbClr val="B91C1C"/>
                </a:solidFill>
              </a:defRPr>
            </a:pPr>
            <a:r>
              <a:t>OUT_OF_SCOPE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6736" y="3072384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800" b="1" i="0">
                <a:solidFill>
                  <a:srgbClr val="475569"/>
                </a:solidFill>
              </a:defRPr>
            </a:pPr>
            <a:r>
              <a:t>No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901952" y="3054096"/>
            <a:ext cx="0" cy="146304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56032" y="3200400"/>
            <a:ext cx="3291840" cy="493776"/>
          </a:xfrm>
          <a:prstGeom prst="roundRect">
            <a:avLst>
              <a:gd name="adj" fmla="val 6000"/>
            </a:avLst>
          </a:prstGeom>
          <a:solidFill>
            <a:srgbClr val="CCFBF1"/>
          </a:solidFill>
          <a:ln w="1778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236976"/>
            <a:ext cx="3072384" cy="420624"/>
          </a:xfrm>
          <a:prstGeom prst="rect">
            <a:avLst/>
          </a:prstGeom>
          <a:noFill/>
        </p:spPr>
        <p:txBody>
          <a:bodyPr wrap="square" lIns="73152" rIns="54864" bIns="36576" anchor="t">
            <a:spAutoFit/>
          </a:bodyPr>
          <a:lstStyle/>
          <a:p>
            <a:pPr algn="l">
              <a:spcAft>
                <a:spcPts val="100"/>
              </a:spcAft>
              <a:defRPr sz="950" b="1">
                <a:solidFill>
                  <a:srgbClr val="0F766E"/>
                </a:solidFill>
              </a:defRPr>
            </a:pPr>
            <a:r>
              <a:t>Query Rewriter</a:t>
            </a:r>
          </a:p>
          <a:p>
            <a:pPr algn="l">
              <a:spcAft>
                <a:spcPts val="100"/>
              </a:spcAft>
              <a:defRPr sz="800" b="0">
                <a:solidFill>
                  <a:srgbClr val="475569"/>
                </a:solidFill>
              </a:defRPr>
            </a:pPr>
            <a:r>
              <a:t>LLM · gpt-4o-mini · T=0.0 · max 80 tok  →  enriched search_query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80944" y="3218688"/>
            <a:ext cx="493776" cy="182880"/>
          </a:xfrm>
          <a:prstGeom prst="roundRect">
            <a:avLst>
              <a:gd name="adj" fmla="val 6000"/>
            </a:avLst>
          </a:prstGeom>
          <a:solidFill>
            <a:srgbClr val="EDE9FE"/>
          </a:solidFill>
          <a:ln w="1016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0" y="3236976"/>
            <a:ext cx="420624" cy="1554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700" b="1" i="0">
                <a:solidFill>
                  <a:srgbClr val="6D28D9"/>
                </a:solidFill>
              </a:defRPr>
            </a:pPr>
            <a:r>
              <a:t>LLM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901952" y="3694176"/>
            <a:ext cx="0" cy="128015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Diamond 23"/>
          <p:cNvSpPr/>
          <p:nvPr/>
        </p:nvSpPr>
        <p:spPr>
          <a:xfrm>
            <a:off x="256032" y="3822191"/>
            <a:ext cx="3291840" cy="512064"/>
          </a:xfrm>
          <a:prstGeom prst="diamond">
            <a:avLst/>
          </a:prstGeom>
          <a:solidFill>
            <a:srgbClr val="FEF3C7"/>
          </a:solidFill>
          <a:ln w="17780">
            <a:solidFill>
              <a:srgbClr val="B4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3895344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850" b="1" i="0">
                <a:solidFill>
                  <a:srgbClr val="B46400"/>
                </a:solidFill>
              </a:defRPr>
            </a:pPr>
            <a:r>
              <a:t>intent == USER_SEARCH 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16736" y="4352544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800" b="1" i="0">
                <a:solidFill>
                  <a:srgbClr val="475569"/>
                </a:solidFill>
              </a:defRPr>
            </a:pPr>
            <a:r>
              <a:t>No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901952" y="4334256"/>
            <a:ext cx="0" cy="146304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56032" y="4480560"/>
            <a:ext cx="3291840" cy="694944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4517136"/>
            <a:ext cx="3072384" cy="621792"/>
          </a:xfrm>
          <a:prstGeom prst="rect">
            <a:avLst/>
          </a:prstGeom>
          <a:noFill/>
        </p:spPr>
        <p:txBody>
          <a:bodyPr wrap="square" lIns="73152" rIns="54864" bIns="36576" anchor="t">
            <a:spAutoFit/>
          </a:bodyPr>
          <a:lstStyle/>
          <a:p>
            <a:pPr algn="l">
              <a:spcAft>
                <a:spcPts val="100"/>
              </a:spcAft>
              <a:defRPr sz="950" b="1">
                <a:solidFill>
                  <a:srgbClr val="16A34A"/>
                </a:solidFill>
              </a:defRPr>
            </a:pPr>
            <a:r>
              <a:t>Vector Retrieval  (Milvus similarity search)</a:t>
            </a:r>
          </a:p>
          <a:p>
            <a:pPr algn="l">
              <a:spcAft>
                <a:spcPts val="100"/>
              </a:spcAft>
              <a:defRPr sz="800" b="0">
                <a:solidFill>
                  <a:srgbClr val="475569"/>
                </a:solidFill>
              </a:defRPr>
            </a:pPr>
            <a:r>
              <a:t>DOC_QA  →  platform_docs   top-5 chunks</a:t>
            </a:r>
          </a:p>
          <a:p>
            <a:pPr algn="l">
              <a:spcAft>
                <a:spcPts val="100"/>
              </a:spcAft>
              <a:defRPr sz="800" b="0">
                <a:solidFill>
                  <a:srgbClr val="475569"/>
                </a:solidFill>
              </a:defRPr>
            </a:pPr>
            <a:r>
              <a:t>ARTIFACT  →  artifact_summaries   top-5</a:t>
            </a:r>
          </a:p>
          <a:p>
            <a:pPr algn="l">
              <a:spcAft>
                <a:spcPts val="100"/>
              </a:spcAft>
              <a:defRPr sz="800" b="0">
                <a:solidFill>
                  <a:srgbClr val="475569"/>
                </a:solidFill>
              </a:defRPr>
            </a:pPr>
            <a:r>
              <a:t>USER_SEARCH  →  user_profiles   top-5</a:t>
            </a:r>
          </a:p>
          <a:p>
            <a:pPr algn="l">
              <a:spcAft>
                <a:spcPts val="100"/>
              </a:spcAft>
              <a:defRPr sz="800" b="0">
                <a:solidFill>
                  <a:srgbClr val="475569"/>
                </a:solidFill>
              </a:defRPr>
            </a:pPr>
            <a:r>
              <a:t>HYBRID  →  all 3 stores   top-3 each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901952" y="5175504"/>
            <a:ext cx="0" cy="128016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56032" y="5303520"/>
            <a:ext cx="3291840" cy="45720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5340096"/>
            <a:ext cx="3072384" cy="384048"/>
          </a:xfrm>
          <a:prstGeom prst="rect">
            <a:avLst/>
          </a:prstGeom>
          <a:noFill/>
        </p:spPr>
        <p:txBody>
          <a:bodyPr wrap="square" lIns="73152" rIns="54864" bIns="36576" anchor="t">
            <a:spAutoFit/>
          </a:bodyPr>
          <a:lstStyle/>
          <a:p>
            <a:pPr algn="l">
              <a:spcAft>
                <a:spcPts val="100"/>
              </a:spcAft>
              <a:defRPr sz="950" b="1">
                <a:solidFill>
                  <a:srgbClr val="2563EB"/>
                </a:solidFill>
              </a:defRPr>
            </a:pPr>
            <a:r>
              <a:t>Build Prompt Messages</a:t>
            </a:r>
          </a:p>
          <a:p>
            <a:pPr algn="l">
              <a:spcAft>
                <a:spcPts val="100"/>
              </a:spcAft>
              <a:defRPr sz="800" b="0">
                <a:solidFill>
                  <a:srgbClr val="475569"/>
                </a:solidFill>
              </a:defRPr>
            </a:pPr>
            <a:r>
              <a:t>Select template per intent · inject chat history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901952" y="5760720"/>
            <a:ext cx="0" cy="128016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256032" y="5888736"/>
            <a:ext cx="3291840" cy="493776"/>
          </a:xfrm>
          <a:prstGeom prst="roundRect">
            <a:avLst>
              <a:gd name="adj" fmla="val 6000"/>
            </a:avLst>
          </a:prstGeom>
          <a:solidFill>
            <a:srgbClr val="EDE9FE"/>
          </a:solidFill>
          <a:ln w="1778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5925312"/>
            <a:ext cx="3072384" cy="420624"/>
          </a:xfrm>
          <a:prstGeom prst="rect">
            <a:avLst/>
          </a:prstGeom>
          <a:noFill/>
        </p:spPr>
        <p:txBody>
          <a:bodyPr wrap="square" lIns="73152" rIns="54864" bIns="36576" anchor="t">
            <a:spAutoFit/>
          </a:bodyPr>
          <a:lstStyle/>
          <a:p>
            <a:pPr algn="l">
              <a:spcAft>
                <a:spcPts val="100"/>
              </a:spcAft>
              <a:defRPr sz="950" b="1">
                <a:solidFill>
                  <a:srgbClr val="6D28D9"/>
                </a:solidFill>
              </a:defRPr>
            </a:pPr>
            <a:r>
              <a:t>LLM Generate</a:t>
            </a:r>
          </a:p>
          <a:p>
            <a:pPr algn="l">
              <a:spcAft>
                <a:spcPts val="100"/>
              </a:spcAft>
              <a:defRPr sz="800" b="0">
                <a:solidFill>
                  <a:srgbClr val="475569"/>
                </a:solidFill>
              </a:defRPr>
            </a:pPr>
            <a:r>
              <a:t>gpt-4o-mini · T=0.2 · max 600 tokens · trace_name: chat · {intent}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980944" y="5907024"/>
            <a:ext cx="493776" cy="182880"/>
          </a:xfrm>
          <a:prstGeom prst="roundRect">
            <a:avLst>
              <a:gd name="adj" fmla="val 6000"/>
            </a:avLst>
          </a:prstGeom>
          <a:solidFill>
            <a:srgbClr val="EDE9FE"/>
          </a:solidFill>
          <a:ln w="1016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17520" y="5925312"/>
            <a:ext cx="420624" cy="1554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700" b="1" i="0">
                <a:solidFill>
                  <a:srgbClr val="6D28D9"/>
                </a:solidFill>
              </a:defRPr>
            </a:pPr>
            <a:r>
              <a:t>LLM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901952" y="6382512"/>
            <a:ext cx="0" cy="109728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256032" y="6492240"/>
            <a:ext cx="5029200" cy="274320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7472" y="6510528"/>
            <a:ext cx="4846320" cy="2377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800" b="0" i="0">
                <a:solidFill>
                  <a:srgbClr val="16A34A"/>
                </a:solidFill>
              </a:defRPr>
            </a:pPr>
            <a:r>
              <a:t>Layer 1 scores  (inline · synchronous):  response_length · has_content · intent_confidence · source_count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376672" y="6492240"/>
            <a:ext cx="6565392" cy="2743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016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68112" y="6510528"/>
            <a:ext cx="4974336" cy="2377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800" b="0" i="0">
                <a:solidFill>
                  <a:srgbClr val="475569"/>
                </a:solidFill>
              </a:defRPr>
            </a:pPr>
            <a:r>
              <a:t>Layer 2 RAGAS  (background daemon thread · 10–30 s):  faithfulness · answer_relevancy · context_precision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97312" y="6510528"/>
            <a:ext cx="1426464" cy="2377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800" b="1" i="0">
                <a:solidFill>
                  <a:srgbClr val="2563EB"/>
                </a:solidFill>
              </a:defRPr>
            </a:pPr>
            <a:r>
              <a:t>→ Return + trace_id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547872" y="2798063"/>
            <a:ext cx="475488" cy="0"/>
          </a:xfrm>
          <a:prstGeom prst="line">
            <a:avLst/>
          </a:prstGeom>
          <a:ln w="1778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767328" y="2578607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800" b="1" i="0">
                <a:solidFill>
                  <a:srgbClr val="B91C1C"/>
                </a:solidFill>
              </a:defRPr>
            </a:pPr>
            <a:r>
              <a:t>Yes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023360" y="2395728"/>
            <a:ext cx="7882127" cy="804672"/>
          </a:xfrm>
          <a:prstGeom prst="roundRect">
            <a:avLst>
              <a:gd name="adj" fmla="val 6000"/>
            </a:avLst>
          </a:prstGeom>
          <a:solidFill>
            <a:srgbClr val="FEE2E2"/>
          </a:solidFill>
          <a:ln w="1778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51376" y="2450592"/>
            <a:ext cx="7626096" cy="676656"/>
          </a:xfrm>
          <a:prstGeom prst="rect">
            <a:avLst/>
          </a:prstGeom>
          <a:noFill/>
        </p:spPr>
        <p:txBody>
          <a:bodyPr wrap="square" lIns="73152" rIns="54864" bIns="36576" anchor="t">
            <a:spAutoFit/>
          </a:bodyPr>
          <a:lstStyle/>
          <a:p>
            <a:pPr algn="l">
              <a:spcAft>
                <a:spcPts val="100"/>
              </a:spcAft>
              <a:defRPr sz="1000" b="1">
                <a:solidFill>
                  <a:srgbClr val="B91C1C"/>
                </a:solidFill>
              </a:defRPr>
            </a:pPr>
            <a:r>
              <a:t>Return hardcoded OUT_OF_SCOPE reply</a:t>
            </a:r>
          </a:p>
          <a:p>
            <a:pPr algn="l">
              <a:spcAft>
                <a:spcPts val="100"/>
              </a:spcAft>
              <a:defRPr sz="850" b="0">
                <a:solidFill>
                  <a:srgbClr val="475569"/>
                </a:solidFill>
              </a:defRPr>
            </a:pPr>
            <a:r>
              <a:t>• 1 LLM call only  (classify span)</a:t>
            </a:r>
          </a:p>
          <a:p>
            <a:pPr algn="l">
              <a:spcAft>
                <a:spcPts val="100"/>
              </a:spcAft>
              <a:defRPr sz="850" b="0">
                <a:solidFill>
                  <a:srgbClr val="475569"/>
                </a:solidFill>
              </a:defRPr>
            </a:pPr>
            <a:r>
              <a:t>• No Query Rewriter, no retrieval</a:t>
            </a:r>
          </a:p>
          <a:p>
            <a:pPr algn="l">
              <a:spcAft>
                <a:spcPts val="100"/>
              </a:spcAft>
              <a:defRPr sz="850" b="0">
                <a:solidFill>
                  <a:srgbClr val="475569"/>
                </a:solidFill>
              </a:defRPr>
            </a:pPr>
            <a:r>
              <a:t>• No scores posted to Langfuse  (engine returns before scoring block)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547872" y="4078224"/>
            <a:ext cx="475488" cy="0"/>
          </a:xfrm>
          <a:prstGeom prst="line">
            <a:avLst/>
          </a:prstGeom>
          <a:ln w="17780">
            <a:solidFill>
              <a:srgbClr val="B46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749039" y="3858768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800" b="1" i="0">
                <a:solidFill>
                  <a:srgbClr val="B46400"/>
                </a:solidFill>
              </a:defRPr>
            </a:pPr>
            <a:r>
              <a:t>Yes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023360" y="3675887"/>
            <a:ext cx="3840480" cy="475488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17780">
            <a:solidFill>
              <a:srgbClr val="B4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33088" y="3712463"/>
            <a:ext cx="3621024" cy="402336"/>
          </a:xfrm>
          <a:prstGeom prst="rect">
            <a:avLst/>
          </a:prstGeom>
          <a:noFill/>
        </p:spPr>
        <p:txBody>
          <a:bodyPr wrap="square" lIns="73152" rIns="54864" bIns="36576" anchor="t">
            <a:spAutoFit/>
          </a:bodyPr>
          <a:lstStyle/>
          <a:p>
            <a:pPr algn="l">
              <a:spcAft>
                <a:spcPts val="100"/>
              </a:spcAft>
              <a:defRPr sz="950" b="1">
                <a:solidFill>
                  <a:srgbClr val="B46400"/>
                </a:solidFill>
              </a:defRPr>
            </a:pPr>
            <a:r>
              <a:t>RapidFuzz String Match</a:t>
            </a:r>
          </a:p>
          <a:p>
            <a:pPr algn="l">
              <a:spcAft>
                <a:spcPts val="100"/>
              </a:spcAft>
              <a:defRPr sz="800" b="0">
                <a:solidFill>
                  <a:srgbClr val="475569"/>
                </a:solidFill>
              </a:defRPr>
            </a:pPr>
            <a:r>
              <a:t>retrieve_candidates(query, all_user_ids)  →  name_candidates list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943600" y="4151376"/>
            <a:ext cx="0" cy="128016"/>
          </a:xfrm>
          <a:prstGeom prst="line">
            <a:avLst/>
          </a:prstGeom>
          <a:ln w="17780">
            <a:solidFill>
              <a:srgbClr val="B46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Diamond 52"/>
          <p:cNvSpPr/>
          <p:nvPr/>
        </p:nvSpPr>
        <p:spPr>
          <a:xfrm>
            <a:off x="4023360" y="4279392"/>
            <a:ext cx="3840480" cy="512064"/>
          </a:xfrm>
          <a:prstGeom prst="diamond">
            <a:avLst/>
          </a:prstGeom>
          <a:solidFill>
            <a:srgbClr val="FEF3C7"/>
          </a:solidFill>
          <a:ln w="17780">
            <a:solidFill>
              <a:srgbClr val="B4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0" y="4352544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850" b="1" i="0">
                <a:solidFill>
                  <a:srgbClr val="B46400"/>
                </a:solidFill>
              </a:defRPr>
            </a:pPr>
            <a:r>
              <a:t>name_candidates found ?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58384" y="4809744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800" b="1" i="0">
                <a:solidFill>
                  <a:srgbClr val="B46400"/>
                </a:solidFill>
              </a:defRPr>
            </a:pPr>
            <a:r>
              <a:t>Yes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943600" y="4791456"/>
            <a:ext cx="0" cy="128016"/>
          </a:xfrm>
          <a:prstGeom prst="line">
            <a:avLst/>
          </a:prstGeom>
          <a:ln w="17780">
            <a:solidFill>
              <a:srgbClr val="B46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3547872" y="4535424"/>
            <a:ext cx="475488" cy="292608"/>
          </a:xfrm>
          <a:prstGeom prst="line">
            <a:avLst/>
          </a:prstGeom>
          <a:ln w="152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3163824" y="4443984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700" b="0" i="0">
                <a:solidFill>
                  <a:srgbClr val="475569"/>
                </a:solidFill>
              </a:defRPr>
            </a:pPr>
            <a:r>
              <a:t>No →</a:t>
            </a:r>
            <a:br/>
            <a:r>
              <a:t>fallback to</a:t>
            </a:r>
            <a:br/>
            <a:r>
              <a:t>vector search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023360" y="4919472"/>
            <a:ext cx="3840480" cy="475488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17780">
            <a:solidFill>
              <a:srgbClr val="B4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33088" y="4956048"/>
            <a:ext cx="3621024" cy="402336"/>
          </a:xfrm>
          <a:prstGeom prst="rect">
            <a:avLst/>
          </a:prstGeom>
          <a:noFill/>
        </p:spPr>
        <p:txBody>
          <a:bodyPr wrap="square" lIns="73152" rIns="54864" bIns="36576" anchor="t">
            <a:spAutoFit/>
          </a:bodyPr>
          <a:lstStyle/>
          <a:p>
            <a:pPr algn="l">
              <a:spcAft>
                <a:spcPts val="100"/>
              </a:spcAft>
              <a:defRPr sz="950" b="1">
                <a:solidFill>
                  <a:srgbClr val="B46400"/>
                </a:solidFill>
              </a:defRPr>
            </a:pPr>
            <a:r>
              <a:t>LLM Name Resolver  (user_resolve span)</a:t>
            </a:r>
          </a:p>
          <a:p>
            <a:pPr algn="l">
              <a:spcAft>
                <a:spcPts val="100"/>
              </a:spcAft>
              <a:defRPr sz="800" b="0">
                <a:solidFill>
                  <a:srgbClr val="475569"/>
                </a:solidFill>
              </a:defRPr>
            </a:pPr>
            <a:r>
              <a:t>gpt-4o-mini · disambiguates candidates → resolved: {exact_uid, answer}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296912" y="4937760"/>
            <a:ext cx="493776" cy="182880"/>
          </a:xfrm>
          <a:prstGeom prst="roundRect">
            <a:avLst>
              <a:gd name="adj" fmla="val 6000"/>
            </a:avLst>
          </a:prstGeom>
          <a:solidFill>
            <a:srgbClr val="EDE9FE"/>
          </a:solidFill>
          <a:ln w="1016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33488" y="4956048"/>
            <a:ext cx="420624" cy="1554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700" b="1" i="0">
                <a:solidFill>
                  <a:srgbClr val="6D28D9"/>
                </a:solidFill>
              </a:defRPr>
            </a:pPr>
            <a:r>
              <a:t>LLM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5943600" y="5394960"/>
            <a:ext cx="0" cy="128016"/>
          </a:xfrm>
          <a:prstGeom prst="line">
            <a:avLst/>
          </a:prstGeom>
          <a:ln w="17780">
            <a:solidFill>
              <a:srgbClr val="B46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Diamond 63"/>
          <p:cNvSpPr/>
          <p:nvPr/>
        </p:nvSpPr>
        <p:spPr>
          <a:xfrm>
            <a:off x="4023360" y="5522976"/>
            <a:ext cx="3840480" cy="512064"/>
          </a:xfrm>
          <a:prstGeom prst="diamond">
            <a:avLst/>
          </a:prstGeom>
          <a:solidFill>
            <a:srgbClr val="FEF3C7"/>
          </a:solidFill>
          <a:ln w="17780">
            <a:solidFill>
              <a:srgbClr val="B4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14800" y="5596128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850" b="1" i="0">
                <a:solidFill>
                  <a:srgbClr val="B46400"/>
                </a:solidFill>
              </a:defRPr>
            </a:pPr>
            <a:r>
              <a:t>exact_uid resolved ?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7863840" y="5779008"/>
            <a:ext cx="365760" cy="0"/>
          </a:xfrm>
          <a:prstGeom prst="line">
            <a:avLst/>
          </a:prstGeom>
          <a:ln w="1778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8065008" y="5559552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800" b="1" i="0">
                <a:solidFill>
                  <a:srgbClr val="16A34A"/>
                </a:solidFill>
              </a:defRPr>
            </a:pPr>
            <a:r>
              <a:t>Yes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229600" y="5522976"/>
            <a:ext cx="3730752" cy="475488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339327" y="5559552"/>
            <a:ext cx="3511296" cy="402336"/>
          </a:xfrm>
          <a:prstGeom prst="rect">
            <a:avLst/>
          </a:prstGeom>
          <a:noFill/>
        </p:spPr>
        <p:txBody>
          <a:bodyPr wrap="square" lIns="73152" rIns="54864" bIns="36576" anchor="t">
            <a:spAutoFit/>
          </a:bodyPr>
          <a:lstStyle/>
          <a:p>
            <a:pPr algn="l">
              <a:spcAft>
                <a:spcPts val="100"/>
              </a:spcAft>
              <a:defRPr sz="950" b="1">
                <a:solidFill>
                  <a:srgbClr val="16A34A"/>
                </a:solidFill>
              </a:defRPr>
            </a:pPr>
            <a:r>
              <a:t>Fetch Milvus profile directly</a:t>
            </a:r>
          </a:p>
          <a:p>
            <a:pPr algn="l">
              <a:spcAft>
                <a:spcPts val="100"/>
              </a:spcAft>
              <a:defRPr sz="800" b="0">
                <a:solidFill>
                  <a:srgbClr val="475569"/>
                </a:solidFill>
              </a:defRPr>
            </a:pPr>
            <a:r>
              <a:t>user_store.get_profile(exact_uid)  →  raw profile text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10094976" y="5998464"/>
            <a:ext cx="0" cy="128016"/>
          </a:xfrm>
          <a:prstGeom prst="line">
            <a:avLst/>
          </a:prstGeom>
          <a:ln w="1778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8229600" y="6126480"/>
            <a:ext cx="3730752" cy="475488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339327" y="6163056"/>
            <a:ext cx="3511296" cy="402336"/>
          </a:xfrm>
          <a:prstGeom prst="rect">
            <a:avLst/>
          </a:prstGeom>
          <a:noFill/>
        </p:spPr>
        <p:txBody>
          <a:bodyPr wrap="square" lIns="73152" rIns="54864" bIns="36576" anchor="t">
            <a:spAutoFit/>
          </a:bodyPr>
          <a:lstStyle/>
          <a:p>
            <a:pPr algn="l">
              <a:spcAft>
                <a:spcPts val="100"/>
              </a:spcAft>
              <a:defRPr sz="950" b="1">
                <a:solidFill>
                  <a:srgbClr val="16A34A"/>
                </a:solidFill>
              </a:defRPr>
            </a:pPr>
            <a:r>
              <a:t>Layer 2: LLM Judge  →  profile_relevance</a:t>
            </a:r>
          </a:p>
          <a:p>
            <a:pPr algn="l">
              <a:spcAft>
                <a:spcPts val="100"/>
              </a:spcAft>
              <a:defRPr sz="800" b="0">
                <a:solidFill>
                  <a:srgbClr val="475569"/>
                </a:solidFill>
              </a:defRPr>
            </a:pPr>
            <a:r>
              <a:t>evaluate_in_background(exact_match=True) · no Layer 1 scores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10094976" y="6601968"/>
            <a:ext cx="0" cy="128016"/>
          </a:xfrm>
          <a:prstGeom prst="line">
            <a:avLst/>
          </a:prstGeom>
          <a:ln w="1778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8723376" y="6729984"/>
            <a:ext cx="2743200" cy="237744"/>
          </a:xfrm>
          <a:prstGeom prst="ellipse">
            <a:avLst/>
          </a:prstGeom>
          <a:solidFill>
            <a:srgbClr val="16A34A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796528" y="6766560"/>
            <a:ext cx="2596896" cy="1645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t>Return response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5943600" y="6035040"/>
            <a:ext cx="0" cy="128015"/>
          </a:xfrm>
          <a:prstGeom prst="line">
            <a:avLst/>
          </a:prstGeom>
          <a:ln w="17780">
            <a:solidFill>
              <a:srgbClr val="BE18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5358384" y="6053328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800" b="1" i="0">
                <a:solidFill>
                  <a:srgbClr val="BE185D"/>
                </a:solidFill>
              </a:defRPr>
            </a:pPr>
            <a:r>
              <a:t>No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023360" y="6163056"/>
            <a:ext cx="3840480" cy="475488"/>
          </a:xfrm>
          <a:prstGeom prst="roundRect">
            <a:avLst>
              <a:gd name="adj" fmla="val 6000"/>
            </a:avLst>
          </a:prstGeom>
          <a:solidFill>
            <a:srgbClr val="FCE7F3"/>
          </a:solidFill>
          <a:ln w="17780">
            <a:solidFill>
              <a:srgbClr val="BE1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133088" y="6199632"/>
            <a:ext cx="3621024" cy="402336"/>
          </a:xfrm>
          <a:prstGeom prst="rect">
            <a:avLst/>
          </a:prstGeom>
          <a:noFill/>
        </p:spPr>
        <p:txBody>
          <a:bodyPr wrap="square" lIns="73152" rIns="54864" bIns="36576" anchor="t">
            <a:spAutoFit/>
          </a:bodyPr>
          <a:lstStyle/>
          <a:p>
            <a:pPr algn="l">
              <a:spcAft>
                <a:spcPts val="100"/>
              </a:spcAft>
              <a:defRPr sz="950" b="1">
                <a:solidFill>
                  <a:srgbClr val="BE185D"/>
                </a:solidFill>
              </a:defRPr>
            </a:pPr>
            <a:r>
              <a:t>Return disambiguation answer</a:t>
            </a:r>
          </a:p>
          <a:p>
            <a:pPr algn="l">
              <a:spcAft>
                <a:spcPts val="100"/>
              </a:spcAft>
              <a:defRPr sz="800" b="0">
                <a:solidFill>
                  <a:srgbClr val="475569"/>
                </a:solidFill>
              </a:defRPr>
            </a:pPr>
            <a:r>
              <a:t>confidence = 0.5  ·  NO Layer 1 scores  ·  NO Layer 2 scores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29600" y="786384"/>
            <a:ext cx="3749039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900" b="1" i="0">
                <a:solidFill>
                  <a:srgbClr val="111827"/>
                </a:solidFill>
              </a:defRPr>
            </a:pPr>
            <a:r>
              <a:t>Legend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229600" y="1042415"/>
            <a:ext cx="329184" cy="219456"/>
          </a:xfrm>
          <a:prstGeom prst="roundRect">
            <a:avLst>
              <a:gd name="adj" fmla="val 6000"/>
            </a:avLst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631936" y="1060704"/>
            <a:ext cx="3328416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800" b="0" i="0">
                <a:solidFill>
                  <a:srgbClr val="475569"/>
                </a:solidFill>
              </a:defRPr>
            </a:pPr>
            <a:r>
              <a:t>LLM call  (classify / rewrite / generate / user_resolve)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229600" y="1371600"/>
            <a:ext cx="329184" cy="219456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631936" y="1389888"/>
            <a:ext cx="3328416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800" b="0" i="0">
                <a:solidFill>
                  <a:srgbClr val="475569"/>
                </a:solidFill>
              </a:defRPr>
            </a:pPr>
            <a:r>
              <a:t>Scoring / retrieval step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229600" y="1700784"/>
            <a:ext cx="329184" cy="219456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12700">
            <a:solidFill>
              <a:srgbClr val="B4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631936" y="1719072"/>
            <a:ext cx="3328416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800" b="0" i="0">
                <a:solidFill>
                  <a:srgbClr val="475569"/>
                </a:solidFill>
              </a:defRPr>
            </a:pPr>
            <a:r>
              <a:t>USER_SEARCH name resolution path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229600" y="2029967"/>
            <a:ext cx="329184" cy="219456"/>
          </a:xfrm>
          <a:prstGeom prst="roundRect">
            <a:avLst>
              <a:gd name="adj" fmla="val 6000"/>
            </a:avLst>
          </a:prstGeom>
          <a:solidFill>
            <a:srgbClr val="FEE2E2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631936" y="2048255"/>
            <a:ext cx="3328416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800" b="0" i="0">
                <a:solidFill>
                  <a:srgbClr val="475569"/>
                </a:solidFill>
              </a:defRPr>
            </a:pPr>
            <a:r>
              <a:t>OUT_OF_SCOPE path  (exits immediately)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229600" y="2359152"/>
            <a:ext cx="329184" cy="219456"/>
          </a:xfrm>
          <a:prstGeom prst="roundRect">
            <a:avLst>
              <a:gd name="adj" fmla="val 6000"/>
            </a:avLst>
          </a:prstGeom>
          <a:solidFill>
            <a:srgbClr val="FCE7F3"/>
          </a:solidFill>
          <a:ln w="12700">
            <a:solidFill>
              <a:srgbClr val="BE1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631936" y="2377440"/>
            <a:ext cx="3328416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800" b="0" i="0">
                <a:solidFill>
                  <a:srgbClr val="475569"/>
                </a:solidFill>
              </a:defRPr>
            </a:pPr>
            <a:r>
              <a:t>USER_SEARCH ambiguous  (exits, no scores)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229600" y="2688335"/>
            <a:ext cx="493776" cy="201168"/>
          </a:xfrm>
          <a:prstGeom prst="roundRect">
            <a:avLst>
              <a:gd name="adj" fmla="val 6000"/>
            </a:avLst>
          </a:prstGeom>
          <a:solidFill>
            <a:srgbClr val="EDE9FE"/>
          </a:solidFill>
          <a:ln w="1016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266175" y="2706623"/>
            <a:ext cx="420624" cy="1645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700" b="1" i="0">
                <a:solidFill>
                  <a:srgbClr val="6D28D9"/>
                </a:solidFill>
              </a:defRPr>
            </a:pPr>
            <a:r>
              <a:t>LLM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796528" y="2706623"/>
            <a:ext cx="3108960" cy="1645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800" b="0" i="0">
                <a:solidFill>
                  <a:srgbClr val="475569"/>
                </a:solidFill>
              </a:defRPr>
            </a:pPr>
            <a:r>
              <a:t>Badge marks each LLM API call made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229600" y="3145536"/>
            <a:ext cx="3803904" cy="1316736"/>
          </a:xfrm>
          <a:prstGeom prst="rect">
            <a:avLst/>
          </a:prstGeom>
          <a:solidFill>
            <a:srgbClr val="F1F5F9"/>
          </a:solidFill>
          <a:ln w="1016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339327" y="3200400"/>
            <a:ext cx="3566160" cy="2377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900" b="1" i="0">
                <a:solidFill>
                  <a:srgbClr val="111827"/>
                </a:solidFill>
              </a:defRPr>
            </a:pPr>
            <a:r>
              <a:t>Exit paths &amp; LLM call count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339327" y="3474720"/>
            <a:ext cx="2560320" cy="2377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850" b="1" i="0">
                <a:solidFill>
                  <a:srgbClr val="B91C1C"/>
                </a:solidFill>
              </a:defRPr>
            </a:pPr>
            <a:r>
              <a:t>Path A  OUT_OF_SCOPE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954512" y="3474720"/>
            <a:ext cx="969264" cy="2377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</a:defRPr>
            </a:pPr>
            <a:r>
              <a:t>1 call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339327" y="3721608"/>
            <a:ext cx="2560320" cy="2377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850" b="1" i="0">
                <a:solidFill>
                  <a:srgbClr val="16A34A"/>
                </a:solidFill>
              </a:defRPr>
            </a:pPr>
            <a:r>
              <a:t>Path B1  exact name match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954512" y="3721608"/>
            <a:ext cx="969264" cy="2377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</a:defRPr>
            </a:pPr>
            <a:r>
              <a:t>3 calls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339327" y="3968496"/>
            <a:ext cx="2560320" cy="2377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850" b="1" i="0">
                <a:solidFill>
                  <a:srgbClr val="BE185D"/>
                </a:solidFill>
              </a:defRPr>
            </a:pPr>
            <a:r>
              <a:t>Path B2  ambiguous name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954512" y="3968496"/>
            <a:ext cx="969264" cy="2377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</a:defRPr>
            </a:pPr>
            <a:r>
              <a:t>3 calls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339327" y="4215383"/>
            <a:ext cx="2560320" cy="2377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850" b="1" i="0">
                <a:solidFill>
                  <a:srgbClr val="2563EB"/>
                </a:solidFill>
              </a:defRPr>
            </a:pPr>
            <a:r>
              <a:t>Path C   normal flow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954512" y="4215383"/>
            <a:ext cx="969264" cy="2377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</a:defRPr>
            </a:pPr>
            <a:r>
              <a:t>3 calls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0" y="7022592"/>
            <a:ext cx="3047238" cy="9144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3047238" y="7022592"/>
            <a:ext cx="3047238" cy="91440"/>
          </a:xfrm>
          <a:prstGeom prst="roundRect">
            <a:avLst>
              <a:gd name="adj" fmla="val 6000"/>
            </a:avLst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6094476" y="7022592"/>
            <a:ext cx="3047238" cy="91440"/>
          </a:xfrm>
          <a:prstGeom prst="roundRect">
            <a:avLst>
              <a:gd name="adj" fmla="val 6000"/>
            </a:avLst>
          </a:prstGeom>
          <a:solidFill>
            <a:srgbClr val="B46400"/>
          </a:solidFill>
          <a:ln>
            <a:solidFill>
              <a:srgbClr val="B4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9141714" y="7022592"/>
            <a:ext cx="3047238" cy="91440"/>
          </a:xfrm>
          <a:prstGeom prst="roundRect">
            <a:avLst>
              <a:gd name="adj" fmla="val 6000"/>
            </a:avLst>
          </a:prstGeom>
          <a:solidFill>
            <a:srgbClr val="BE185D"/>
          </a:solidFill>
          <a:ln>
            <a:solidFill>
              <a:srgbClr val="BE1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